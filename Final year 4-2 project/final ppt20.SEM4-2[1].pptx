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9" r:id="rId11"/>
    <p:sldId id="266" r:id="rId12"/>
    <p:sldId id="267" r:id="rId13"/>
    <p:sldId id="269" r:id="rId14"/>
    <p:sldId id="270" r:id="rId15"/>
    <p:sldId id="273" r:id="rId16"/>
    <p:sldId id="274" r:id="rId17"/>
    <p:sldId id="271" r:id="rId18"/>
    <p:sldId id="272" r:id="rId19"/>
    <p:sldId id="278" r:id="rId20"/>
    <p:sldId id="276" r:id="rId21"/>
    <p:sldId id="277" r:id="rId22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658" y="-104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0E56C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0E56C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0E56C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0E56C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3152" y="1115567"/>
            <a:ext cx="9913620" cy="5521960"/>
          </a:xfrm>
          <a:custGeom>
            <a:avLst/>
            <a:gdLst/>
            <a:ahLst/>
            <a:cxnLst/>
            <a:rect l="l" t="t" r="r" b="b"/>
            <a:pathLst>
              <a:path w="9913620" h="5521959">
                <a:moveTo>
                  <a:pt x="0" y="272795"/>
                </a:moveTo>
                <a:lnTo>
                  <a:pt x="4572" y="224027"/>
                </a:lnTo>
                <a:lnTo>
                  <a:pt x="18288" y="178307"/>
                </a:lnTo>
                <a:lnTo>
                  <a:pt x="38100" y="135635"/>
                </a:lnTo>
                <a:lnTo>
                  <a:pt x="64008" y="97535"/>
                </a:lnTo>
                <a:lnTo>
                  <a:pt x="97536" y="65531"/>
                </a:lnTo>
                <a:lnTo>
                  <a:pt x="135636" y="38099"/>
                </a:lnTo>
                <a:lnTo>
                  <a:pt x="176783" y="18287"/>
                </a:lnTo>
                <a:lnTo>
                  <a:pt x="224028" y="4571"/>
                </a:lnTo>
                <a:lnTo>
                  <a:pt x="271272" y="0"/>
                </a:lnTo>
                <a:lnTo>
                  <a:pt x="9642348" y="0"/>
                </a:lnTo>
                <a:lnTo>
                  <a:pt x="9691116" y="4571"/>
                </a:lnTo>
                <a:lnTo>
                  <a:pt x="9736835" y="18287"/>
                </a:lnTo>
                <a:lnTo>
                  <a:pt x="9779507" y="38099"/>
                </a:lnTo>
                <a:lnTo>
                  <a:pt x="9817607" y="65531"/>
                </a:lnTo>
                <a:lnTo>
                  <a:pt x="9851135" y="97535"/>
                </a:lnTo>
                <a:lnTo>
                  <a:pt x="9877043" y="135635"/>
                </a:lnTo>
                <a:lnTo>
                  <a:pt x="9896856" y="178307"/>
                </a:lnTo>
                <a:lnTo>
                  <a:pt x="9910571" y="224027"/>
                </a:lnTo>
                <a:lnTo>
                  <a:pt x="9913620" y="272795"/>
                </a:lnTo>
                <a:lnTo>
                  <a:pt x="9913620" y="5250179"/>
                </a:lnTo>
                <a:lnTo>
                  <a:pt x="9910571" y="5298947"/>
                </a:lnTo>
                <a:lnTo>
                  <a:pt x="9896856" y="5344667"/>
                </a:lnTo>
                <a:lnTo>
                  <a:pt x="9877043" y="5387340"/>
                </a:lnTo>
                <a:lnTo>
                  <a:pt x="9851135" y="5425440"/>
                </a:lnTo>
                <a:lnTo>
                  <a:pt x="9817607" y="5458967"/>
                </a:lnTo>
                <a:lnTo>
                  <a:pt x="9779507" y="5484876"/>
                </a:lnTo>
                <a:lnTo>
                  <a:pt x="9736835" y="5504688"/>
                </a:lnTo>
                <a:lnTo>
                  <a:pt x="9691116" y="5518403"/>
                </a:lnTo>
                <a:lnTo>
                  <a:pt x="9642348" y="5521451"/>
                </a:lnTo>
                <a:lnTo>
                  <a:pt x="271272" y="5521451"/>
                </a:lnTo>
                <a:lnTo>
                  <a:pt x="224028" y="5518403"/>
                </a:lnTo>
                <a:lnTo>
                  <a:pt x="176783" y="5504688"/>
                </a:lnTo>
                <a:lnTo>
                  <a:pt x="135636" y="5484876"/>
                </a:lnTo>
                <a:lnTo>
                  <a:pt x="97536" y="5458967"/>
                </a:lnTo>
                <a:lnTo>
                  <a:pt x="64008" y="5425440"/>
                </a:lnTo>
                <a:lnTo>
                  <a:pt x="38100" y="5387340"/>
                </a:lnTo>
                <a:lnTo>
                  <a:pt x="18288" y="5344667"/>
                </a:lnTo>
                <a:lnTo>
                  <a:pt x="4572" y="5298947"/>
                </a:lnTo>
                <a:lnTo>
                  <a:pt x="0" y="5250179"/>
                </a:lnTo>
                <a:lnTo>
                  <a:pt x="0" y="272795"/>
                </a:lnTo>
                <a:close/>
              </a:path>
            </a:pathLst>
          </a:custGeom>
          <a:ln w="45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61544" y="6181344"/>
            <a:ext cx="502920" cy="378460"/>
          </a:xfrm>
          <a:custGeom>
            <a:avLst/>
            <a:gdLst/>
            <a:ahLst/>
            <a:cxnLst/>
            <a:rect l="l" t="t" r="r" b="b"/>
            <a:pathLst>
              <a:path w="502920" h="378459">
                <a:moveTo>
                  <a:pt x="251459" y="377951"/>
                </a:moveTo>
                <a:lnTo>
                  <a:pt x="201167" y="374903"/>
                </a:lnTo>
                <a:lnTo>
                  <a:pt x="153923" y="364235"/>
                </a:lnTo>
                <a:lnTo>
                  <a:pt x="111251" y="345947"/>
                </a:lnTo>
                <a:lnTo>
                  <a:pt x="74676" y="323087"/>
                </a:lnTo>
                <a:lnTo>
                  <a:pt x="44195" y="295655"/>
                </a:lnTo>
                <a:lnTo>
                  <a:pt x="19811" y="263651"/>
                </a:lnTo>
                <a:lnTo>
                  <a:pt x="6095" y="227075"/>
                </a:lnTo>
                <a:lnTo>
                  <a:pt x="0" y="188975"/>
                </a:lnTo>
                <a:lnTo>
                  <a:pt x="6095" y="152399"/>
                </a:lnTo>
                <a:lnTo>
                  <a:pt x="19811" y="115823"/>
                </a:lnTo>
                <a:lnTo>
                  <a:pt x="44195" y="83820"/>
                </a:lnTo>
                <a:lnTo>
                  <a:pt x="74676" y="56388"/>
                </a:lnTo>
                <a:lnTo>
                  <a:pt x="111251" y="33527"/>
                </a:lnTo>
                <a:lnTo>
                  <a:pt x="153923" y="15239"/>
                </a:lnTo>
                <a:lnTo>
                  <a:pt x="201167" y="4571"/>
                </a:lnTo>
                <a:lnTo>
                  <a:pt x="251459" y="0"/>
                </a:lnTo>
                <a:lnTo>
                  <a:pt x="303275" y="4571"/>
                </a:lnTo>
                <a:lnTo>
                  <a:pt x="350520" y="15239"/>
                </a:lnTo>
                <a:lnTo>
                  <a:pt x="393191" y="33527"/>
                </a:lnTo>
                <a:lnTo>
                  <a:pt x="429767" y="56388"/>
                </a:lnTo>
                <a:lnTo>
                  <a:pt x="460247" y="83820"/>
                </a:lnTo>
                <a:lnTo>
                  <a:pt x="483108" y="115823"/>
                </a:lnTo>
                <a:lnTo>
                  <a:pt x="498347" y="152399"/>
                </a:lnTo>
                <a:lnTo>
                  <a:pt x="502919" y="188975"/>
                </a:lnTo>
                <a:lnTo>
                  <a:pt x="498347" y="227075"/>
                </a:lnTo>
                <a:lnTo>
                  <a:pt x="483108" y="263651"/>
                </a:lnTo>
                <a:lnTo>
                  <a:pt x="460247" y="295655"/>
                </a:lnTo>
                <a:lnTo>
                  <a:pt x="429767" y="323087"/>
                </a:lnTo>
                <a:lnTo>
                  <a:pt x="393191" y="345947"/>
                </a:lnTo>
                <a:lnTo>
                  <a:pt x="350520" y="364235"/>
                </a:lnTo>
                <a:lnTo>
                  <a:pt x="303275" y="374903"/>
                </a:lnTo>
                <a:lnTo>
                  <a:pt x="251459" y="377951"/>
                </a:lnTo>
                <a:close/>
              </a:path>
            </a:pathLst>
          </a:custGeom>
          <a:solidFill>
            <a:srgbClr val="0E5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1543" y="6181343"/>
            <a:ext cx="502920" cy="378460"/>
          </a:xfrm>
          <a:custGeom>
            <a:avLst/>
            <a:gdLst/>
            <a:ahLst/>
            <a:cxnLst/>
            <a:rect l="l" t="t" r="r" b="b"/>
            <a:pathLst>
              <a:path w="502920" h="378459">
                <a:moveTo>
                  <a:pt x="0" y="188975"/>
                </a:moveTo>
                <a:lnTo>
                  <a:pt x="19812" y="115823"/>
                </a:lnTo>
                <a:lnTo>
                  <a:pt x="44195" y="83819"/>
                </a:lnTo>
                <a:lnTo>
                  <a:pt x="74676" y="56387"/>
                </a:lnTo>
                <a:lnTo>
                  <a:pt x="111252" y="33527"/>
                </a:lnTo>
                <a:lnTo>
                  <a:pt x="153924" y="15239"/>
                </a:lnTo>
                <a:lnTo>
                  <a:pt x="201168" y="4571"/>
                </a:lnTo>
                <a:lnTo>
                  <a:pt x="251459" y="0"/>
                </a:lnTo>
                <a:lnTo>
                  <a:pt x="303276" y="4571"/>
                </a:lnTo>
                <a:lnTo>
                  <a:pt x="350519" y="15239"/>
                </a:lnTo>
                <a:lnTo>
                  <a:pt x="393191" y="33527"/>
                </a:lnTo>
                <a:lnTo>
                  <a:pt x="429767" y="56387"/>
                </a:lnTo>
                <a:lnTo>
                  <a:pt x="460248" y="83819"/>
                </a:lnTo>
                <a:lnTo>
                  <a:pt x="483108" y="115823"/>
                </a:lnTo>
                <a:lnTo>
                  <a:pt x="498348" y="152399"/>
                </a:lnTo>
                <a:lnTo>
                  <a:pt x="502919" y="188975"/>
                </a:lnTo>
                <a:lnTo>
                  <a:pt x="498348" y="227075"/>
                </a:lnTo>
                <a:lnTo>
                  <a:pt x="483108" y="263651"/>
                </a:lnTo>
                <a:lnTo>
                  <a:pt x="460248" y="295655"/>
                </a:lnTo>
                <a:lnTo>
                  <a:pt x="429767" y="323088"/>
                </a:lnTo>
                <a:lnTo>
                  <a:pt x="393191" y="345947"/>
                </a:lnTo>
                <a:lnTo>
                  <a:pt x="350519" y="364235"/>
                </a:lnTo>
                <a:lnTo>
                  <a:pt x="303276" y="374903"/>
                </a:lnTo>
                <a:lnTo>
                  <a:pt x="251459" y="377951"/>
                </a:lnTo>
                <a:lnTo>
                  <a:pt x="201168" y="374903"/>
                </a:lnTo>
                <a:lnTo>
                  <a:pt x="153924" y="364235"/>
                </a:lnTo>
                <a:lnTo>
                  <a:pt x="111252" y="345947"/>
                </a:lnTo>
                <a:lnTo>
                  <a:pt x="74676" y="323088"/>
                </a:lnTo>
                <a:lnTo>
                  <a:pt x="44195" y="295655"/>
                </a:lnTo>
                <a:lnTo>
                  <a:pt x="19812" y="263651"/>
                </a:lnTo>
                <a:lnTo>
                  <a:pt x="6096" y="227075"/>
                </a:lnTo>
                <a:lnTo>
                  <a:pt x="0" y="188975"/>
                </a:lnTo>
              </a:path>
            </a:pathLst>
          </a:custGeom>
          <a:ln w="7620">
            <a:solidFill>
              <a:srgbClr val="0E56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86615" y="1130204"/>
            <a:ext cx="7150100" cy="1031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0E56C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6836" y="2549120"/>
            <a:ext cx="8344534" cy="3531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94155" y="6263870"/>
            <a:ext cx="271780" cy="203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51560"/>
            <a:ext cx="10058400" cy="5669280"/>
            <a:chOff x="0" y="1051560"/>
            <a:chExt cx="10058400" cy="5669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51560"/>
              <a:ext cx="10058400" cy="566927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057655"/>
              <a:ext cx="10058400" cy="5659120"/>
            </a:xfrm>
            <a:custGeom>
              <a:avLst/>
              <a:gdLst/>
              <a:ahLst/>
              <a:cxnLst/>
              <a:rect l="l" t="t" r="r" b="b"/>
              <a:pathLst>
                <a:path w="10058400" h="5659120">
                  <a:moveTo>
                    <a:pt x="10058400" y="5658611"/>
                  </a:moveTo>
                  <a:lnTo>
                    <a:pt x="0" y="5658611"/>
                  </a:lnTo>
                  <a:lnTo>
                    <a:pt x="0" y="0"/>
                  </a:lnTo>
                  <a:lnTo>
                    <a:pt x="10058400" y="0"/>
                  </a:lnTo>
                  <a:lnTo>
                    <a:pt x="10058400" y="56586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27" y="1123187"/>
              <a:ext cx="9921239" cy="55199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152" y="1115567"/>
              <a:ext cx="9913620" cy="5521960"/>
            </a:xfrm>
            <a:custGeom>
              <a:avLst/>
              <a:gdLst/>
              <a:ahLst/>
              <a:cxnLst/>
              <a:rect l="l" t="t" r="r" b="b"/>
              <a:pathLst>
                <a:path w="9913620" h="5521959">
                  <a:moveTo>
                    <a:pt x="0" y="272795"/>
                  </a:moveTo>
                  <a:lnTo>
                    <a:pt x="4572" y="224027"/>
                  </a:lnTo>
                  <a:lnTo>
                    <a:pt x="18288" y="178307"/>
                  </a:lnTo>
                  <a:lnTo>
                    <a:pt x="38100" y="135635"/>
                  </a:lnTo>
                  <a:lnTo>
                    <a:pt x="64008" y="97535"/>
                  </a:lnTo>
                  <a:lnTo>
                    <a:pt x="97536" y="65531"/>
                  </a:lnTo>
                  <a:lnTo>
                    <a:pt x="135636" y="38099"/>
                  </a:lnTo>
                  <a:lnTo>
                    <a:pt x="176783" y="18287"/>
                  </a:lnTo>
                  <a:lnTo>
                    <a:pt x="224028" y="4571"/>
                  </a:lnTo>
                  <a:lnTo>
                    <a:pt x="271272" y="0"/>
                  </a:lnTo>
                  <a:lnTo>
                    <a:pt x="9642348" y="0"/>
                  </a:lnTo>
                  <a:lnTo>
                    <a:pt x="9691116" y="4571"/>
                  </a:lnTo>
                  <a:lnTo>
                    <a:pt x="9736835" y="18287"/>
                  </a:lnTo>
                  <a:lnTo>
                    <a:pt x="9779507" y="38099"/>
                  </a:lnTo>
                  <a:lnTo>
                    <a:pt x="9817607" y="65531"/>
                  </a:lnTo>
                  <a:lnTo>
                    <a:pt x="9851135" y="97535"/>
                  </a:lnTo>
                  <a:lnTo>
                    <a:pt x="9877043" y="135635"/>
                  </a:lnTo>
                  <a:lnTo>
                    <a:pt x="9896856" y="178307"/>
                  </a:lnTo>
                  <a:lnTo>
                    <a:pt x="9910571" y="224027"/>
                  </a:lnTo>
                  <a:lnTo>
                    <a:pt x="9913620" y="272795"/>
                  </a:lnTo>
                  <a:lnTo>
                    <a:pt x="9913620" y="5250179"/>
                  </a:lnTo>
                  <a:lnTo>
                    <a:pt x="9910571" y="5298947"/>
                  </a:lnTo>
                  <a:lnTo>
                    <a:pt x="9896856" y="5344667"/>
                  </a:lnTo>
                  <a:lnTo>
                    <a:pt x="9877043" y="5387340"/>
                  </a:lnTo>
                  <a:lnTo>
                    <a:pt x="9851135" y="5425440"/>
                  </a:lnTo>
                  <a:lnTo>
                    <a:pt x="9817607" y="5458967"/>
                  </a:lnTo>
                  <a:lnTo>
                    <a:pt x="9779507" y="5484876"/>
                  </a:lnTo>
                  <a:lnTo>
                    <a:pt x="9736835" y="5504688"/>
                  </a:lnTo>
                  <a:lnTo>
                    <a:pt x="9691116" y="5518403"/>
                  </a:lnTo>
                  <a:lnTo>
                    <a:pt x="9642348" y="5521451"/>
                  </a:lnTo>
                  <a:lnTo>
                    <a:pt x="271272" y="5521451"/>
                  </a:lnTo>
                  <a:lnTo>
                    <a:pt x="224028" y="5518403"/>
                  </a:lnTo>
                  <a:lnTo>
                    <a:pt x="176783" y="5504688"/>
                  </a:lnTo>
                  <a:lnTo>
                    <a:pt x="135636" y="5484876"/>
                  </a:lnTo>
                  <a:lnTo>
                    <a:pt x="97536" y="5458967"/>
                  </a:lnTo>
                  <a:lnTo>
                    <a:pt x="64008" y="5425440"/>
                  </a:lnTo>
                  <a:lnTo>
                    <a:pt x="38100" y="5387340"/>
                  </a:lnTo>
                  <a:lnTo>
                    <a:pt x="18288" y="5344667"/>
                  </a:lnTo>
                  <a:lnTo>
                    <a:pt x="4572" y="5298947"/>
                  </a:lnTo>
                  <a:lnTo>
                    <a:pt x="0" y="5250179"/>
                  </a:lnTo>
                  <a:lnTo>
                    <a:pt x="0" y="272795"/>
                  </a:lnTo>
                  <a:close/>
                </a:path>
              </a:pathLst>
            </a:custGeom>
            <a:ln w="45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103" y="2211324"/>
              <a:ext cx="9923145" cy="99060"/>
            </a:xfrm>
            <a:custGeom>
              <a:avLst/>
              <a:gdLst/>
              <a:ahLst/>
              <a:cxnLst/>
              <a:rect l="l" t="t" r="r" b="b"/>
              <a:pathLst>
                <a:path w="9923145" h="99060">
                  <a:moveTo>
                    <a:pt x="9922763" y="99059"/>
                  </a:moveTo>
                  <a:lnTo>
                    <a:pt x="0" y="99059"/>
                  </a:lnTo>
                  <a:lnTo>
                    <a:pt x="0" y="0"/>
                  </a:lnTo>
                  <a:lnTo>
                    <a:pt x="9922763" y="0"/>
                  </a:lnTo>
                  <a:lnTo>
                    <a:pt x="9922763" y="99059"/>
                  </a:lnTo>
                  <a:close/>
                </a:path>
              </a:pathLst>
            </a:custGeom>
            <a:solidFill>
              <a:srgbClr val="498E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103" y="3514343"/>
              <a:ext cx="9923145" cy="91440"/>
            </a:xfrm>
            <a:custGeom>
              <a:avLst/>
              <a:gdLst/>
              <a:ahLst/>
              <a:cxnLst/>
              <a:rect l="l" t="t" r="r" b="b"/>
              <a:pathLst>
                <a:path w="9923145" h="91439">
                  <a:moveTo>
                    <a:pt x="9922763" y="91440"/>
                  </a:moveTo>
                  <a:lnTo>
                    <a:pt x="0" y="91440"/>
                  </a:lnTo>
                  <a:lnTo>
                    <a:pt x="0" y="0"/>
                  </a:lnTo>
                  <a:lnTo>
                    <a:pt x="9922763" y="0"/>
                  </a:lnTo>
                  <a:lnTo>
                    <a:pt x="9922763" y="91440"/>
                  </a:lnTo>
                  <a:close/>
                </a:path>
              </a:pathLst>
            </a:custGeom>
            <a:solidFill>
              <a:srgbClr val="ACCA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48000" y="3817169"/>
            <a:ext cx="2932279" cy="2487861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53695" algn="ctr">
              <a:lnSpc>
                <a:spcPct val="100000"/>
              </a:lnSpc>
              <a:spcBef>
                <a:spcPts val="560"/>
              </a:spcBef>
            </a:pPr>
            <a:r>
              <a:rPr sz="165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Presented</a:t>
            </a:r>
            <a:r>
              <a:rPr sz="165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65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by:</a:t>
            </a:r>
            <a:endParaRPr lang="en-IN" sz="1200" b="1" spc="-25" dirty="0">
              <a:solidFill>
                <a:srgbClr val="00AF50"/>
              </a:solidFill>
              <a:latin typeface="Times New Roman"/>
              <a:cs typeface="Times New Roman"/>
            </a:endParaRPr>
          </a:p>
          <a:p>
            <a:pPr marL="353695">
              <a:lnSpc>
                <a:spcPct val="100000"/>
              </a:lnSpc>
              <a:spcBef>
                <a:spcPts val="560"/>
              </a:spcBef>
            </a:pPr>
            <a:r>
              <a:rPr lang="en-IN" sz="12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SK. AMEER BASHA  - 21491A04K8</a:t>
            </a:r>
          </a:p>
          <a:p>
            <a:pPr marL="353695">
              <a:lnSpc>
                <a:spcPct val="100000"/>
              </a:lnSpc>
              <a:spcBef>
                <a:spcPts val="560"/>
              </a:spcBef>
            </a:pPr>
            <a:r>
              <a:rPr lang="en-IN" sz="12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P. LAVANYA               - 21491A04K6</a:t>
            </a:r>
          </a:p>
          <a:p>
            <a:pPr marL="353695">
              <a:lnSpc>
                <a:spcPct val="100000"/>
              </a:lnSpc>
              <a:spcBef>
                <a:spcPts val="560"/>
              </a:spcBef>
            </a:pPr>
            <a:r>
              <a:rPr lang="en-IN" sz="12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G. TIRUMALA TEJA- 21491A0429</a:t>
            </a:r>
          </a:p>
          <a:p>
            <a:pPr marL="353695">
              <a:lnSpc>
                <a:spcPct val="100000"/>
              </a:lnSpc>
              <a:spcBef>
                <a:spcPts val="560"/>
              </a:spcBef>
            </a:pPr>
            <a:r>
              <a:rPr lang="en-IN" sz="12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A. BHARGAV RAM   - 21491A0455</a:t>
            </a:r>
          </a:p>
          <a:p>
            <a:pPr marL="353695">
              <a:lnSpc>
                <a:spcPct val="100000"/>
              </a:lnSpc>
              <a:spcBef>
                <a:spcPts val="560"/>
              </a:spcBef>
            </a:pPr>
            <a:r>
              <a:rPr lang="en-IN" sz="12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K. RAMESH BABU    -21491A04C4</a:t>
            </a:r>
          </a:p>
          <a:p>
            <a:pPr marL="353695">
              <a:lnSpc>
                <a:spcPct val="100000"/>
              </a:lnSpc>
              <a:spcBef>
                <a:spcPts val="560"/>
              </a:spcBef>
            </a:pPr>
            <a:r>
              <a:rPr lang="en-IN" sz="12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P. VENKATA SIVA    - 21491A0424 </a:t>
            </a:r>
          </a:p>
          <a:p>
            <a:pPr marL="353695">
              <a:lnSpc>
                <a:spcPct val="100000"/>
              </a:lnSpc>
              <a:spcBef>
                <a:spcPts val="560"/>
              </a:spcBef>
            </a:pPr>
            <a:endParaRPr lang="en-IN" sz="1200" b="1" spc="-25" dirty="0">
              <a:solidFill>
                <a:srgbClr val="00AF50"/>
              </a:solidFill>
              <a:latin typeface="Times New Roman"/>
              <a:cs typeface="Times New Roman"/>
            </a:endParaRPr>
          </a:p>
          <a:p>
            <a:pPr marL="353695">
              <a:lnSpc>
                <a:spcPct val="100000"/>
              </a:lnSpc>
              <a:spcBef>
                <a:spcPts val="560"/>
              </a:spcBef>
            </a:pPr>
            <a:endParaRPr lang="en-IN" sz="1650" b="1" spc="-25" dirty="0">
              <a:solidFill>
                <a:srgbClr val="00AF50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66896" y="5584873"/>
            <a:ext cx="2708910" cy="934719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995680">
              <a:lnSpc>
                <a:spcPct val="100000"/>
              </a:lnSpc>
              <a:spcBef>
                <a:spcPts val="645"/>
              </a:spcBef>
            </a:pPr>
            <a:r>
              <a:rPr sz="1400" b="1" i="1" dirty="0">
                <a:solidFill>
                  <a:srgbClr val="00AF50"/>
                </a:solidFill>
                <a:latin typeface="Times New Roman"/>
                <a:cs typeface="Times New Roman"/>
              </a:rPr>
              <a:t>Under</a:t>
            </a:r>
            <a:r>
              <a:rPr sz="1400" b="1" i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1400" b="1" i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Times New Roman"/>
                <a:cs typeface="Times New Roman"/>
              </a:rPr>
              <a:t>Guidance</a:t>
            </a:r>
            <a:r>
              <a:rPr sz="1400" b="1" i="1" spc="-8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400" b="1" i="1" spc="-25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endParaRPr sz="1400">
              <a:latin typeface="Times New Roman"/>
              <a:cs typeface="Times New Roman"/>
            </a:endParaRPr>
          </a:p>
          <a:p>
            <a:pPr marL="1374775">
              <a:lnSpc>
                <a:spcPct val="100000"/>
              </a:lnSpc>
              <a:spcBef>
                <a:spcPts val="495"/>
              </a:spcBef>
            </a:pPr>
            <a:r>
              <a:rPr sz="1300" dirty="0">
                <a:solidFill>
                  <a:srgbClr val="3F50FF"/>
                </a:solidFill>
                <a:latin typeface="Times New Roman"/>
                <a:cs typeface="Times New Roman"/>
              </a:rPr>
              <a:t>MR.D</a:t>
            </a:r>
            <a:r>
              <a:rPr sz="1300" spc="20" dirty="0">
                <a:solidFill>
                  <a:srgbClr val="3F50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3F50FF"/>
                </a:solidFill>
                <a:latin typeface="Times New Roman"/>
                <a:cs typeface="Times New Roman"/>
              </a:rPr>
              <a:t>CHAITNYA</a:t>
            </a:r>
            <a:endParaRPr sz="13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525"/>
              </a:spcBef>
            </a:pPr>
            <a:r>
              <a:rPr sz="750" b="1" i="1" spc="-10" dirty="0">
                <a:solidFill>
                  <a:srgbClr val="001F60"/>
                </a:solidFill>
                <a:latin typeface="Times New Roman"/>
                <a:cs typeface="Times New Roman"/>
              </a:rPr>
              <a:t>Assistant professor</a:t>
            </a:r>
            <a:endParaRPr sz="750">
              <a:latin typeface="Times New Roman"/>
              <a:cs typeface="Times New Roman"/>
            </a:endParaRPr>
          </a:p>
          <a:p>
            <a:pPr marR="7620" algn="r">
              <a:lnSpc>
                <a:spcPct val="100000"/>
              </a:lnSpc>
              <a:spcBef>
                <a:spcPts val="490"/>
              </a:spcBef>
            </a:pPr>
            <a:r>
              <a:rPr sz="800" b="1" dirty="0">
                <a:solidFill>
                  <a:srgbClr val="232852"/>
                </a:solidFill>
                <a:latin typeface="Times New Roman"/>
                <a:cs typeface="Times New Roman"/>
              </a:rPr>
              <a:t>Department</a:t>
            </a:r>
            <a:r>
              <a:rPr sz="800" b="1" spc="3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232852"/>
                </a:solidFill>
                <a:latin typeface="Times New Roman"/>
                <a:cs typeface="Times New Roman"/>
              </a:rPr>
              <a:t>of</a:t>
            </a:r>
            <a:r>
              <a:rPr sz="800" b="1" spc="5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232852"/>
                </a:solidFill>
                <a:latin typeface="Times New Roman"/>
                <a:cs typeface="Times New Roman"/>
              </a:rPr>
              <a:t>Electronics</a:t>
            </a:r>
            <a:r>
              <a:rPr sz="800" b="1" spc="-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232852"/>
                </a:solidFill>
                <a:latin typeface="Times New Roman"/>
                <a:cs typeface="Times New Roman"/>
              </a:rPr>
              <a:t>and</a:t>
            </a:r>
            <a:r>
              <a:rPr sz="800" b="1" spc="4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800" b="1" dirty="0">
                <a:solidFill>
                  <a:srgbClr val="232852"/>
                </a:solidFill>
                <a:latin typeface="Times New Roman"/>
                <a:cs typeface="Times New Roman"/>
              </a:rPr>
              <a:t>Communication</a:t>
            </a:r>
            <a:r>
              <a:rPr sz="800" b="1" spc="29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800" b="1" spc="-10" dirty="0">
                <a:solidFill>
                  <a:srgbClr val="232852"/>
                </a:solidFill>
                <a:latin typeface="Times New Roman"/>
                <a:cs typeface="Times New Roman"/>
              </a:rPr>
              <a:t>Engineering</a:t>
            </a:r>
            <a:endParaRPr sz="8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03792" y="1182624"/>
            <a:ext cx="818387" cy="702563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0103" y="2310383"/>
            <a:ext cx="9924415" cy="931544"/>
          </a:xfrm>
          <a:prstGeom prst="rect">
            <a:avLst/>
          </a:prstGeom>
          <a:solidFill>
            <a:srgbClr val="0E56C3"/>
          </a:solidFill>
        </p:spPr>
        <p:txBody>
          <a:bodyPr vert="horz" wrap="square" lIns="0" tIns="218440" rIns="0" bIns="0" rtlCol="0">
            <a:spAutoFit/>
          </a:bodyPr>
          <a:lstStyle/>
          <a:p>
            <a:pPr marL="2698750" marR="600075" indent="-2106295">
              <a:lnSpc>
                <a:spcPct val="100000"/>
              </a:lnSpc>
              <a:spcBef>
                <a:spcPts val="1720"/>
              </a:spcBef>
            </a:pPr>
            <a:r>
              <a:rPr sz="2300" spc="-175" dirty="0">
                <a:solidFill>
                  <a:srgbClr val="FFFF00"/>
                </a:solidFill>
                <a:latin typeface="Verdana"/>
                <a:cs typeface="Verdana"/>
              </a:rPr>
              <a:t>OPTIMIZATION</a:t>
            </a:r>
            <a:r>
              <a:rPr sz="2300" spc="-310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FFFF00"/>
                </a:solidFill>
                <a:latin typeface="Verdana"/>
                <a:cs typeface="Verdana"/>
              </a:rPr>
              <a:t>OF</a:t>
            </a:r>
            <a:r>
              <a:rPr sz="2300" spc="-85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300" spc="-155" dirty="0">
                <a:solidFill>
                  <a:srgbClr val="FFFF00"/>
                </a:solidFill>
                <a:latin typeface="Verdana"/>
                <a:cs typeface="Verdana"/>
              </a:rPr>
              <a:t>INDUCTOR-BASED</a:t>
            </a:r>
            <a:r>
              <a:rPr sz="2300" spc="-315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FFFF00"/>
                </a:solidFill>
                <a:latin typeface="Verdana"/>
                <a:cs typeface="Verdana"/>
              </a:rPr>
              <a:t>DICKSON</a:t>
            </a:r>
            <a:r>
              <a:rPr sz="2300" spc="175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FFFF00"/>
                </a:solidFill>
                <a:latin typeface="Verdana"/>
                <a:cs typeface="Verdana"/>
              </a:rPr>
              <a:t>CHARGE</a:t>
            </a:r>
            <a:r>
              <a:rPr sz="2300" spc="-195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300" spc="-20" dirty="0">
                <a:solidFill>
                  <a:srgbClr val="FFFF00"/>
                </a:solidFill>
                <a:latin typeface="Verdana"/>
                <a:cs typeface="Verdana"/>
              </a:rPr>
              <a:t>PUMP </a:t>
            </a:r>
            <a:r>
              <a:rPr sz="2300" dirty="0">
                <a:solidFill>
                  <a:srgbClr val="FFFF00"/>
                </a:solidFill>
                <a:latin typeface="Verdana"/>
                <a:cs typeface="Verdana"/>
              </a:rPr>
              <a:t>FOR</a:t>
            </a:r>
            <a:r>
              <a:rPr sz="2300" spc="295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300" spc="-130" dirty="0">
                <a:solidFill>
                  <a:srgbClr val="FFFF00"/>
                </a:solidFill>
                <a:latin typeface="Verdana"/>
                <a:cs typeface="Verdana"/>
              </a:rPr>
              <a:t>LOW-</a:t>
            </a:r>
            <a:r>
              <a:rPr sz="2300" spc="-70" dirty="0">
                <a:solidFill>
                  <a:srgbClr val="FFFF00"/>
                </a:solidFill>
                <a:latin typeface="Verdana"/>
                <a:cs typeface="Verdana"/>
              </a:rPr>
              <a:t>POWER</a:t>
            </a:r>
            <a:r>
              <a:rPr sz="2300" spc="-155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FFFF00"/>
                </a:solidFill>
                <a:latin typeface="Verdana"/>
                <a:cs typeface="Verdana"/>
              </a:rPr>
              <a:t>APPLICATION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0703" y="6266173"/>
            <a:ext cx="11874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50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329" y="2235204"/>
            <a:ext cx="2955290" cy="3303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00"/>
              </a:spcBef>
              <a:buClr>
                <a:srgbClr val="4966AC"/>
              </a:buClr>
              <a:buSzPct val="82608"/>
              <a:buFont typeface="Segoe UI Symbol"/>
              <a:buChar char="❑"/>
              <a:tabLst>
                <a:tab pos="390525" algn="l"/>
              </a:tabLst>
            </a:pPr>
            <a:r>
              <a:rPr sz="1150" spc="-10" dirty="0">
                <a:latin typeface="Times New Roman"/>
                <a:cs typeface="Times New Roman"/>
              </a:rPr>
              <a:t>ABSTRACT</a:t>
            </a:r>
            <a:endParaRPr sz="1150">
              <a:latin typeface="Times New Roman"/>
              <a:cs typeface="Times New Roman"/>
            </a:endParaRPr>
          </a:p>
          <a:p>
            <a:pPr marL="390525" indent="-377825">
              <a:lnSpc>
                <a:spcPct val="100000"/>
              </a:lnSpc>
              <a:spcBef>
                <a:spcPts val="1295"/>
              </a:spcBef>
              <a:buClr>
                <a:srgbClr val="4966AC"/>
              </a:buClr>
              <a:buSzPct val="82608"/>
              <a:buFont typeface="Segoe UI Symbol"/>
              <a:buChar char="❑"/>
              <a:tabLst>
                <a:tab pos="390525" algn="l"/>
              </a:tabLst>
            </a:pPr>
            <a:r>
              <a:rPr sz="1150" spc="-10" dirty="0">
                <a:latin typeface="Times New Roman"/>
                <a:cs typeface="Times New Roman"/>
              </a:rPr>
              <a:t>INTRODUCTION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4966AC"/>
              </a:buClr>
              <a:buFont typeface="Segoe UI Symbol"/>
              <a:buChar char="❑"/>
            </a:pPr>
            <a:endParaRPr sz="1150">
              <a:latin typeface="Times New Roman"/>
              <a:cs typeface="Times New Roman"/>
            </a:endParaRPr>
          </a:p>
          <a:p>
            <a:pPr marL="390525" indent="-377825">
              <a:lnSpc>
                <a:spcPct val="100000"/>
              </a:lnSpc>
              <a:buClr>
                <a:srgbClr val="4966AC"/>
              </a:buClr>
              <a:buSzPct val="82608"/>
              <a:buFont typeface="Segoe UI Symbol"/>
              <a:buChar char="❑"/>
              <a:tabLst>
                <a:tab pos="390525" algn="l"/>
              </a:tabLst>
            </a:pPr>
            <a:r>
              <a:rPr sz="1150" spc="-20" dirty="0">
                <a:latin typeface="Times New Roman"/>
                <a:cs typeface="Times New Roman"/>
              </a:rPr>
              <a:t>LITERATURE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REVIEW</a:t>
            </a:r>
            <a:endParaRPr sz="1150">
              <a:latin typeface="Times New Roman"/>
              <a:cs typeface="Times New Roman"/>
            </a:endParaRP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Clr>
                <a:srgbClr val="4966AC"/>
              </a:buClr>
              <a:buSzPct val="82608"/>
              <a:buFont typeface="Segoe UI Symbol"/>
              <a:buChar char="❑"/>
              <a:tabLst>
                <a:tab pos="390525" algn="l"/>
              </a:tabLst>
            </a:pPr>
            <a:r>
              <a:rPr sz="1150" spc="-10" dirty="0">
                <a:latin typeface="Times New Roman"/>
                <a:cs typeface="Times New Roman"/>
              </a:rPr>
              <a:t>OBJECTIVE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4966AC"/>
              </a:buClr>
              <a:buFont typeface="Segoe UI Symbol"/>
              <a:buChar char="❑"/>
            </a:pPr>
            <a:endParaRPr sz="1150">
              <a:latin typeface="Times New Roman"/>
              <a:cs typeface="Times New Roman"/>
            </a:endParaRPr>
          </a:p>
          <a:p>
            <a:pPr marL="390525" indent="-377825">
              <a:lnSpc>
                <a:spcPct val="100000"/>
              </a:lnSpc>
              <a:buClr>
                <a:srgbClr val="4966AC"/>
              </a:buClr>
              <a:buSzPct val="82608"/>
              <a:buFont typeface="Segoe UI Symbol"/>
              <a:buChar char="❑"/>
              <a:tabLst>
                <a:tab pos="390525" algn="l"/>
              </a:tabLst>
            </a:pPr>
            <a:r>
              <a:rPr sz="1150" spc="-10" dirty="0">
                <a:latin typeface="Times New Roman"/>
                <a:cs typeface="Times New Roman"/>
              </a:rPr>
              <a:t>EXISTING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METHOD</a:t>
            </a:r>
            <a:endParaRPr sz="1150">
              <a:latin typeface="Times New Roman"/>
              <a:cs typeface="Times New Roman"/>
            </a:endParaRPr>
          </a:p>
          <a:p>
            <a:pPr marL="390525" indent="-377825">
              <a:lnSpc>
                <a:spcPct val="100000"/>
              </a:lnSpc>
              <a:spcBef>
                <a:spcPts val="1300"/>
              </a:spcBef>
              <a:buClr>
                <a:srgbClr val="4966AC"/>
              </a:buClr>
              <a:buSzPct val="82608"/>
              <a:buFont typeface="Segoe UI Symbol"/>
              <a:buChar char="❑"/>
              <a:tabLst>
                <a:tab pos="390525" algn="l"/>
              </a:tabLst>
            </a:pPr>
            <a:r>
              <a:rPr sz="1150" dirty="0">
                <a:latin typeface="Times New Roman"/>
                <a:cs typeface="Times New Roman"/>
              </a:rPr>
              <a:t>PROPOSED</a:t>
            </a:r>
            <a:r>
              <a:rPr sz="1150" spc="-7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METHOD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4966AC"/>
              </a:buClr>
              <a:buFont typeface="Segoe UI Symbol"/>
              <a:buChar char="❑"/>
            </a:pPr>
            <a:endParaRPr sz="1150">
              <a:latin typeface="Times New Roman"/>
              <a:cs typeface="Times New Roman"/>
            </a:endParaRPr>
          </a:p>
          <a:p>
            <a:pPr marL="390525" indent="-377825">
              <a:lnSpc>
                <a:spcPct val="100000"/>
              </a:lnSpc>
              <a:buClr>
                <a:srgbClr val="4966AC"/>
              </a:buClr>
              <a:buSzPct val="82608"/>
              <a:buFont typeface="Segoe UI Symbol"/>
              <a:buChar char="❑"/>
              <a:tabLst>
                <a:tab pos="390525" algn="l"/>
              </a:tabLst>
            </a:pPr>
            <a:r>
              <a:rPr sz="1150" spc="-20" dirty="0">
                <a:latin typeface="Times New Roman"/>
                <a:cs typeface="Times New Roman"/>
              </a:rPr>
              <a:t>HARDWARE </a:t>
            </a:r>
            <a:r>
              <a:rPr sz="1150" dirty="0">
                <a:latin typeface="Times New Roman"/>
                <a:cs typeface="Times New Roman"/>
              </a:rPr>
              <a:t>&amp;</a:t>
            </a:r>
            <a:r>
              <a:rPr sz="1150" spc="-55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SOFTWARE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INVOLVED</a:t>
            </a:r>
            <a:endParaRPr sz="1150">
              <a:latin typeface="Times New Roman"/>
              <a:cs typeface="Times New Roman"/>
            </a:endParaRPr>
          </a:p>
          <a:p>
            <a:pPr marL="390525" indent="-377825">
              <a:lnSpc>
                <a:spcPct val="100000"/>
              </a:lnSpc>
              <a:spcBef>
                <a:spcPts val="1295"/>
              </a:spcBef>
              <a:buClr>
                <a:srgbClr val="4966AC"/>
              </a:buClr>
              <a:buSzPct val="82608"/>
              <a:buFont typeface="Segoe UI Symbol"/>
              <a:buChar char="❑"/>
              <a:tabLst>
                <a:tab pos="390525" algn="l"/>
              </a:tabLst>
            </a:pPr>
            <a:r>
              <a:rPr sz="1150" spc="-45" dirty="0">
                <a:latin typeface="Times New Roman"/>
                <a:cs typeface="Times New Roman"/>
              </a:rPr>
              <a:t>ADVANTAGES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10" dirty="0">
                <a:latin typeface="Times New Roman"/>
                <a:cs typeface="Times New Roman"/>
              </a:rPr>
              <a:t> APPLICATION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4966AC"/>
              </a:buClr>
              <a:buFont typeface="Segoe UI Symbol"/>
              <a:buChar char="❑"/>
            </a:pPr>
            <a:endParaRPr sz="1150">
              <a:latin typeface="Times New Roman"/>
              <a:cs typeface="Times New Roman"/>
            </a:endParaRPr>
          </a:p>
          <a:p>
            <a:pPr marL="390525" indent="-377825">
              <a:lnSpc>
                <a:spcPct val="100000"/>
              </a:lnSpc>
              <a:buClr>
                <a:srgbClr val="4966AC"/>
              </a:buClr>
              <a:buSzPct val="82608"/>
              <a:buFont typeface="Segoe UI Symbol"/>
              <a:buChar char="❑"/>
              <a:tabLst>
                <a:tab pos="390525" algn="l"/>
              </a:tabLst>
            </a:pPr>
            <a:r>
              <a:rPr sz="1150" dirty="0">
                <a:latin typeface="Times New Roman"/>
                <a:cs typeface="Times New Roman"/>
              </a:rPr>
              <a:t>SYSTEM</a:t>
            </a:r>
            <a:r>
              <a:rPr sz="1150" spc="-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DESIGN</a:t>
            </a:r>
            <a:r>
              <a:rPr sz="1150" spc="-6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(Architecture)</a:t>
            </a:r>
            <a:endParaRPr sz="1150">
              <a:latin typeface="Times New Roman"/>
              <a:cs typeface="Times New Roman"/>
            </a:endParaRPr>
          </a:p>
          <a:p>
            <a:pPr marL="390525" indent="-377825">
              <a:lnSpc>
                <a:spcPct val="100000"/>
              </a:lnSpc>
              <a:spcBef>
                <a:spcPts val="1310"/>
              </a:spcBef>
              <a:buClr>
                <a:srgbClr val="4966AC"/>
              </a:buClr>
              <a:buSzPct val="82608"/>
              <a:buFont typeface="Segoe UI Symbol"/>
              <a:buChar char="❑"/>
              <a:tabLst>
                <a:tab pos="390525" algn="l"/>
              </a:tabLst>
            </a:pPr>
            <a:r>
              <a:rPr sz="1150" spc="-10" dirty="0">
                <a:latin typeface="Times New Roman"/>
                <a:cs typeface="Times New Roman"/>
              </a:rPr>
              <a:t>REFERENCES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22218" y="1465606"/>
            <a:ext cx="127190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3792" y="1182624"/>
            <a:ext cx="818387" cy="7025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52" y="1115567"/>
            <a:ext cx="9913620" cy="5521960"/>
          </a:xfrm>
          <a:custGeom>
            <a:avLst/>
            <a:gdLst/>
            <a:ahLst/>
            <a:cxnLst/>
            <a:rect l="l" t="t" r="r" b="b"/>
            <a:pathLst>
              <a:path w="9913620" h="5521959">
                <a:moveTo>
                  <a:pt x="0" y="272795"/>
                </a:moveTo>
                <a:lnTo>
                  <a:pt x="4572" y="224027"/>
                </a:lnTo>
                <a:lnTo>
                  <a:pt x="18288" y="178307"/>
                </a:lnTo>
                <a:lnTo>
                  <a:pt x="38100" y="135635"/>
                </a:lnTo>
                <a:lnTo>
                  <a:pt x="64008" y="97535"/>
                </a:lnTo>
                <a:lnTo>
                  <a:pt x="97536" y="65531"/>
                </a:lnTo>
                <a:lnTo>
                  <a:pt x="135636" y="38099"/>
                </a:lnTo>
                <a:lnTo>
                  <a:pt x="176783" y="18287"/>
                </a:lnTo>
                <a:lnTo>
                  <a:pt x="224028" y="4571"/>
                </a:lnTo>
                <a:lnTo>
                  <a:pt x="271272" y="0"/>
                </a:lnTo>
                <a:lnTo>
                  <a:pt x="9642348" y="0"/>
                </a:lnTo>
                <a:lnTo>
                  <a:pt x="9691116" y="4571"/>
                </a:lnTo>
                <a:lnTo>
                  <a:pt x="9736835" y="18287"/>
                </a:lnTo>
                <a:lnTo>
                  <a:pt x="9779507" y="38099"/>
                </a:lnTo>
                <a:lnTo>
                  <a:pt x="9817607" y="65531"/>
                </a:lnTo>
                <a:lnTo>
                  <a:pt x="9851135" y="97535"/>
                </a:lnTo>
                <a:lnTo>
                  <a:pt x="9877043" y="135635"/>
                </a:lnTo>
                <a:lnTo>
                  <a:pt x="9896856" y="178307"/>
                </a:lnTo>
                <a:lnTo>
                  <a:pt x="9910571" y="224027"/>
                </a:lnTo>
                <a:lnTo>
                  <a:pt x="9913620" y="272795"/>
                </a:lnTo>
                <a:lnTo>
                  <a:pt x="9913620" y="5250179"/>
                </a:lnTo>
                <a:lnTo>
                  <a:pt x="9910571" y="5298947"/>
                </a:lnTo>
                <a:lnTo>
                  <a:pt x="9896856" y="5344667"/>
                </a:lnTo>
                <a:lnTo>
                  <a:pt x="9877043" y="5387340"/>
                </a:lnTo>
                <a:lnTo>
                  <a:pt x="9851135" y="5425440"/>
                </a:lnTo>
                <a:lnTo>
                  <a:pt x="9817607" y="5458967"/>
                </a:lnTo>
                <a:lnTo>
                  <a:pt x="9779507" y="5484876"/>
                </a:lnTo>
                <a:lnTo>
                  <a:pt x="9736835" y="5504688"/>
                </a:lnTo>
                <a:lnTo>
                  <a:pt x="9691116" y="5518403"/>
                </a:lnTo>
                <a:lnTo>
                  <a:pt x="9642348" y="5521451"/>
                </a:lnTo>
                <a:lnTo>
                  <a:pt x="271272" y="5521451"/>
                </a:lnTo>
                <a:lnTo>
                  <a:pt x="224028" y="5518403"/>
                </a:lnTo>
                <a:lnTo>
                  <a:pt x="176783" y="5504688"/>
                </a:lnTo>
                <a:lnTo>
                  <a:pt x="135636" y="5484876"/>
                </a:lnTo>
                <a:lnTo>
                  <a:pt x="97536" y="5458967"/>
                </a:lnTo>
                <a:lnTo>
                  <a:pt x="64008" y="5425440"/>
                </a:lnTo>
                <a:lnTo>
                  <a:pt x="38100" y="5387340"/>
                </a:lnTo>
                <a:lnTo>
                  <a:pt x="18288" y="5344667"/>
                </a:lnTo>
                <a:lnTo>
                  <a:pt x="4572" y="5298947"/>
                </a:lnTo>
                <a:lnTo>
                  <a:pt x="0" y="5250179"/>
                </a:lnTo>
                <a:lnTo>
                  <a:pt x="0" y="272795"/>
                </a:lnTo>
                <a:close/>
              </a:path>
            </a:pathLst>
          </a:custGeom>
          <a:ln w="45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9328" y="2193484"/>
            <a:ext cx="8437880" cy="4242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4" marR="5080" algn="just">
              <a:lnSpc>
                <a:spcPct val="152000"/>
              </a:lnSpc>
              <a:spcBef>
                <a:spcPts val="105"/>
              </a:spcBef>
              <a:buClr>
                <a:srgbClr val="4966AC"/>
              </a:buClr>
              <a:buSzPct val="84615"/>
              <a:tabLst>
                <a:tab pos="238125" algn="l"/>
              </a:tabLst>
            </a:pPr>
            <a:r>
              <a:rPr lang="en-IN" sz="1300" dirty="0">
                <a:latin typeface="Palatino Linotype"/>
                <a:cs typeface="Palatino Linotype"/>
              </a:rPr>
              <a:t>    </a:t>
            </a:r>
            <a:r>
              <a:rPr sz="1300" dirty="0">
                <a:latin typeface="Palatino Linotype"/>
                <a:cs typeface="Palatino Linotype"/>
              </a:rPr>
              <a:t>A</a:t>
            </a:r>
            <a:r>
              <a:rPr sz="1300" spc="32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charge</a:t>
            </a:r>
            <a:r>
              <a:rPr sz="1300" spc="34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pump</a:t>
            </a:r>
            <a:r>
              <a:rPr sz="1300" spc="34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is</a:t>
            </a:r>
            <a:r>
              <a:rPr sz="1300" spc="36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an</a:t>
            </a:r>
            <a:r>
              <a:rPr sz="1300" spc="34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electronic</a:t>
            </a:r>
            <a:r>
              <a:rPr sz="1300" spc="35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circuit</a:t>
            </a:r>
            <a:r>
              <a:rPr sz="1300" spc="37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that</a:t>
            </a:r>
            <a:r>
              <a:rPr sz="1300" spc="35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increases</a:t>
            </a:r>
            <a:r>
              <a:rPr sz="1300" spc="3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voltage</a:t>
            </a:r>
            <a:r>
              <a:rPr sz="1300" spc="3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using</a:t>
            </a:r>
            <a:r>
              <a:rPr sz="1300" spc="32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switches,</a:t>
            </a:r>
            <a:r>
              <a:rPr sz="1300" spc="35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capacitors,</a:t>
            </a:r>
            <a:r>
              <a:rPr sz="1300" spc="3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and</a:t>
            </a:r>
            <a:r>
              <a:rPr sz="1300" spc="355" dirty="0">
                <a:latin typeface="Palatino Linotype"/>
                <a:cs typeface="Palatino Linotype"/>
              </a:rPr>
              <a:t> </a:t>
            </a:r>
            <a:r>
              <a:rPr sz="1300" spc="-10" dirty="0">
                <a:latin typeface="Palatino Linotype"/>
                <a:cs typeface="Palatino Linotype"/>
              </a:rPr>
              <a:t>sometimes 	</a:t>
            </a:r>
            <a:r>
              <a:rPr sz="1300" dirty="0">
                <a:latin typeface="Palatino Linotype"/>
                <a:cs typeface="Palatino Linotype"/>
              </a:rPr>
              <a:t>inductors.</a:t>
            </a:r>
            <a:r>
              <a:rPr sz="1300" spc="2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The</a:t>
            </a:r>
            <a:r>
              <a:rPr sz="1300" spc="2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Dickson</a:t>
            </a:r>
            <a:r>
              <a:rPr sz="1300" spc="2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charge</a:t>
            </a:r>
            <a:r>
              <a:rPr sz="1300" spc="28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pump</a:t>
            </a:r>
            <a:r>
              <a:rPr sz="1300" spc="27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is</a:t>
            </a:r>
            <a:r>
              <a:rPr sz="1300" spc="27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a</a:t>
            </a:r>
            <a:r>
              <a:rPr sz="1300" spc="265" dirty="0">
                <a:latin typeface="Palatino Linotype"/>
                <a:cs typeface="Palatino Linotype"/>
              </a:rPr>
              <a:t> </a:t>
            </a:r>
            <a:r>
              <a:rPr sz="1300" spc="-25" dirty="0">
                <a:latin typeface="Palatino Linotype"/>
                <a:cs typeface="Palatino Linotype"/>
              </a:rPr>
              <a:t>well-</a:t>
            </a:r>
            <a:r>
              <a:rPr sz="1300" dirty="0">
                <a:latin typeface="Palatino Linotype"/>
                <a:cs typeface="Palatino Linotype"/>
              </a:rPr>
              <a:t>known</a:t>
            </a:r>
            <a:r>
              <a:rPr sz="1300" spc="2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design,</a:t>
            </a:r>
            <a:r>
              <a:rPr sz="1300" spc="28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commonly</a:t>
            </a:r>
            <a:r>
              <a:rPr sz="1300" spc="28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used</a:t>
            </a:r>
            <a:r>
              <a:rPr sz="1300" spc="28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in</a:t>
            </a:r>
            <a:r>
              <a:rPr sz="1300" spc="275" dirty="0">
                <a:latin typeface="Palatino Linotype"/>
                <a:cs typeface="Palatino Linotype"/>
              </a:rPr>
              <a:t> </a:t>
            </a:r>
            <a:r>
              <a:rPr sz="1300" spc="-10" dirty="0">
                <a:latin typeface="Palatino Linotype"/>
                <a:cs typeface="Palatino Linotype"/>
              </a:rPr>
              <a:t>low-</a:t>
            </a:r>
            <a:r>
              <a:rPr sz="1300" dirty="0">
                <a:latin typeface="Palatino Linotype"/>
                <a:cs typeface="Palatino Linotype"/>
              </a:rPr>
              <a:t>power</a:t>
            </a:r>
            <a:r>
              <a:rPr sz="1300" spc="275" dirty="0">
                <a:latin typeface="Palatino Linotype"/>
                <a:cs typeface="Palatino Linotype"/>
              </a:rPr>
              <a:t> </a:t>
            </a:r>
            <a:r>
              <a:rPr sz="1300" spc="-10" dirty="0">
                <a:latin typeface="Palatino Linotype"/>
                <a:cs typeface="Palatino Linotype"/>
              </a:rPr>
              <a:t>applications. 	</a:t>
            </a:r>
            <a:r>
              <a:rPr sz="1300" dirty="0">
                <a:latin typeface="Palatino Linotype"/>
                <a:cs typeface="Palatino Linotype"/>
              </a:rPr>
              <a:t>However,</a:t>
            </a:r>
            <a:r>
              <a:rPr sz="1300" spc="26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traditional</a:t>
            </a:r>
            <a:r>
              <a:rPr sz="1300" spc="24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Dickson</a:t>
            </a:r>
            <a:r>
              <a:rPr sz="1300" spc="27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charge</a:t>
            </a:r>
            <a:r>
              <a:rPr sz="1300" spc="26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pumps</a:t>
            </a:r>
            <a:r>
              <a:rPr sz="1300" spc="254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rely</a:t>
            </a:r>
            <a:r>
              <a:rPr sz="1300" spc="2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only</a:t>
            </a:r>
            <a:r>
              <a:rPr sz="1300" spc="25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on</a:t>
            </a:r>
            <a:r>
              <a:rPr sz="1300" spc="254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capacitors,</a:t>
            </a:r>
            <a:r>
              <a:rPr sz="1300" spc="26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which</a:t>
            </a:r>
            <a:r>
              <a:rPr sz="1300" spc="254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can</a:t>
            </a:r>
            <a:r>
              <a:rPr sz="1300" spc="254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lead</a:t>
            </a:r>
            <a:r>
              <a:rPr sz="1300" spc="26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to</a:t>
            </a:r>
            <a:r>
              <a:rPr sz="1300" spc="2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power</a:t>
            </a:r>
            <a:r>
              <a:rPr sz="1300" spc="2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losses</a:t>
            </a:r>
            <a:r>
              <a:rPr sz="1300" spc="254" dirty="0">
                <a:latin typeface="Palatino Linotype"/>
                <a:cs typeface="Palatino Linotype"/>
              </a:rPr>
              <a:t> </a:t>
            </a:r>
            <a:r>
              <a:rPr sz="1300" spc="-25" dirty="0">
                <a:latin typeface="Palatino Linotype"/>
                <a:cs typeface="Palatino Linotype"/>
              </a:rPr>
              <a:t>and 	</a:t>
            </a:r>
            <a:r>
              <a:rPr sz="1300" dirty="0">
                <a:latin typeface="Palatino Linotype"/>
                <a:cs typeface="Palatino Linotype"/>
              </a:rPr>
              <a:t>lower</a:t>
            </a:r>
            <a:r>
              <a:rPr sz="1300" spc="34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efficiency.</a:t>
            </a:r>
            <a:r>
              <a:rPr sz="1300" spc="37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In</a:t>
            </a:r>
            <a:r>
              <a:rPr sz="1300" spc="37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this</a:t>
            </a:r>
            <a:r>
              <a:rPr sz="1300" spc="3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work,</a:t>
            </a:r>
            <a:r>
              <a:rPr sz="1300" spc="35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we</a:t>
            </a:r>
            <a:r>
              <a:rPr sz="1300" spc="3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propose</a:t>
            </a:r>
            <a:r>
              <a:rPr sz="1300" spc="36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an</a:t>
            </a:r>
            <a:r>
              <a:rPr sz="1300" spc="36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improved</a:t>
            </a:r>
            <a:r>
              <a:rPr sz="1300" spc="34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version</a:t>
            </a:r>
            <a:r>
              <a:rPr sz="1300" spc="35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that</a:t>
            </a:r>
            <a:r>
              <a:rPr sz="1300" spc="3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incorporates</a:t>
            </a:r>
            <a:r>
              <a:rPr sz="1300" spc="34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inductors</a:t>
            </a:r>
            <a:r>
              <a:rPr sz="1300" spc="37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to</a:t>
            </a:r>
            <a:r>
              <a:rPr sz="1300" spc="350" dirty="0">
                <a:latin typeface="Palatino Linotype"/>
                <a:cs typeface="Palatino Linotype"/>
              </a:rPr>
              <a:t> </a:t>
            </a:r>
            <a:r>
              <a:rPr sz="1300" spc="-10" dirty="0">
                <a:latin typeface="Palatino Linotype"/>
                <a:cs typeface="Palatino Linotype"/>
              </a:rPr>
              <a:t>enhance 	</a:t>
            </a:r>
            <a:r>
              <a:rPr sz="1300" dirty="0">
                <a:latin typeface="Palatino Linotype"/>
                <a:cs typeface="Palatino Linotype"/>
              </a:rPr>
              <a:t>performance.</a:t>
            </a:r>
            <a:r>
              <a:rPr sz="1300" spc="14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Inductors</a:t>
            </a:r>
            <a:r>
              <a:rPr sz="1300" spc="15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help</a:t>
            </a:r>
            <a:r>
              <a:rPr sz="1300" spc="15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store</a:t>
            </a:r>
            <a:r>
              <a:rPr sz="1300" spc="15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and</a:t>
            </a:r>
            <a:r>
              <a:rPr sz="1300" spc="15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transfer</a:t>
            </a:r>
            <a:r>
              <a:rPr sz="1300" spc="16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energy</a:t>
            </a:r>
            <a:r>
              <a:rPr sz="1300" spc="16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more</a:t>
            </a:r>
            <a:r>
              <a:rPr sz="1300" spc="17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efficiently,</a:t>
            </a:r>
            <a:r>
              <a:rPr sz="1300" spc="17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reducing</a:t>
            </a:r>
            <a:r>
              <a:rPr sz="1300" spc="15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power</a:t>
            </a:r>
            <a:r>
              <a:rPr sz="1300" spc="15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loss</a:t>
            </a:r>
            <a:r>
              <a:rPr sz="1300" spc="1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and</a:t>
            </a:r>
            <a:r>
              <a:rPr sz="1300" spc="170" dirty="0">
                <a:latin typeface="Palatino Linotype"/>
                <a:cs typeface="Palatino Linotype"/>
              </a:rPr>
              <a:t> </a:t>
            </a:r>
            <a:r>
              <a:rPr sz="1300" spc="-10" dirty="0">
                <a:latin typeface="Palatino Linotype"/>
                <a:cs typeface="Palatino Linotype"/>
              </a:rPr>
              <a:t>improving 	</a:t>
            </a:r>
            <a:r>
              <a:rPr sz="1300" dirty="0">
                <a:latin typeface="Palatino Linotype"/>
                <a:cs typeface="Palatino Linotype"/>
              </a:rPr>
              <a:t>voltage</a:t>
            </a:r>
            <a:r>
              <a:rPr sz="1300" spc="37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conversion.</a:t>
            </a:r>
            <a:r>
              <a:rPr sz="1300" spc="39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This</a:t>
            </a:r>
            <a:r>
              <a:rPr sz="1300" spc="39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makes</a:t>
            </a:r>
            <a:r>
              <a:rPr sz="1300" spc="38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the</a:t>
            </a:r>
            <a:r>
              <a:rPr sz="1300" spc="38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charge</a:t>
            </a:r>
            <a:r>
              <a:rPr sz="1300" spc="39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pump</a:t>
            </a:r>
            <a:r>
              <a:rPr sz="1300" spc="38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more</a:t>
            </a:r>
            <a:r>
              <a:rPr sz="1300" spc="39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suitable</a:t>
            </a:r>
            <a:r>
              <a:rPr sz="1300" spc="38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for</a:t>
            </a:r>
            <a:r>
              <a:rPr sz="1300" spc="385" dirty="0">
                <a:latin typeface="Palatino Linotype"/>
                <a:cs typeface="Palatino Linotype"/>
              </a:rPr>
              <a:t> </a:t>
            </a:r>
            <a:r>
              <a:rPr sz="1300" spc="-10" dirty="0">
                <a:latin typeface="Palatino Linotype"/>
                <a:cs typeface="Palatino Linotype"/>
              </a:rPr>
              <a:t>low-</a:t>
            </a:r>
            <a:r>
              <a:rPr sz="1300" dirty="0">
                <a:latin typeface="Palatino Linotype"/>
                <a:cs typeface="Palatino Linotype"/>
              </a:rPr>
              <a:t>power</a:t>
            </a:r>
            <a:r>
              <a:rPr sz="1300" spc="37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applications</a:t>
            </a:r>
            <a:r>
              <a:rPr sz="1300" spc="38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like</a:t>
            </a:r>
            <a:r>
              <a:rPr sz="1300" spc="365" dirty="0">
                <a:latin typeface="Palatino Linotype"/>
                <a:cs typeface="Palatino Linotype"/>
              </a:rPr>
              <a:t> </a:t>
            </a:r>
            <a:r>
              <a:rPr sz="1300" spc="-10" dirty="0">
                <a:latin typeface="Palatino Linotype"/>
                <a:cs typeface="Palatino Linotype"/>
              </a:rPr>
              <a:t>energy 	</a:t>
            </a:r>
            <a:r>
              <a:rPr sz="1300" dirty="0">
                <a:latin typeface="Palatino Linotype"/>
                <a:cs typeface="Palatino Linotype"/>
              </a:rPr>
              <a:t>harvesting,</a:t>
            </a:r>
            <a:r>
              <a:rPr sz="1300" spc="13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IoT</a:t>
            </a:r>
            <a:r>
              <a:rPr sz="1300" spc="14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devices,</a:t>
            </a:r>
            <a:r>
              <a:rPr sz="1300" spc="12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and</a:t>
            </a:r>
            <a:r>
              <a:rPr sz="1300" spc="13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biomedical</a:t>
            </a:r>
            <a:r>
              <a:rPr sz="1300" spc="13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electronics.</a:t>
            </a:r>
            <a:r>
              <a:rPr sz="1300" spc="13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Our</a:t>
            </a:r>
            <a:r>
              <a:rPr sz="1300" spc="12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optimization</a:t>
            </a:r>
            <a:r>
              <a:rPr sz="1300" spc="15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focuses</a:t>
            </a:r>
            <a:r>
              <a:rPr sz="1300" spc="12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on</a:t>
            </a:r>
            <a:r>
              <a:rPr sz="1300" spc="14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selecting</a:t>
            </a:r>
            <a:r>
              <a:rPr sz="1300" spc="13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the</a:t>
            </a:r>
            <a:r>
              <a:rPr sz="1300" spc="14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right</a:t>
            </a:r>
            <a:r>
              <a:rPr sz="1300" spc="135" dirty="0">
                <a:latin typeface="Palatino Linotype"/>
                <a:cs typeface="Palatino Linotype"/>
              </a:rPr>
              <a:t> </a:t>
            </a:r>
            <a:r>
              <a:rPr sz="1300" spc="-10" dirty="0">
                <a:latin typeface="Palatino Linotype"/>
                <a:cs typeface="Palatino Linotype"/>
              </a:rPr>
              <a:t>inductor 	</a:t>
            </a:r>
            <a:r>
              <a:rPr sz="1300" dirty="0">
                <a:latin typeface="Palatino Linotype"/>
                <a:cs typeface="Palatino Linotype"/>
              </a:rPr>
              <a:t>values,</a:t>
            </a:r>
            <a:r>
              <a:rPr sz="1300" spc="4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reducing</a:t>
            </a:r>
            <a:r>
              <a:rPr sz="1300" spc="5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switching</a:t>
            </a:r>
            <a:r>
              <a:rPr sz="1300" spc="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losses,</a:t>
            </a:r>
            <a:r>
              <a:rPr sz="1300" spc="6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and</a:t>
            </a:r>
            <a:r>
              <a:rPr sz="1300" spc="7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improving</a:t>
            </a:r>
            <a:r>
              <a:rPr sz="1300" spc="5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control</a:t>
            </a:r>
            <a:r>
              <a:rPr sz="1300" spc="6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techniques.</a:t>
            </a:r>
            <a:r>
              <a:rPr sz="1300" spc="7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By</a:t>
            </a:r>
            <a:r>
              <a:rPr sz="1300" spc="5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carefully</a:t>
            </a:r>
            <a:r>
              <a:rPr sz="1300" spc="5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designing</a:t>
            </a:r>
            <a:r>
              <a:rPr sz="1300" spc="5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these</a:t>
            </a:r>
            <a:r>
              <a:rPr sz="1300" spc="6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aspects,</a:t>
            </a:r>
            <a:r>
              <a:rPr sz="1300" spc="75" dirty="0">
                <a:latin typeface="Palatino Linotype"/>
                <a:cs typeface="Palatino Linotype"/>
              </a:rPr>
              <a:t> </a:t>
            </a:r>
            <a:r>
              <a:rPr sz="1300" spc="-25" dirty="0">
                <a:latin typeface="Palatino Linotype"/>
                <a:cs typeface="Palatino Linotype"/>
              </a:rPr>
              <a:t>we 	</a:t>
            </a:r>
            <a:r>
              <a:rPr sz="1300" dirty="0">
                <a:latin typeface="Palatino Linotype"/>
                <a:cs typeface="Palatino Linotype"/>
              </a:rPr>
              <a:t>achieve</a:t>
            </a:r>
            <a:r>
              <a:rPr sz="1300" spc="14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higher</a:t>
            </a:r>
            <a:r>
              <a:rPr sz="1300" spc="14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efficiency</a:t>
            </a:r>
            <a:r>
              <a:rPr sz="1300" spc="14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and</a:t>
            </a:r>
            <a:r>
              <a:rPr sz="1300" spc="13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lower</a:t>
            </a:r>
            <a:r>
              <a:rPr sz="1300" spc="14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power</a:t>
            </a:r>
            <a:r>
              <a:rPr sz="1300" spc="14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consumption.</a:t>
            </a:r>
            <a:r>
              <a:rPr sz="1300" spc="14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Additionally,</a:t>
            </a:r>
            <a:r>
              <a:rPr sz="1300" spc="14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our</a:t>
            </a:r>
            <a:r>
              <a:rPr sz="1300" spc="14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design</a:t>
            </a:r>
            <a:r>
              <a:rPr sz="1300" spc="14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minimizes</a:t>
            </a:r>
            <a:r>
              <a:rPr sz="1300" spc="15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voltage</a:t>
            </a:r>
            <a:r>
              <a:rPr sz="1300" spc="135" dirty="0">
                <a:latin typeface="Palatino Linotype"/>
                <a:cs typeface="Palatino Linotype"/>
              </a:rPr>
              <a:t> </a:t>
            </a:r>
            <a:r>
              <a:rPr sz="1300" spc="-10" dirty="0">
                <a:latin typeface="Palatino Linotype"/>
                <a:cs typeface="Palatino Linotype"/>
              </a:rPr>
              <a:t>ripple, 	</a:t>
            </a:r>
            <a:r>
              <a:rPr sz="1300" dirty="0">
                <a:latin typeface="Palatino Linotype"/>
                <a:cs typeface="Palatino Linotype"/>
              </a:rPr>
              <a:t>ensuring</a:t>
            </a:r>
            <a:r>
              <a:rPr sz="1300" spc="15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stable</a:t>
            </a:r>
            <a:r>
              <a:rPr sz="1300" spc="1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output</a:t>
            </a:r>
            <a:r>
              <a:rPr sz="1300" spc="17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voltage.</a:t>
            </a:r>
            <a:r>
              <a:rPr sz="1300" spc="1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Simulations</a:t>
            </a:r>
            <a:r>
              <a:rPr sz="1300" spc="1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and</a:t>
            </a:r>
            <a:r>
              <a:rPr sz="1300" spc="1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experimental</a:t>
            </a:r>
            <a:r>
              <a:rPr sz="1300" spc="1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tests</a:t>
            </a:r>
            <a:r>
              <a:rPr sz="1300" spc="17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confirm</a:t>
            </a:r>
            <a:r>
              <a:rPr sz="1300" spc="16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that</a:t>
            </a:r>
            <a:r>
              <a:rPr sz="1300" spc="16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the</a:t>
            </a:r>
            <a:r>
              <a:rPr sz="1300" spc="18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proposed</a:t>
            </a:r>
            <a:r>
              <a:rPr sz="1300" spc="17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charge</a:t>
            </a:r>
            <a:r>
              <a:rPr sz="1300" spc="160" dirty="0">
                <a:latin typeface="Palatino Linotype"/>
                <a:cs typeface="Palatino Linotype"/>
              </a:rPr>
              <a:t> </a:t>
            </a:r>
            <a:r>
              <a:rPr sz="1300" spc="-20" dirty="0">
                <a:latin typeface="Palatino Linotype"/>
                <a:cs typeface="Palatino Linotype"/>
              </a:rPr>
              <a:t>pump 	</a:t>
            </a:r>
            <a:r>
              <a:rPr sz="1300" dirty="0">
                <a:latin typeface="Palatino Linotype"/>
                <a:cs typeface="Palatino Linotype"/>
              </a:rPr>
              <a:t>outperforms</a:t>
            </a:r>
            <a:r>
              <a:rPr sz="1300" spc="19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conventional</a:t>
            </a:r>
            <a:r>
              <a:rPr sz="1300" spc="20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designs.</a:t>
            </a:r>
            <a:r>
              <a:rPr sz="1300" spc="20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It</a:t>
            </a:r>
            <a:r>
              <a:rPr sz="1300" spc="18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provides</a:t>
            </a:r>
            <a:r>
              <a:rPr sz="1300" spc="19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better</a:t>
            </a:r>
            <a:r>
              <a:rPr sz="1300" spc="19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energy</a:t>
            </a:r>
            <a:r>
              <a:rPr sz="1300" spc="20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efficiency,</a:t>
            </a:r>
            <a:r>
              <a:rPr sz="1300" spc="19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making</a:t>
            </a:r>
            <a:r>
              <a:rPr sz="1300" spc="20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it</a:t>
            </a:r>
            <a:r>
              <a:rPr sz="1300" spc="18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ideal</a:t>
            </a:r>
            <a:r>
              <a:rPr sz="1300" spc="18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for</a:t>
            </a:r>
            <a:r>
              <a:rPr sz="1300" spc="200" dirty="0">
                <a:latin typeface="Palatino Linotype"/>
                <a:cs typeface="Palatino Linotype"/>
              </a:rPr>
              <a:t> </a:t>
            </a:r>
            <a:r>
              <a:rPr sz="1300" spc="-10" dirty="0">
                <a:latin typeface="Palatino Linotype"/>
                <a:cs typeface="Palatino Linotype"/>
              </a:rPr>
              <a:t>battery-powered 	</a:t>
            </a:r>
            <a:r>
              <a:rPr sz="1300" dirty="0">
                <a:latin typeface="Palatino Linotype"/>
                <a:cs typeface="Palatino Linotype"/>
              </a:rPr>
              <a:t>and</a:t>
            </a:r>
            <a:r>
              <a:rPr sz="1300" spc="125" dirty="0">
                <a:latin typeface="Palatino Linotype"/>
                <a:cs typeface="Palatino Linotype"/>
              </a:rPr>
              <a:t> </a:t>
            </a:r>
            <a:r>
              <a:rPr sz="1300" spc="-10" dirty="0">
                <a:latin typeface="Palatino Linotype"/>
                <a:cs typeface="Palatino Linotype"/>
              </a:rPr>
              <a:t>energy-</a:t>
            </a:r>
            <a:r>
              <a:rPr sz="1300" dirty="0">
                <a:latin typeface="Palatino Linotype"/>
                <a:cs typeface="Palatino Linotype"/>
              </a:rPr>
              <a:t>constrained</a:t>
            </a:r>
            <a:r>
              <a:rPr sz="1300" spc="13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systems.</a:t>
            </a:r>
            <a:r>
              <a:rPr sz="1300" spc="13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Compared</a:t>
            </a:r>
            <a:r>
              <a:rPr sz="1300" spc="13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to</a:t>
            </a:r>
            <a:r>
              <a:rPr sz="1300" spc="12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traditional</a:t>
            </a:r>
            <a:r>
              <a:rPr sz="1300" spc="13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charge</a:t>
            </a:r>
            <a:r>
              <a:rPr sz="1300" spc="12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pumps,</a:t>
            </a:r>
            <a:r>
              <a:rPr sz="1300" spc="13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our</a:t>
            </a:r>
            <a:r>
              <a:rPr sz="1300" spc="12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design</a:t>
            </a:r>
            <a:r>
              <a:rPr sz="1300" spc="14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achieves</a:t>
            </a:r>
            <a:r>
              <a:rPr sz="1300" spc="12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higher</a:t>
            </a:r>
            <a:r>
              <a:rPr sz="1300" spc="125" dirty="0">
                <a:latin typeface="Palatino Linotype"/>
                <a:cs typeface="Palatino Linotype"/>
              </a:rPr>
              <a:t> </a:t>
            </a:r>
            <a:r>
              <a:rPr sz="1300" spc="-10" dirty="0">
                <a:latin typeface="Palatino Linotype"/>
                <a:cs typeface="Palatino Linotype"/>
              </a:rPr>
              <a:t>voltage 	</a:t>
            </a:r>
            <a:r>
              <a:rPr sz="1300" dirty="0">
                <a:latin typeface="Palatino Linotype"/>
                <a:cs typeface="Palatino Linotype"/>
              </a:rPr>
              <a:t>gain</a:t>
            </a:r>
            <a:r>
              <a:rPr sz="1300" spc="32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with</a:t>
            </a:r>
            <a:r>
              <a:rPr sz="1300" spc="32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reduced</a:t>
            </a:r>
            <a:r>
              <a:rPr sz="1300" spc="32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power</a:t>
            </a:r>
            <a:r>
              <a:rPr sz="1300" spc="31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loss.</a:t>
            </a:r>
            <a:r>
              <a:rPr sz="1300" spc="32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This</a:t>
            </a:r>
            <a:r>
              <a:rPr sz="1300" spc="30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improvement</a:t>
            </a:r>
            <a:r>
              <a:rPr sz="1300" spc="32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is</a:t>
            </a:r>
            <a:r>
              <a:rPr sz="1300" spc="32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crucial</a:t>
            </a:r>
            <a:r>
              <a:rPr sz="1300" spc="31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for</a:t>
            </a:r>
            <a:r>
              <a:rPr sz="1300" spc="31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applications</a:t>
            </a:r>
            <a:r>
              <a:rPr sz="1300" spc="32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where</a:t>
            </a:r>
            <a:r>
              <a:rPr sz="1300" spc="31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power</a:t>
            </a:r>
            <a:r>
              <a:rPr sz="1300" spc="305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efficiency</a:t>
            </a:r>
            <a:r>
              <a:rPr sz="1300" spc="310" dirty="0">
                <a:latin typeface="Palatino Linotype"/>
                <a:cs typeface="Palatino Linotype"/>
              </a:rPr>
              <a:t> </a:t>
            </a:r>
            <a:r>
              <a:rPr sz="1300" dirty="0">
                <a:latin typeface="Palatino Linotype"/>
                <a:cs typeface="Palatino Linotype"/>
              </a:rPr>
              <a:t>is</a:t>
            </a:r>
            <a:r>
              <a:rPr sz="1300" spc="320" dirty="0">
                <a:latin typeface="Palatino Linotype"/>
                <a:cs typeface="Palatino Linotype"/>
              </a:rPr>
              <a:t> </a:t>
            </a:r>
            <a:r>
              <a:rPr sz="1300" spc="-50" dirty="0">
                <a:latin typeface="Palatino Linotype"/>
                <a:cs typeface="Palatino Linotype"/>
              </a:rPr>
              <a:t>a 	</a:t>
            </a:r>
            <a:r>
              <a:rPr sz="1300" spc="-10" dirty="0">
                <a:latin typeface="Palatino Linotype"/>
                <a:cs typeface="Palatino Linotype"/>
              </a:rPr>
              <a:t>priority.</a:t>
            </a:r>
            <a:endParaRPr sz="1300" dirty="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2781" rIns="0" bIns="0" rtlCol="0">
            <a:spAutoFit/>
          </a:bodyPr>
          <a:lstStyle/>
          <a:p>
            <a:pPr marL="28848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57733" y="6177533"/>
            <a:ext cx="510540" cy="386080"/>
            <a:chOff x="157733" y="6177533"/>
            <a:chExt cx="510540" cy="386080"/>
          </a:xfrm>
        </p:grpSpPr>
        <p:sp>
          <p:nvSpPr>
            <p:cNvPr id="6" name="object 6"/>
            <p:cNvSpPr/>
            <p:nvPr/>
          </p:nvSpPr>
          <p:spPr>
            <a:xfrm>
              <a:off x="161544" y="6181344"/>
              <a:ext cx="502920" cy="378460"/>
            </a:xfrm>
            <a:custGeom>
              <a:avLst/>
              <a:gdLst/>
              <a:ahLst/>
              <a:cxnLst/>
              <a:rect l="l" t="t" r="r" b="b"/>
              <a:pathLst>
                <a:path w="502920" h="378459">
                  <a:moveTo>
                    <a:pt x="251459" y="377951"/>
                  </a:moveTo>
                  <a:lnTo>
                    <a:pt x="201167" y="374903"/>
                  </a:lnTo>
                  <a:lnTo>
                    <a:pt x="153923" y="364235"/>
                  </a:lnTo>
                  <a:lnTo>
                    <a:pt x="111251" y="345947"/>
                  </a:lnTo>
                  <a:lnTo>
                    <a:pt x="74676" y="323087"/>
                  </a:lnTo>
                  <a:lnTo>
                    <a:pt x="44195" y="295655"/>
                  </a:lnTo>
                  <a:lnTo>
                    <a:pt x="19811" y="263651"/>
                  </a:lnTo>
                  <a:lnTo>
                    <a:pt x="6095" y="227075"/>
                  </a:lnTo>
                  <a:lnTo>
                    <a:pt x="0" y="188975"/>
                  </a:lnTo>
                  <a:lnTo>
                    <a:pt x="6095" y="152399"/>
                  </a:lnTo>
                  <a:lnTo>
                    <a:pt x="19811" y="115823"/>
                  </a:lnTo>
                  <a:lnTo>
                    <a:pt x="44195" y="83820"/>
                  </a:lnTo>
                  <a:lnTo>
                    <a:pt x="74676" y="56388"/>
                  </a:lnTo>
                  <a:lnTo>
                    <a:pt x="111251" y="33527"/>
                  </a:lnTo>
                  <a:lnTo>
                    <a:pt x="153923" y="15239"/>
                  </a:lnTo>
                  <a:lnTo>
                    <a:pt x="201167" y="4571"/>
                  </a:lnTo>
                  <a:lnTo>
                    <a:pt x="251459" y="0"/>
                  </a:lnTo>
                  <a:lnTo>
                    <a:pt x="303275" y="4571"/>
                  </a:lnTo>
                  <a:lnTo>
                    <a:pt x="350520" y="15239"/>
                  </a:lnTo>
                  <a:lnTo>
                    <a:pt x="393191" y="33527"/>
                  </a:lnTo>
                  <a:lnTo>
                    <a:pt x="429767" y="56388"/>
                  </a:lnTo>
                  <a:lnTo>
                    <a:pt x="460247" y="83820"/>
                  </a:lnTo>
                  <a:lnTo>
                    <a:pt x="483108" y="115823"/>
                  </a:lnTo>
                  <a:lnTo>
                    <a:pt x="498347" y="152399"/>
                  </a:lnTo>
                  <a:lnTo>
                    <a:pt x="502919" y="188975"/>
                  </a:lnTo>
                  <a:lnTo>
                    <a:pt x="498347" y="227075"/>
                  </a:lnTo>
                  <a:lnTo>
                    <a:pt x="483108" y="263651"/>
                  </a:lnTo>
                  <a:lnTo>
                    <a:pt x="460247" y="295655"/>
                  </a:lnTo>
                  <a:lnTo>
                    <a:pt x="429767" y="323087"/>
                  </a:lnTo>
                  <a:lnTo>
                    <a:pt x="393191" y="345947"/>
                  </a:lnTo>
                  <a:lnTo>
                    <a:pt x="350520" y="364235"/>
                  </a:lnTo>
                  <a:lnTo>
                    <a:pt x="303275" y="374903"/>
                  </a:lnTo>
                  <a:lnTo>
                    <a:pt x="251459" y="377951"/>
                  </a:lnTo>
                  <a:close/>
                </a:path>
              </a:pathLst>
            </a:custGeom>
            <a:solidFill>
              <a:srgbClr val="0E5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1543" y="6181343"/>
              <a:ext cx="502920" cy="378460"/>
            </a:xfrm>
            <a:custGeom>
              <a:avLst/>
              <a:gdLst/>
              <a:ahLst/>
              <a:cxnLst/>
              <a:rect l="l" t="t" r="r" b="b"/>
              <a:pathLst>
                <a:path w="502920" h="378459">
                  <a:moveTo>
                    <a:pt x="0" y="188975"/>
                  </a:moveTo>
                  <a:lnTo>
                    <a:pt x="19812" y="115823"/>
                  </a:lnTo>
                  <a:lnTo>
                    <a:pt x="44195" y="83819"/>
                  </a:lnTo>
                  <a:lnTo>
                    <a:pt x="74676" y="56387"/>
                  </a:lnTo>
                  <a:lnTo>
                    <a:pt x="111252" y="33527"/>
                  </a:lnTo>
                  <a:lnTo>
                    <a:pt x="153924" y="15239"/>
                  </a:lnTo>
                  <a:lnTo>
                    <a:pt x="201168" y="4571"/>
                  </a:lnTo>
                  <a:lnTo>
                    <a:pt x="251459" y="0"/>
                  </a:lnTo>
                  <a:lnTo>
                    <a:pt x="303276" y="4571"/>
                  </a:lnTo>
                  <a:lnTo>
                    <a:pt x="350519" y="15239"/>
                  </a:lnTo>
                  <a:lnTo>
                    <a:pt x="393191" y="33527"/>
                  </a:lnTo>
                  <a:lnTo>
                    <a:pt x="429767" y="56387"/>
                  </a:lnTo>
                  <a:lnTo>
                    <a:pt x="460248" y="83819"/>
                  </a:lnTo>
                  <a:lnTo>
                    <a:pt x="483108" y="115823"/>
                  </a:lnTo>
                  <a:lnTo>
                    <a:pt x="498348" y="152399"/>
                  </a:lnTo>
                  <a:lnTo>
                    <a:pt x="502919" y="188975"/>
                  </a:lnTo>
                  <a:lnTo>
                    <a:pt x="498348" y="227075"/>
                  </a:lnTo>
                  <a:lnTo>
                    <a:pt x="483108" y="263651"/>
                  </a:lnTo>
                  <a:lnTo>
                    <a:pt x="460248" y="295655"/>
                  </a:lnTo>
                  <a:lnTo>
                    <a:pt x="429767" y="323088"/>
                  </a:lnTo>
                  <a:lnTo>
                    <a:pt x="393191" y="345947"/>
                  </a:lnTo>
                  <a:lnTo>
                    <a:pt x="350519" y="364235"/>
                  </a:lnTo>
                  <a:lnTo>
                    <a:pt x="303276" y="374903"/>
                  </a:lnTo>
                  <a:lnTo>
                    <a:pt x="251459" y="377951"/>
                  </a:lnTo>
                  <a:lnTo>
                    <a:pt x="201168" y="374903"/>
                  </a:lnTo>
                  <a:lnTo>
                    <a:pt x="153924" y="364235"/>
                  </a:lnTo>
                  <a:lnTo>
                    <a:pt x="111252" y="345947"/>
                  </a:lnTo>
                  <a:lnTo>
                    <a:pt x="74676" y="323088"/>
                  </a:lnTo>
                  <a:lnTo>
                    <a:pt x="44195" y="295655"/>
                  </a:lnTo>
                  <a:lnTo>
                    <a:pt x="19812" y="263651"/>
                  </a:lnTo>
                  <a:lnTo>
                    <a:pt x="6096" y="227075"/>
                  </a:lnTo>
                  <a:lnTo>
                    <a:pt x="0" y="188975"/>
                  </a:lnTo>
                </a:path>
              </a:pathLst>
            </a:custGeom>
            <a:ln w="7620">
              <a:solidFill>
                <a:srgbClr val="0E56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60703" y="6266173"/>
            <a:ext cx="11874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5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15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3792" y="1182624"/>
            <a:ext cx="818387" cy="7025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9356" y="2193411"/>
            <a:ext cx="8437245" cy="3940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52000"/>
              </a:lnSpc>
              <a:spcBef>
                <a:spcPts val="105"/>
              </a:spcBef>
            </a:pPr>
            <a:r>
              <a:rPr sz="1300" dirty="0">
                <a:latin typeface="Times New Roman"/>
                <a:cs typeface="Times New Roman"/>
              </a:rPr>
              <a:t>Electronic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devices</a:t>
            </a:r>
            <a:r>
              <a:rPr sz="1300" spc="1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often</a:t>
            </a:r>
            <a:r>
              <a:rPr sz="1300" spc="1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require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1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higher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voltage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than</a:t>
            </a:r>
            <a:r>
              <a:rPr sz="1300" spc="1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their</a:t>
            </a:r>
            <a:r>
              <a:rPr sz="1300" spc="1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power</a:t>
            </a:r>
            <a:r>
              <a:rPr sz="1300" spc="1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source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provides.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charge</a:t>
            </a:r>
            <a:r>
              <a:rPr sz="1300" spc="1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pump</a:t>
            </a:r>
            <a:r>
              <a:rPr sz="1300" spc="1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is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1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special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circuit</a:t>
            </a:r>
            <a:r>
              <a:rPr sz="1300" spc="14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that </a:t>
            </a:r>
            <a:r>
              <a:rPr sz="1300" dirty="0">
                <a:latin typeface="Times New Roman"/>
                <a:cs typeface="Times New Roman"/>
              </a:rPr>
              <a:t>increases</a:t>
            </a:r>
            <a:r>
              <a:rPr sz="1300" spc="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voltage</a:t>
            </a:r>
            <a:r>
              <a:rPr sz="1300" spc="1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using</a:t>
            </a:r>
            <a:r>
              <a:rPr sz="1300" spc="1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switches,</a:t>
            </a:r>
            <a:r>
              <a:rPr sz="1300" spc="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capacitors,</a:t>
            </a:r>
            <a:r>
              <a:rPr sz="1300" spc="1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1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sometimes</a:t>
            </a:r>
            <a:r>
              <a:rPr sz="1300" spc="1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inductors.</a:t>
            </a:r>
            <a:r>
              <a:rPr sz="1300" spc="1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Dickson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charge</a:t>
            </a:r>
            <a:r>
              <a:rPr sz="1300" spc="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pump</a:t>
            </a:r>
            <a:r>
              <a:rPr sz="1300" spc="1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is</a:t>
            </a:r>
            <a:r>
              <a:rPr sz="1300" spc="1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well-</a:t>
            </a:r>
            <a:r>
              <a:rPr sz="1300" dirty="0">
                <a:latin typeface="Times New Roman"/>
                <a:cs typeface="Times New Roman"/>
              </a:rPr>
              <a:t>known</a:t>
            </a:r>
            <a:r>
              <a:rPr sz="1300" spc="1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type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that </a:t>
            </a:r>
            <a:r>
              <a:rPr sz="1300" dirty="0">
                <a:latin typeface="Times New Roman"/>
                <a:cs typeface="Times New Roman"/>
              </a:rPr>
              <a:t>traditionally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uses</a:t>
            </a:r>
            <a:r>
              <a:rPr sz="1300" spc="9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capacitors</a:t>
            </a:r>
            <a:r>
              <a:rPr sz="1300" spc="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store</a:t>
            </a:r>
            <a:r>
              <a:rPr sz="1300" spc="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transfer</a:t>
            </a:r>
            <a:r>
              <a:rPr sz="1300" spc="9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energy.</a:t>
            </a:r>
            <a:r>
              <a:rPr sz="1300" spc="1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1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improve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efficiency,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we</a:t>
            </a:r>
            <a:r>
              <a:rPr sz="1300" spc="1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introduce</a:t>
            </a:r>
            <a:r>
              <a:rPr sz="1300" spc="10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optimized</a:t>
            </a:r>
            <a:r>
              <a:rPr sz="1300" spc="1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Dickson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charge </a:t>
            </a:r>
            <a:r>
              <a:rPr sz="1300" dirty="0">
                <a:latin typeface="Times New Roman"/>
                <a:cs typeface="Times New Roman"/>
              </a:rPr>
              <a:t>pump</a:t>
            </a:r>
            <a:r>
              <a:rPr sz="1300" spc="2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that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incorporates</a:t>
            </a:r>
            <a:r>
              <a:rPr sz="1300" spc="20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inductors.</a:t>
            </a:r>
            <a:r>
              <a:rPr sz="1300" spc="2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Inductors</a:t>
            </a:r>
            <a:r>
              <a:rPr sz="1300" spc="229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help</a:t>
            </a:r>
            <a:r>
              <a:rPr sz="1300" spc="19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store</a:t>
            </a:r>
            <a:r>
              <a:rPr sz="1300" spc="2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energy</a:t>
            </a:r>
            <a:r>
              <a:rPr sz="1300" spc="20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more</a:t>
            </a:r>
            <a:r>
              <a:rPr sz="1300" spc="2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effectively</a:t>
            </a:r>
            <a:r>
              <a:rPr sz="1300" spc="1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20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reduce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power</a:t>
            </a:r>
            <a:r>
              <a:rPr sz="1300" spc="2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loss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during</a:t>
            </a:r>
            <a:r>
              <a:rPr sz="1300" spc="2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7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voltage </a:t>
            </a:r>
            <a:r>
              <a:rPr sz="1300" dirty="0">
                <a:latin typeface="Times New Roman"/>
                <a:cs typeface="Times New Roman"/>
              </a:rPr>
              <a:t>conversion</a:t>
            </a:r>
            <a:r>
              <a:rPr sz="1300" spc="19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process.</a:t>
            </a:r>
            <a:r>
              <a:rPr sz="1300" spc="20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This</a:t>
            </a:r>
            <a:r>
              <a:rPr sz="1300" spc="204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makes</a:t>
            </a:r>
            <a:r>
              <a:rPr sz="1300" spc="20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20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charge</a:t>
            </a:r>
            <a:r>
              <a:rPr sz="1300" spc="19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pump</a:t>
            </a:r>
            <a:r>
              <a:rPr sz="1300" spc="20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more</a:t>
            </a:r>
            <a:r>
              <a:rPr sz="1300" spc="204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suitable</a:t>
            </a:r>
            <a:r>
              <a:rPr sz="1300" spc="19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for</a:t>
            </a:r>
            <a:r>
              <a:rPr sz="1300" spc="19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applications</a:t>
            </a:r>
            <a:r>
              <a:rPr sz="1300" spc="19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that</a:t>
            </a:r>
            <a:r>
              <a:rPr sz="1300" spc="195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require</a:t>
            </a:r>
            <a:r>
              <a:rPr sz="1300" spc="185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minimal</a:t>
            </a:r>
            <a:r>
              <a:rPr sz="1300" spc="200" dirty="0">
                <a:latin typeface="Times New Roman"/>
                <a:cs typeface="Times New Roman"/>
              </a:rPr>
              <a:t>  </a:t>
            </a:r>
            <a:r>
              <a:rPr sz="1300" spc="-10" dirty="0">
                <a:latin typeface="Times New Roman"/>
                <a:cs typeface="Times New Roman"/>
              </a:rPr>
              <a:t>power </a:t>
            </a:r>
            <a:r>
              <a:rPr sz="1300" dirty="0">
                <a:latin typeface="Times New Roman"/>
                <a:cs typeface="Times New Roman"/>
              </a:rPr>
              <a:t>consumption,</a:t>
            </a:r>
            <a:r>
              <a:rPr sz="1300" spc="2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such</a:t>
            </a:r>
            <a:r>
              <a:rPr sz="1300" spc="2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as</a:t>
            </a:r>
            <a:r>
              <a:rPr sz="1300" spc="2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energy</a:t>
            </a:r>
            <a:r>
              <a:rPr sz="1300" spc="2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harvesting,</a:t>
            </a:r>
            <a:r>
              <a:rPr sz="1300" spc="2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medical</a:t>
            </a:r>
            <a:r>
              <a:rPr sz="1300" spc="29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devices,</a:t>
            </a:r>
            <a:r>
              <a:rPr sz="1300" spc="2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2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IoT</a:t>
            </a:r>
            <a:r>
              <a:rPr sz="1300" spc="2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systems.</a:t>
            </a:r>
            <a:r>
              <a:rPr sz="1300" spc="2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28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well-</a:t>
            </a:r>
            <a:r>
              <a:rPr sz="1300" dirty="0">
                <a:latin typeface="Times New Roman"/>
                <a:cs typeface="Times New Roman"/>
              </a:rPr>
              <a:t>designed</a:t>
            </a:r>
            <a:r>
              <a:rPr sz="1300" spc="29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charge</a:t>
            </a:r>
            <a:r>
              <a:rPr sz="1300" spc="2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pump</a:t>
            </a:r>
            <a:r>
              <a:rPr sz="1300" spc="2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can</a:t>
            </a:r>
            <a:r>
              <a:rPr sz="1300" spc="29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provide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9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necessary</a:t>
            </a:r>
            <a:r>
              <a:rPr sz="1300" spc="48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voltage</a:t>
            </a:r>
            <a:r>
              <a:rPr sz="1300" spc="10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without</a:t>
            </a:r>
            <a:r>
              <a:rPr sz="1300" spc="95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wasting</a:t>
            </a:r>
            <a:r>
              <a:rPr sz="1300" spc="10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energy.</a:t>
            </a:r>
            <a:r>
              <a:rPr sz="1300" spc="9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Our</a:t>
            </a:r>
            <a:r>
              <a:rPr sz="1300" spc="10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work</a:t>
            </a:r>
            <a:r>
              <a:rPr sz="1300" spc="10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focuses</a:t>
            </a:r>
            <a:r>
              <a:rPr sz="1300" spc="9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on</a:t>
            </a:r>
            <a:r>
              <a:rPr sz="1300" spc="10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optimizing</a:t>
            </a:r>
            <a:r>
              <a:rPr sz="1300" spc="10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0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circuit</a:t>
            </a:r>
            <a:r>
              <a:rPr sz="1300" spc="10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by</a:t>
            </a:r>
            <a:r>
              <a:rPr sz="1300" spc="48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selecting</a:t>
            </a:r>
            <a:r>
              <a:rPr sz="1300" spc="9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90" dirty="0">
                <a:latin typeface="Times New Roman"/>
                <a:cs typeface="Times New Roman"/>
              </a:rPr>
              <a:t>  </a:t>
            </a:r>
            <a:r>
              <a:rPr sz="1300" spc="-20" dirty="0">
                <a:latin typeface="Times New Roman"/>
                <a:cs typeface="Times New Roman"/>
              </a:rPr>
              <a:t>best </a:t>
            </a:r>
            <a:r>
              <a:rPr sz="1300" dirty="0">
                <a:latin typeface="Times New Roman"/>
                <a:cs typeface="Times New Roman"/>
              </a:rPr>
              <a:t>inductors,</a:t>
            </a:r>
            <a:r>
              <a:rPr sz="1300" spc="29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reducing</a:t>
            </a:r>
            <a:r>
              <a:rPr sz="1300" spc="229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switching</a:t>
            </a:r>
            <a:r>
              <a:rPr sz="1300" spc="2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losses,</a:t>
            </a:r>
            <a:r>
              <a:rPr sz="1300" spc="2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2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improving</a:t>
            </a:r>
            <a:r>
              <a:rPr sz="1300" spc="25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2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control</a:t>
            </a:r>
            <a:r>
              <a:rPr sz="1300" spc="2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mechanism.</a:t>
            </a:r>
            <a:r>
              <a:rPr sz="1300" spc="2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These</a:t>
            </a:r>
            <a:r>
              <a:rPr sz="1300" spc="2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improvements</a:t>
            </a:r>
            <a:r>
              <a:rPr sz="1300" spc="2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help</a:t>
            </a:r>
            <a:r>
              <a:rPr sz="1300" spc="2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2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charge</a:t>
            </a:r>
            <a:r>
              <a:rPr sz="1300" spc="22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pump </a:t>
            </a:r>
            <a:r>
              <a:rPr sz="1300" dirty="0">
                <a:latin typeface="Times New Roman"/>
                <a:cs typeface="Times New Roman"/>
              </a:rPr>
              <a:t>deliver</a:t>
            </a:r>
            <a:r>
              <a:rPr sz="1300" spc="2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2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stable</a:t>
            </a:r>
            <a:r>
              <a:rPr sz="1300" spc="2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voltage</a:t>
            </a:r>
            <a:r>
              <a:rPr sz="1300" spc="1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output</a:t>
            </a:r>
            <a:r>
              <a:rPr sz="1300" spc="2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while</a:t>
            </a:r>
            <a:r>
              <a:rPr sz="1300" spc="2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consuming</a:t>
            </a:r>
            <a:r>
              <a:rPr sz="1300" spc="2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less</a:t>
            </a:r>
            <a:r>
              <a:rPr sz="1300" spc="2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power.</a:t>
            </a:r>
            <a:r>
              <a:rPr sz="1300" spc="2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Unlike</a:t>
            </a:r>
            <a:r>
              <a:rPr sz="1300" spc="2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traditional</a:t>
            </a:r>
            <a:r>
              <a:rPr sz="1300" spc="204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capacitor-</a:t>
            </a:r>
            <a:r>
              <a:rPr sz="1300" dirty="0">
                <a:latin typeface="Times New Roman"/>
                <a:cs typeface="Times New Roman"/>
              </a:rPr>
              <a:t>based</a:t>
            </a:r>
            <a:r>
              <a:rPr sz="1300" spc="2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charge</a:t>
            </a:r>
            <a:r>
              <a:rPr sz="1300" spc="2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pumps,</a:t>
            </a:r>
            <a:r>
              <a:rPr sz="1300" spc="20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our</a:t>
            </a:r>
            <a:r>
              <a:rPr sz="1300" spc="21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design </a:t>
            </a:r>
            <a:r>
              <a:rPr sz="1300" dirty="0">
                <a:latin typeface="Times New Roman"/>
                <a:cs typeface="Times New Roman"/>
              </a:rPr>
              <a:t>provides</a:t>
            </a:r>
            <a:r>
              <a:rPr sz="1300" spc="4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better</a:t>
            </a:r>
            <a:r>
              <a:rPr sz="1300" spc="4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energy</a:t>
            </a:r>
            <a:r>
              <a:rPr sz="1300" spc="4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efficiency</a:t>
            </a:r>
            <a:r>
              <a:rPr sz="1300" spc="4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4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reduces</a:t>
            </a:r>
            <a:r>
              <a:rPr sz="1300" spc="4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voltage</a:t>
            </a:r>
            <a:r>
              <a:rPr sz="1300" spc="459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ripple.</a:t>
            </a:r>
            <a:r>
              <a:rPr sz="1300" spc="4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This</a:t>
            </a:r>
            <a:r>
              <a:rPr sz="1300" spc="49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makes</a:t>
            </a:r>
            <a:r>
              <a:rPr sz="1300" spc="4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it</a:t>
            </a:r>
            <a:r>
              <a:rPr sz="1300" spc="48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ideal</a:t>
            </a:r>
            <a:r>
              <a:rPr sz="1300" spc="4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for</a:t>
            </a:r>
            <a:r>
              <a:rPr sz="1300" spc="484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battery-</a:t>
            </a:r>
            <a:r>
              <a:rPr sz="1300" dirty="0">
                <a:latin typeface="Times New Roman"/>
                <a:cs typeface="Times New Roman"/>
              </a:rPr>
              <a:t>powered</a:t>
            </a:r>
            <a:r>
              <a:rPr sz="1300" spc="4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46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energy- </a:t>
            </a:r>
            <a:r>
              <a:rPr sz="1300" dirty="0">
                <a:latin typeface="Times New Roman"/>
                <a:cs typeface="Times New Roman"/>
              </a:rPr>
              <a:t>constrained</a:t>
            </a:r>
            <a:r>
              <a:rPr sz="1300" spc="2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applications.</a:t>
            </a:r>
            <a:r>
              <a:rPr sz="1300" spc="25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By</a:t>
            </a:r>
            <a:r>
              <a:rPr sz="1300" spc="1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carefully</a:t>
            </a:r>
            <a:r>
              <a:rPr sz="1300" spc="1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designing</a:t>
            </a:r>
            <a:r>
              <a:rPr sz="1300" spc="1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circuit,</a:t>
            </a:r>
            <a:r>
              <a:rPr sz="1300" spc="1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we</a:t>
            </a:r>
            <a:r>
              <a:rPr sz="1300" spc="1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achieve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higher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voltage</a:t>
            </a:r>
            <a:r>
              <a:rPr sz="1300" spc="1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gain</a:t>
            </a:r>
            <a:r>
              <a:rPr sz="1300" spc="1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with</a:t>
            </a:r>
            <a:r>
              <a:rPr sz="1300" spc="1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minimal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power</a:t>
            </a:r>
            <a:r>
              <a:rPr sz="1300" spc="1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loss.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The </a:t>
            </a:r>
            <a:r>
              <a:rPr sz="1300" dirty="0">
                <a:latin typeface="Times New Roman"/>
                <a:cs typeface="Times New Roman"/>
              </a:rPr>
              <a:t>optimized</a:t>
            </a:r>
            <a:r>
              <a:rPr sz="1300" spc="1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charge</a:t>
            </a:r>
            <a:r>
              <a:rPr sz="1300" spc="1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pump</a:t>
            </a:r>
            <a:r>
              <a:rPr sz="1300" spc="1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can</a:t>
            </a:r>
            <a:r>
              <a:rPr sz="1300" spc="1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be</a:t>
            </a:r>
            <a:r>
              <a:rPr sz="1300" spc="1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used</a:t>
            </a:r>
            <a:r>
              <a:rPr sz="1300" spc="1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</a:t>
            </a:r>
            <a:r>
              <a:rPr sz="1300" spc="1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tiny</a:t>
            </a:r>
            <a:r>
              <a:rPr sz="1300" spc="1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sensors,</a:t>
            </a:r>
            <a:r>
              <a:rPr sz="1300" spc="1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wearable</a:t>
            </a:r>
            <a:r>
              <a:rPr sz="1300" spc="1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electronics,</a:t>
            </a:r>
            <a:r>
              <a:rPr sz="1300" spc="1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1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implanted</a:t>
            </a:r>
            <a:r>
              <a:rPr sz="1300" spc="1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medical</a:t>
            </a:r>
            <a:r>
              <a:rPr sz="1300" spc="1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devices.</a:t>
            </a:r>
            <a:r>
              <a:rPr sz="1300" spc="1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Efficient</a:t>
            </a:r>
            <a:r>
              <a:rPr sz="1300" spc="14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power </a:t>
            </a:r>
            <a:r>
              <a:rPr sz="1300" dirty="0">
                <a:latin typeface="Times New Roman"/>
                <a:cs typeface="Times New Roman"/>
              </a:rPr>
              <a:t>conversion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is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crucial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for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modern</a:t>
            </a:r>
            <a:r>
              <a:rPr sz="1300" dirty="0">
                <a:latin typeface="Times New Roman"/>
                <a:cs typeface="Times New Roman"/>
              </a:rPr>
              <a:t> electronics,</a:t>
            </a:r>
            <a:r>
              <a:rPr sz="1300" spc="2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where</a:t>
            </a:r>
            <a:r>
              <a:rPr sz="1300" spc="3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energy</a:t>
            </a:r>
            <a:r>
              <a:rPr sz="1300" spc="2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efficiency</a:t>
            </a:r>
            <a:r>
              <a:rPr sz="1300" spc="2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is</a:t>
            </a:r>
            <a:r>
              <a:rPr sz="1300" spc="3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2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top</a:t>
            </a:r>
            <a:r>
              <a:rPr sz="1300" spc="28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priority.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17" rIns="0" bIns="0" rtlCol="0">
            <a:spAutoFit/>
          </a:bodyPr>
          <a:lstStyle/>
          <a:p>
            <a:pPr marL="233045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3792" y="1182624"/>
            <a:ext cx="818387" cy="7025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0703" y="6265388"/>
            <a:ext cx="118745" cy="203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spc="-50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endParaRPr sz="1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4613" y="6302867"/>
            <a:ext cx="1654810" cy="149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75"/>
              </a:lnSpc>
            </a:pPr>
            <a:r>
              <a:rPr sz="1150" spc="-20" dirty="0">
                <a:solidFill>
                  <a:srgbClr val="232852"/>
                </a:solidFill>
                <a:latin typeface="Palatino Linotype"/>
                <a:cs typeface="Palatino Linotype"/>
              </a:rPr>
              <a:t>Monday, </a:t>
            </a:r>
            <a:r>
              <a:rPr sz="1150" dirty="0">
                <a:solidFill>
                  <a:srgbClr val="232852"/>
                </a:solidFill>
                <a:latin typeface="Palatino Linotype"/>
                <a:cs typeface="Palatino Linotype"/>
              </a:rPr>
              <a:t>December</a:t>
            </a:r>
            <a:r>
              <a:rPr sz="1150" spc="-30" dirty="0">
                <a:solidFill>
                  <a:srgbClr val="232852"/>
                </a:solidFill>
                <a:latin typeface="Palatino Linotype"/>
                <a:cs typeface="Palatino Linotype"/>
              </a:rPr>
              <a:t> </a:t>
            </a:r>
            <a:r>
              <a:rPr sz="1150" dirty="0">
                <a:solidFill>
                  <a:srgbClr val="232852"/>
                </a:solidFill>
                <a:latin typeface="Palatino Linotype"/>
                <a:cs typeface="Palatino Linotype"/>
              </a:rPr>
              <a:t>23,</a:t>
            </a:r>
            <a:r>
              <a:rPr sz="1150" spc="-30" dirty="0">
                <a:solidFill>
                  <a:srgbClr val="232852"/>
                </a:solidFill>
                <a:latin typeface="Palatino Linotype"/>
                <a:cs typeface="Palatino Linotype"/>
              </a:rPr>
              <a:t> </a:t>
            </a:r>
            <a:r>
              <a:rPr sz="1150" spc="-25" dirty="0">
                <a:solidFill>
                  <a:srgbClr val="232852"/>
                </a:solidFill>
                <a:latin typeface="Palatino Linotype"/>
                <a:cs typeface="Palatino Linotype"/>
              </a:rPr>
              <a:t>20</a:t>
            </a:r>
            <a:endParaRPr sz="115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132" y="6263870"/>
            <a:ext cx="118745" cy="203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spc="-50" dirty="0">
                <a:solidFill>
                  <a:srgbClr val="FFFFFF"/>
                </a:solidFill>
                <a:latin typeface="Verdana"/>
                <a:cs typeface="Verdana"/>
              </a:rPr>
              <a:t>5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79086" y="6285569"/>
            <a:ext cx="168910" cy="174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75"/>
              </a:lnSpc>
            </a:pPr>
            <a:r>
              <a:rPr sz="1150" spc="-25" dirty="0">
                <a:solidFill>
                  <a:srgbClr val="232852"/>
                </a:solidFill>
                <a:latin typeface="Palatino Linotype"/>
                <a:cs typeface="Palatino Linotype"/>
              </a:rPr>
              <a:t>24</a:t>
            </a:r>
            <a:endParaRPr sz="1150">
              <a:latin typeface="Palatino Linotype"/>
              <a:cs typeface="Palatino Linotype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6800" y="1872995"/>
          <a:ext cx="8321040" cy="4618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9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4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4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4060">
                <a:tc>
                  <a:txBody>
                    <a:bodyPr/>
                    <a:lstStyle/>
                    <a:p>
                      <a:pPr marL="144780" marR="100965" indent="-4889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650" spc="-40" dirty="0">
                          <a:latin typeface="Times New Roman"/>
                          <a:cs typeface="Times New Roman"/>
                        </a:rPr>
                        <a:t>Ref. 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998219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16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65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Author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2247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461645" marR="252729" indent="-21971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650" spc="-35" dirty="0">
                          <a:latin typeface="Times New Roman"/>
                          <a:cs typeface="Times New Roman"/>
                        </a:rPr>
                        <a:t>Technique </a:t>
                      </a: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Used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Pros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2247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Cons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2247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5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286385" marR="271780" algn="ctr">
                        <a:lnSpc>
                          <a:spcPct val="99900"/>
                        </a:lnSpc>
                        <a:spcBef>
                          <a:spcPts val="1340"/>
                        </a:spcBef>
                      </a:pPr>
                      <a:r>
                        <a:rPr sz="1300" dirty="0">
                          <a:latin typeface="Palatino Linotype"/>
                          <a:cs typeface="Palatino Linotype"/>
                        </a:rPr>
                        <a:t>Charge</a:t>
                      </a:r>
                      <a:r>
                        <a:rPr sz="1300" spc="1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Pumps</a:t>
                      </a:r>
                      <a:r>
                        <a:rPr sz="1300" spc="4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for</a:t>
                      </a:r>
                      <a:r>
                        <a:rPr sz="1300" spc="-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Ultra-</a:t>
                      </a:r>
                      <a:r>
                        <a:rPr sz="1300" spc="-20" dirty="0">
                          <a:latin typeface="Palatino Linotype"/>
                          <a:cs typeface="Palatino Linotype"/>
                        </a:rPr>
                        <a:t>Low-Power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Applications</a:t>
                      </a:r>
                      <a:r>
                        <a:rPr sz="1300" spc="-3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20" dirty="0">
                          <a:latin typeface="Palatino Linotype"/>
                          <a:cs typeface="Palatino Linotype"/>
                        </a:rPr>
                        <a:t>“Andrea</a:t>
                      </a:r>
                      <a:r>
                        <a:rPr sz="1300" spc="-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Ballo,</a:t>
                      </a:r>
                      <a:r>
                        <a:rPr sz="1300" spc="-4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Student </a:t>
                      </a:r>
                      <a:r>
                        <a:rPr sz="1950" baseline="2136" dirty="0">
                          <a:latin typeface="Palatino Linotype"/>
                          <a:cs typeface="Palatino Linotype"/>
                        </a:rPr>
                        <a:t>Member,</a:t>
                      </a:r>
                      <a:r>
                        <a:rPr sz="1950" spc="-89" baseline="2136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950" baseline="2136" dirty="0">
                          <a:latin typeface="Palatino Linotype"/>
                          <a:cs typeface="Palatino Linotype"/>
                        </a:rPr>
                        <a:t>IEEE</a:t>
                      </a:r>
                      <a:r>
                        <a:rPr sz="1950" spc="-75" baseline="2136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50" spc="-50" dirty="0">
                          <a:latin typeface="Times New Roman"/>
                          <a:cs typeface="Times New Roman"/>
                        </a:rPr>
                        <a:t>”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70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80975" marR="41910" indent="-170815">
                        <a:lnSpc>
                          <a:spcPct val="100800"/>
                        </a:lnSpc>
                      </a:pPr>
                      <a:r>
                        <a:rPr sz="1300" spc="-30" dirty="0">
                          <a:latin typeface="Palatino Linotype"/>
                          <a:cs typeface="Palatino Linotype"/>
                        </a:rPr>
                        <a:t>Voltage-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doubling, optimization</a:t>
                      </a:r>
                      <a:endParaRPr sz="1300">
                        <a:latin typeface="Palatino Linotype"/>
                        <a:cs typeface="Palatino Linotype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26364" marR="160655" indent="112395">
                        <a:lnSpc>
                          <a:spcPts val="18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latin typeface="Palatino Linotype"/>
                          <a:cs typeface="Palatino Linotype"/>
                        </a:rPr>
                        <a:t>Low</a:t>
                      </a:r>
                      <a:r>
                        <a:rPr sz="1300" spc="1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Power </a:t>
                      </a:r>
                      <a:r>
                        <a:rPr sz="1300" spc="-25" dirty="0">
                          <a:latin typeface="Palatino Linotype"/>
                          <a:cs typeface="Palatino Linotype"/>
                        </a:rPr>
                        <a:t>Consumption</a:t>
                      </a:r>
                      <a:r>
                        <a:rPr sz="2475" spc="-37" baseline="-3367" dirty="0">
                          <a:latin typeface="Palatino Linotype"/>
                          <a:cs typeface="Palatino Linotype"/>
                        </a:rPr>
                        <a:t>:</a:t>
                      </a:r>
                      <a:endParaRPr sz="2475" baseline="-3367">
                        <a:latin typeface="Palatino Linotype"/>
                        <a:cs typeface="Palatino Linotype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latin typeface="Palatino Linotype"/>
                          <a:cs typeface="Palatino Linotype"/>
                        </a:rPr>
                        <a:t>Limited</a:t>
                      </a:r>
                      <a:r>
                        <a:rPr sz="1300" spc="-2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Output</a:t>
                      </a:r>
                      <a:r>
                        <a:rPr sz="1300" spc="-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Power</a:t>
                      </a:r>
                      <a:endParaRPr sz="13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65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179705" marR="167640" algn="ctr">
                        <a:lnSpc>
                          <a:spcPct val="100800"/>
                        </a:lnSpc>
                        <a:spcBef>
                          <a:spcPts val="475"/>
                        </a:spcBef>
                      </a:pPr>
                      <a:r>
                        <a:rPr sz="1300" spc="-20" dirty="0">
                          <a:latin typeface="Palatino Linotype"/>
                          <a:cs typeface="Palatino Linotype"/>
                        </a:rPr>
                        <a:t>Long-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lived</a:t>
                      </a:r>
                      <a:r>
                        <a:rPr sz="1300" spc="-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charge</a:t>
                      </a:r>
                      <a:r>
                        <a:rPr sz="1300" spc="-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separation</a:t>
                      </a:r>
                      <a:r>
                        <a:rPr sz="1300" spc="1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following </a:t>
                      </a:r>
                      <a:r>
                        <a:rPr sz="1300" spc="-20" dirty="0">
                          <a:latin typeface="Palatino Linotype"/>
                          <a:cs typeface="Palatino Linotype"/>
                        </a:rPr>
                        <a:t>pump-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wavelength–dependent</a:t>
                      </a:r>
                      <a:r>
                        <a:rPr sz="1300" spc="12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ultrafast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“Shuai Fu</a:t>
                      </a:r>
                      <a:r>
                        <a:rPr sz="1300" spc="-2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,</a:t>
                      </a:r>
                      <a:r>
                        <a:rPr sz="1300" spc="-2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Indy</a:t>
                      </a:r>
                      <a:r>
                        <a:rPr sz="1300" spc="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du</a:t>
                      </a:r>
                      <a:r>
                        <a:rPr sz="1300" spc="-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Fossé”</a:t>
                      </a:r>
                      <a:endParaRPr sz="1300">
                        <a:latin typeface="Palatino Linotype"/>
                        <a:cs typeface="Palatino Linotype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266065" marR="223520" indent="-58419">
                        <a:lnSpc>
                          <a:spcPct val="100800"/>
                        </a:lnSpc>
                        <a:spcBef>
                          <a:spcPts val="475"/>
                        </a:spcBef>
                      </a:pPr>
                      <a:r>
                        <a:rPr sz="1300" spc="-25" dirty="0">
                          <a:latin typeface="Palatino Linotype"/>
                          <a:cs typeface="Palatino Linotype"/>
                        </a:rPr>
                        <a:t>Wavelength-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Dependent Excitation</a:t>
                      </a:r>
                      <a:endParaRPr sz="1300">
                        <a:latin typeface="Palatino Linotype"/>
                        <a:cs typeface="Palatino Linotype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249554" marR="300355" indent="63500" algn="ctr">
                        <a:lnSpc>
                          <a:spcPct val="100800"/>
                        </a:lnSpc>
                        <a:spcBef>
                          <a:spcPts val="475"/>
                        </a:spcBef>
                      </a:pPr>
                      <a:r>
                        <a:rPr sz="1300" spc="-25" dirty="0">
                          <a:latin typeface="Palatino Linotype"/>
                          <a:cs typeface="Palatino Linotype"/>
                        </a:rPr>
                        <a:t>Enhanced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Charge </a:t>
                      </a:r>
                      <a:r>
                        <a:rPr sz="1300" spc="-20" dirty="0">
                          <a:latin typeface="Palatino Linotype"/>
                          <a:cs typeface="Palatino Linotype"/>
                        </a:rPr>
                        <a:t>Separation</a:t>
                      </a:r>
                      <a:endParaRPr sz="1300">
                        <a:latin typeface="Palatino Linotype"/>
                        <a:cs typeface="Palatino Linotype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36830" algn="ctr">
                        <a:lnSpc>
                          <a:spcPct val="100000"/>
                        </a:lnSpc>
                      </a:pPr>
                      <a:r>
                        <a:rPr sz="1300" dirty="0">
                          <a:latin typeface="Palatino Linotype"/>
                          <a:cs typeface="Palatino Linotype"/>
                        </a:rPr>
                        <a:t>Material</a:t>
                      </a:r>
                      <a:r>
                        <a:rPr sz="1300" spc="1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Dependence</a:t>
                      </a:r>
                      <a:endParaRPr sz="1300">
                        <a:latin typeface="Palatino Linotype"/>
                        <a:cs typeface="Palatino Linotype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87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65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61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436880" marR="24765" indent="-431800">
                        <a:lnSpc>
                          <a:spcPct val="100800"/>
                        </a:lnSpc>
                        <a:spcBef>
                          <a:spcPts val="690"/>
                        </a:spcBef>
                      </a:pPr>
                      <a:r>
                        <a:rPr sz="1300" dirty="0">
                          <a:latin typeface="Palatino Linotype"/>
                          <a:cs typeface="Palatino Linotype"/>
                        </a:rPr>
                        <a:t>Exploring</a:t>
                      </a:r>
                      <a:r>
                        <a:rPr sz="1300" spc="1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4D</a:t>
                      </a:r>
                      <a:r>
                        <a:rPr sz="1300" spc="-3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Quantum</a:t>
                      </a:r>
                      <a:r>
                        <a:rPr sz="1300" spc="3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Hall</a:t>
                      </a:r>
                      <a:r>
                        <a:rPr sz="1300" spc="-2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Physics</a:t>
                      </a:r>
                      <a:r>
                        <a:rPr sz="1300" spc="-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with</a:t>
                      </a:r>
                      <a:r>
                        <a:rPr sz="1300" spc="1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50" dirty="0">
                          <a:latin typeface="Palatino Linotype"/>
                          <a:cs typeface="Palatino Linotype"/>
                        </a:rPr>
                        <a:t>a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2D</a:t>
                      </a:r>
                      <a:r>
                        <a:rPr sz="1300" spc="-4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Topological</a:t>
                      </a:r>
                      <a:r>
                        <a:rPr sz="1300" spc="-1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Charge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 Pump””</a:t>
                      </a:r>
                      <a:endParaRPr sz="1300">
                        <a:latin typeface="Palatino Linotype"/>
                        <a:cs typeface="Palatino Linotype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ts val="1450"/>
                        </a:lnSpc>
                      </a:pPr>
                      <a:r>
                        <a:rPr sz="1300" dirty="0">
                          <a:latin typeface="Palatino Linotype"/>
                          <a:cs typeface="Palatino Linotype"/>
                        </a:rPr>
                        <a:t>Quantum</a:t>
                      </a:r>
                      <a:r>
                        <a:rPr sz="1300" spc="1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20" dirty="0">
                          <a:latin typeface="Palatino Linotype"/>
                          <a:cs typeface="Palatino Linotype"/>
                        </a:rPr>
                        <a:t>Hall</a:t>
                      </a:r>
                      <a:endParaRPr sz="1300">
                        <a:latin typeface="Palatino Linotype"/>
                        <a:cs typeface="Palatino Linotype"/>
                      </a:endParaRPr>
                    </a:p>
                    <a:p>
                      <a:pPr marL="255904" marR="118110" indent="-127000">
                        <a:lnSpc>
                          <a:spcPct val="100800"/>
                        </a:lnSpc>
                      </a:pPr>
                      <a:r>
                        <a:rPr sz="1300" dirty="0">
                          <a:latin typeface="Palatino Linotype"/>
                          <a:cs typeface="Palatino Linotype"/>
                        </a:rPr>
                        <a:t>Effect</a:t>
                      </a:r>
                      <a:r>
                        <a:rPr sz="1300" spc="-2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in</a:t>
                      </a:r>
                      <a:r>
                        <a:rPr sz="1300" spc="-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30" dirty="0">
                          <a:latin typeface="Palatino Linotype"/>
                          <a:cs typeface="Palatino Linotype"/>
                        </a:rPr>
                        <a:t>Lower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Dimensions</a:t>
                      </a:r>
                      <a:endParaRPr sz="13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240665" marR="252729" indent="-9525">
                        <a:lnSpc>
                          <a:spcPct val="100800"/>
                        </a:lnSpc>
                        <a:spcBef>
                          <a:spcPts val="690"/>
                        </a:spcBef>
                      </a:pPr>
                      <a:r>
                        <a:rPr sz="1300" spc="-25" dirty="0">
                          <a:latin typeface="Palatino Linotype"/>
                          <a:cs typeface="Palatino Linotype"/>
                        </a:rPr>
                        <a:t>Topological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Protection</a:t>
                      </a:r>
                      <a:endParaRPr sz="1300">
                        <a:latin typeface="Palatino Linotype"/>
                        <a:cs typeface="Palatino Linotype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431165" marR="349885" indent="-92075">
                        <a:lnSpc>
                          <a:spcPct val="100800"/>
                        </a:lnSpc>
                        <a:spcBef>
                          <a:spcPts val="690"/>
                        </a:spcBef>
                      </a:pPr>
                      <a:r>
                        <a:rPr sz="1300" dirty="0">
                          <a:latin typeface="Palatino Linotype"/>
                          <a:cs typeface="Palatino Linotype"/>
                        </a:rPr>
                        <a:t>Complexity</a:t>
                      </a:r>
                      <a:r>
                        <a:rPr sz="1300" spc="-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25" dirty="0">
                          <a:latin typeface="Palatino Linotype"/>
                          <a:cs typeface="Palatino Linotype"/>
                        </a:rPr>
                        <a:t>in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Realization</a:t>
                      </a:r>
                      <a:endParaRPr sz="1300">
                        <a:latin typeface="Palatino Linotype"/>
                        <a:cs typeface="Palatino Linotype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65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52705" indent="-635" algn="ctr">
                        <a:lnSpc>
                          <a:spcPct val="102200"/>
                        </a:lnSpc>
                        <a:spcBef>
                          <a:spcPts val="740"/>
                        </a:spcBef>
                      </a:pPr>
                      <a:r>
                        <a:rPr sz="1300" dirty="0">
                          <a:latin typeface="Palatino Linotype"/>
                          <a:cs typeface="Palatino Linotype"/>
                        </a:rPr>
                        <a:t>Regulated</a:t>
                      </a:r>
                      <a:r>
                        <a:rPr sz="1300" spc="-2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Charge</a:t>
                      </a:r>
                      <a:r>
                        <a:rPr sz="1300" spc="2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Pumps:</a:t>
                      </a:r>
                      <a:r>
                        <a:rPr sz="1300" spc="-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1300" spc="-8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Comparative </a:t>
                      </a:r>
                      <a:r>
                        <a:rPr sz="1950" baseline="2136" dirty="0">
                          <a:latin typeface="Palatino Linotype"/>
                          <a:cs typeface="Palatino Linotype"/>
                        </a:rPr>
                        <a:t>Study</a:t>
                      </a:r>
                      <a:r>
                        <a:rPr sz="1950" spc="22" baseline="2136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950" baseline="2136" dirty="0">
                          <a:latin typeface="Palatino Linotype"/>
                          <a:cs typeface="Palatino Linotype"/>
                        </a:rPr>
                        <a:t>by</a:t>
                      </a:r>
                      <a:r>
                        <a:rPr sz="1950" spc="52" baseline="2136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950" baseline="2136" dirty="0">
                          <a:latin typeface="Palatino Linotype"/>
                          <a:cs typeface="Palatino Linotype"/>
                        </a:rPr>
                        <a:t>Means</a:t>
                      </a:r>
                      <a:r>
                        <a:rPr sz="1950" spc="-22" baseline="2136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950" baseline="2136" dirty="0">
                          <a:latin typeface="Palatino Linotype"/>
                          <a:cs typeface="Palatino Linotype"/>
                        </a:rPr>
                        <a:t>of</a:t>
                      </a:r>
                      <a:r>
                        <a:rPr sz="1950" spc="37" baseline="2136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950" spc="-44" baseline="2136" dirty="0">
                          <a:latin typeface="Palatino Linotype"/>
                          <a:cs typeface="Palatino Linotype"/>
                        </a:rPr>
                        <a:t>Verilog-</a:t>
                      </a:r>
                      <a:r>
                        <a:rPr sz="1950" baseline="2136" dirty="0">
                          <a:latin typeface="Palatino Linotype"/>
                          <a:cs typeface="Palatino Linotype"/>
                        </a:rPr>
                        <a:t>AMS”</a:t>
                      </a:r>
                      <a:r>
                        <a:rPr sz="1950" spc="30" baseline="2136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50" spc="-10" dirty="0">
                          <a:latin typeface="Palatino Linotype"/>
                          <a:cs typeface="Palatino Linotype"/>
                        </a:rPr>
                        <a:t>Andrea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Ballo</a:t>
                      </a:r>
                      <a:r>
                        <a:rPr sz="1300" spc="-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,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Michele</a:t>
                      </a:r>
                      <a:r>
                        <a:rPr sz="1300" spc="-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Bottaro”</a:t>
                      </a:r>
                      <a:endParaRPr sz="1300">
                        <a:latin typeface="Palatino Linotype"/>
                        <a:cs typeface="Palatino Linotype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48260" marR="144780" indent="114300">
                        <a:lnSpc>
                          <a:spcPct val="102299"/>
                        </a:lnSpc>
                      </a:pPr>
                      <a:r>
                        <a:rPr sz="1300" dirty="0">
                          <a:latin typeface="Palatino Linotype"/>
                          <a:cs typeface="Palatino Linotype"/>
                        </a:rPr>
                        <a:t>Charge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20" dirty="0">
                          <a:latin typeface="Palatino Linotype"/>
                          <a:cs typeface="Palatino Linotype"/>
                        </a:rPr>
                        <a:t>Pump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Design </a:t>
                      </a:r>
                      <a:r>
                        <a:rPr sz="1300" spc="-20" dirty="0">
                          <a:latin typeface="Palatino Linotype"/>
                          <a:cs typeface="Palatino Linotype"/>
                        </a:rPr>
                        <a:t>Variants</a:t>
                      </a:r>
                      <a:endParaRPr sz="1300">
                        <a:latin typeface="Palatino Linotype"/>
                        <a:cs typeface="Palatino Linotype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71145" marR="287655" indent="-13970">
                        <a:lnSpc>
                          <a:spcPct val="102299"/>
                        </a:lnSpc>
                      </a:pPr>
                      <a:r>
                        <a:rPr sz="1300" spc="-25" dirty="0">
                          <a:latin typeface="Palatino Linotype"/>
                          <a:cs typeface="Palatino Linotype"/>
                        </a:rPr>
                        <a:t>Simulation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Flexibility</a:t>
                      </a:r>
                      <a:endParaRPr sz="1300">
                        <a:latin typeface="Palatino Linotype"/>
                        <a:cs typeface="Palatino Linotype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R="3175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latin typeface="Palatino Linotype"/>
                          <a:cs typeface="Palatino Linotype"/>
                        </a:rPr>
                        <a:t>Modeling</a:t>
                      </a:r>
                      <a:r>
                        <a:rPr sz="1300" spc="-2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Limitations</a:t>
                      </a:r>
                      <a:endParaRPr sz="1300">
                        <a:latin typeface="Palatino Linotype"/>
                        <a:cs typeface="Palatino Linotype"/>
                      </a:endParaRPr>
                    </a:p>
                  </a:txBody>
                  <a:tcPr marL="0" marR="0" marT="139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165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73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ts val="1495"/>
                        </a:lnSpc>
                      </a:pPr>
                      <a:r>
                        <a:rPr sz="1300" dirty="0">
                          <a:latin typeface="Palatino Linotype"/>
                          <a:cs typeface="Palatino Linotype"/>
                        </a:rPr>
                        <a:t>MOS Charge Pumps</a:t>
                      </a:r>
                      <a:r>
                        <a:rPr sz="1300" spc="3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for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20" dirty="0">
                          <a:latin typeface="Palatino Linotype"/>
                          <a:cs typeface="Palatino Linotype"/>
                        </a:rPr>
                        <a:t>Low-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Voltage</a:t>
                      </a:r>
                      <a:endParaRPr sz="1300">
                        <a:latin typeface="Palatino Linotype"/>
                        <a:cs typeface="Palatino Linotype"/>
                      </a:endParaRPr>
                    </a:p>
                    <a:p>
                      <a:pPr marL="1394460" marR="249554" indent="-1170940">
                        <a:lnSpc>
                          <a:spcPts val="1700"/>
                        </a:lnSpc>
                      </a:pPr>
                      <a:r>
                        <a:rPr sz="1300" dirty="0">
                          <a:latin typeface="Palatino Linotype"/>
                          <a:cs typeface="Palatino Linotype"/>
                        </a:rPr>
                        <a:t>Operation”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Jieh-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Tsorng</a:t>
                      </a:r>
                      <a:r>
                        <a:rPr sz="1300" spc="-4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Wu,</a:t>
                      </a:r>
                      <a:r>
                        <a:rPr sz="1300" spc="-6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Member, </a:t>
                      </a:r>
                      <a:r>
                        <a:rPr sz="1300" spc="-20" dirty="0">
                          <a:latin typeface="Palatino Linotype"/>
                          <a:cs typeface="Palatino Linotype"/>
                        </a:rPr>
                        <a:t>IEEE”</a:t>
                      </a:r>
                      <a:endParaRPr sz="13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189865" marR="53340" indent="-165100">
                        <a:lnSpc>
                          <a:spcPct val="102299"/>
                        </a:lnSpc>
                        <a:spcBef>
                          <a:spcPts val="750"/>
                        </a:spcBef>
                      </a:pP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Voltage</a:t>
                      </a:r>
                      <a:r>
                        <a:rPr sz="1300" spc="-4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20" dirty="0">
                          <a:latin typeface="Palatino Linotype"/>
                          <a:cs typeface="Palatino Linotype"/>
                        </a:rPr>
                        <a:t>Doubling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and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 Boosting</a:t>
                      </a:r>
                      <a:endParaRPr sz="1300">
                        <a:latin typeface="Palatino Linotype"/>
                        <a:cs typeface="Palatino Linotype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130810" marR="98425" indent="-48895">
                        <a:lnSpc>
                          <a:spcPct val="102299"/>
                        </a:lnSpc>
                        <a:spcBef>
                          <a:spcPts val="750"/>
                        </a:spcBef>
                      </a:pPr>
                      <a:r>
                        <a:rPr sz="1300" dirty="0">
                          <a:latin typeface="Palatino Linotype"/>
                          <a:cs typeface="Palatino Linotype"/>
                        </a:rPr>
                        <a:t>Reduced</a:t>
                      </a:r>
                      <a:r>
                        <a:rPr sz="1300" spc="-1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30" dirty="0">
                          <a:latin typeface="Palatino Linotype"/>
                          <a:cs typeface="Palatino Linotype"/>
                        </a:rPr>
                        <a:t>Power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Consumption</a:t>
                      </a:r>
                      <a:endParaRPr sz="1300">
                        <a:latin typeface="Palatino Linotype"/>
                        <a:cs typeface="Palatino Linotype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dirty="0">
                          <a:latin typeface="Palatino Linotype"/>
                          <a:cs typeface="Palatino Linotype"/>
                        </a:rPr>
                        <a:t>Limited</a:t>
                      </a:r>
                      <a:r>
                        <a:rPr sz="1300" spc="-2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dirty="0">
                          <a:latin typeface="Palatino Linotype"/>
                          <a:cs typeface="Palatino Linotype"/>
                        </a:rPr>
                        <a:t>Output</a:t>
                      </a:r>
                      <a:r>
                        <a:rPr sz="1300" spc="-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300" spc="-10" dirty="0">
                          <a:latin typeface="Palatino Linotype"/>
                          <a:cs typeface="Palatino Linotype"/>
                        </a:rPr>
                        <a:t>Power</a:t>
                      </a:r>
                      <a:endParaRPr sz="1300">
                        <a:latin typeface="Palatino Linotype"/>
                        <a:cs typeface="Palatino Linotype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07075" y="1361900"/>
            <a:ext cx="206819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/>
              <a:t>Literature</a:t>
            </a:r>
            <a:r>
              <a:rPr sz="2300" spc="-75" dirty="0"/>
              <a:t> </a:t>
            </a:r>
            <a:r>
              <a:rPr sz="2300" spc="-10" dirty="0"/>
              <a:t>Survey</a:t>
            </a:r>
            <a:endParaRPr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16053" y="6231207"/>
            <a:ext cx="1584960" cy="149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75"/>
              </a:lnSpc>
            </a:pPr>
            <a:r>
              <a:rPr sz="1150" spc="-20" dirty="0">
                <a:solidFill>
                  <a:srgbClr val="232852"/>
                </a:solidFill>
                <a:latin typeface="Palatino Linotype"/>
                <a:cs typeface="Palatino Linotype"/>
              </a:rPr>
              <a:t>Monday, </a:t>
            </a:r>
            <a:r>
              <a:rPr sz="1150" dirty="0">
                <a:solidFill>
                  <a:srgbClr val="232852"/>
                </a:solidFill>
                <a:latin typeface="Palatino Linotype"/>
                <a:cs typeface="Palatino Linotype"/>
              </a:rPr>
              <a:t>December</a:t>
            </a:r>
            <a:r>
              <a:rPr sz="1150" spc="-30" dirty="0">
                <a:solidFill>
                  <a:srgbClr val="232852"/>
                </a:solidFill>
                <a:latin typeface="Palatino Linotype"/>
                <a:cs typeface="Palatino Linotype"/>
              </a:rPr>
              <a:t> </a:t>
            </a:r>
            <a:r>
              <a:rPr sz="1150" dirty="0">
                <a:solidFill>
                  <a:srgbClr val="232852"/>
                </a:solidFill>
                <a:latin typeface="Palatino Linotype"/>
                <a:cs typeface="Palatino Linotype"/>
              </a:rPr>
              <a:t>23,</a:t>
            </a:r>
            <a:r>
              <a:rPr sz="1150" spc="-30" dirty="0">
                <a:solidFill>
                  <a:srgbClr val="232852"/>
                </a:solidFill>
                <a:latin typeface="Palatino Linotype"/>
                <a:cs typeface="Palatino Linotype"/>
              </a:rPr>
              <a:t> </a:t>
            </a:r>
            <a:r>
              <a:rPr sz="1150" spc="-50" dirty="0">
                <a:solidFill>
                  <a:srgbClr val="232852"/>
                </a:solidFill>
                <a:latin typeface="Palatino Linotype"/>
                <a:cs typeface="Palatino Linotype"/>
              </a:rPr>
              <a:t>2</a:t>
            </a:r>
            <a:endParaRPr sz="115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7984" y="6263870"/>
            <a:ext cx="201930" cy="203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150" spc="-25" dirty="0">
                <a:solidFill>
                  <a:srgbClr val="FFFFFF"/>
                </a:solidFill>
                <a:latin typeface="Verdana"/>
                <a:cs typeface="Verdana"/>
              </a:rPr>
              <a:t>6</a:t>
            </a:fld>
            <a:endParaRPr sz="115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97392" y="6174733"/>
            <a:ext cx="23939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25" dirty="0">
                <a:solidFill>
                  <a:srgbClr val="232852"/>
                </a:solidFill>
                <a:latin typeface="Palatino Linotype"/>
                <a:cs typeface="Palatino Linotype"/>
              </a:rPr>
              <a:t>024</a:t>
            </a:r>
            <a:endParaRPr sz="1150">
              <a:latin typeface="Palatino Linotype"/>
              <a:cs typeface="Palatino Linotype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29283" y="1987295"/>
          <a:ext cx="8266430" cy="4337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5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8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41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142875" marR="98425" indent="-4889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Ref. 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16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65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Author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61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458470" marR="243840" indent="-218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50" spc="-35" dirty="0">
                          <a:latin typeface="Times New Roman"/>
                          <a:cs typeface="Times New Roman"/>
                        </a:rPr>
                        <a:t>Technique </a:t>
                      </a: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Used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Pros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61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Cons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61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5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32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Aamna</a:t>
                      </a:r>
                      <a:r>
                        <a:rPr sz="16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anil</a:t>
                      </a:r>
                      <a:r>
                        <a:rPr sz="16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5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ravi</a:t>
                      </a:r>
                      <a:r>
                        <a:rPr sz="16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kumar</a:t>
                      </a:r>
                      <a:r>
                        <a:rPr sz="16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sharma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88265" marR="127635" indent="54610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Switched- Capacitor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Charge</a:t>
                      </a:r>
                      <a:r>
                        <a:rPr sz="165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Pump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22860" algn="just">
                        <a:lnSpc>
                          <a:spcPts val="1830"/>
                        </a:lnSpc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6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efficiency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278765" marR="259715" indent="59055" algn="just">
                        <a:lnSpc>
                          <a:spcPct val="100899"/>
                        </a:lnSpc>
                        <a:spcBef>
                          <a:spcPts val="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low </a:t>
                      </a: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voltage 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operation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621665" marR="260985" indent="-3721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Higher</a:t>
                      </a:r>
                      <a:r>
                        <a:rPr sz="165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Design </a:t>
                      </a: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Time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65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R="40005" algn="ctr">
                        <a:lnSpc>
                          <a:spcPct val="100000"/>
                        </a:lnSpc>
                      </a:pP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Woogeun</a:t>
                      </a:r>
                      <a:r>
                        <a:rPr sz="16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Rhee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820"/>
                        </a:lnSpc>
                      </a:pP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Current-</a:t>
                      </a: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Mode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77470" marR="59690">
                        <a:lnSpc>
                          <a:spcPct val="100600"/>
                        </a:lnSpc>
                        <a:spcBef>
                          <a:spcPts val="10"/>
                        </a:spcBef>
                        <a:tabLst>
                          <a:tab pos="701675" algn="l"/>
                        </a:tabLst>
                      </a:pP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Logic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(CML)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Charge</a:t>
                      </a:r>
                      <a:r>
                        <a:rPr sz="165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Pump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211454" marR="198120" indent="-26034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6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speed </a:t>
                      </a: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operation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13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339725" marR="331470" indent="29845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Potential</a:t>
                      </a:r>
                      <a:r>
                        <a:rPr sz="16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Oscillations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13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65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48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Dr.</a:t>
                      </a:r>
                      <a:r>
                        <a:rPr sz="16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B.</a:t>
                      </a:r>
                      <a:r>
                        <a:rPr sz="16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40" dirty="0">
                          <a:latin typeface="Times New Roman"/>
                          <a:cs typeface="Times New Roman"/>
                        </a:rPr>
                        <a:t>Venkata</a:t>
                      </a:r>
                      <a:r>
                        <a:rPr sz="165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Prasantha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48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Microcontroller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</a:pP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65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Control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340995" marR="259715" indent="-889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Improved </a:t>
                      </a: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Safety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6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Range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48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2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65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R="40005" algn="ctr">
                        <a:lnSpc>
                          <a:spcPct val="100000"/>
                        </a:lnSpc>
                      </a:pP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Woogeun</a:t>
                      </a:r>
                      <a:r>
                        <a:rPr sz="16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Rhee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29845" marR="19685" algn="ctr">
                        <a:lnSpc>
                          <a:spcPts val="1550"/>
                        </a:lnSpc>
                        <a:spcBef>
                          <a:spcPts val="2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Switched-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Capacitor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Charge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Pump</a:t>
                      </a:r>
                      <a:r>
                        <a:rPr sz="13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Zero-Voltage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ts val="1950"/>
                        </a:lnSpc>
                      </a:pPr>
                      <a:r>
                        <a:rPr sz="1950" baseline="2136" dirty="0">
                          <a:latin typeface="Times New Roman"/>
                          <a:cs typeface="Times New Roman"/>
                        </a:rPr>
                        <a:t>Switching</a:t>
                      </a:r>
                      <a:r>
                        <a:rPr sz="1950" spc="-15" baseline="2136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spc="-30" baseline="2136" dirty="0">
                          <a:latin typeface="Times New Roman"/>
                          <a:cs typeface="Times New Roman"/>
                        </a:rPr>
                        <a:t>(ZVS</a:t>
                      </a: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175260" marR="238125" indent="28003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Easy 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Integration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61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R="34290" algn="ctr">
                        <a:lnSpc>
                          <a:spcPct val="100000"/>
                        </a:lnSpc>
                      </a:pP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65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Flexibility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130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R="26670" algn="ctr">
                        <a:lnSpc>
                          <a:spcPts val="1830"/>
                        </a:lnSpc>
                      </a:pP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165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Andrea</a:t>
                      </a:r>
                      <a:r>
                        <a:rPr sz="165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Ballo,</a:t>
                      </a:r>
                      <a:r>
                        <a:rPr sz="165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Alfio</a:t>
                      </a:r>
                      <a:r>
                        <a:rPr sz="16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Dario</a:t>
                      </a:r>
                      <a:r>
                        <a:rPr sz="165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Grasso,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R="6794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Gaetano</a:t>
                      </a:r>
                      <a:r>
                        <a:rPr sz="16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Palumbo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ts val="1830"/>
                        </a:lnSpc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Hybrid</a:t>
                      </a:r>
                      <a:r>
                        <a:rPr sz="16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Charge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R="317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Pump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830"/>
                        </a:lnSpc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Reduced</a:t>
                      </a:r>
                      <a:r>
                        <a:rPr sz="165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Heat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16891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Generation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R="31750" algn="ct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Complexity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130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96944" y="1361900"/>
            <a:ext cx="206819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/>
              <a:t>Literature</a:t>
            </a:r>
            <a:r>
              <a:rPr sz="2300" spc="-75" dirty="0"/>
              <a:t> </a:t>
            </a:r>
            <a:r>
              <a:rPr sz="2300" spc="-10" dirty="0"/>
              <a:t>Survey</a:t>
            </a:r>
            <a:endParaRPr sz="2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9363" y="2724427"/>
            <a:ext cx="13271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25" dirty="0">
                <a:solidFill>
                  <a:srgbClr val="4966AC"/>
                </a:solidFill>
                <a:latin typeface="Times New Roman"/>
                <a:cs typeface="Times New Roman"/>
              </a:rPr>
              <a:t>1.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363" y="3300499"/>
            <a:ext cx="13271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25" dirty="0">
                <a:solidFill>
                  <a:srgbClr val="4966AC"/>
                </a:solidFill>
                <a:latin typeface="Times New Roman"/>
                <a:cs typeface="Times New Roman"/>
              </a:rPr>
              <a:t>2.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363" y="2199267"/>
            <a:ext cx="8282940" cy="3489673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R="6166485" algn="r">
              <a:lnSpc>
                <a:spcPct val="100000"/>
              </a:lnSpc>
              <a:spcBef>
                <a:spcPts val="290"/>
              </a:spcBef>
              <a:tabLst>
                <a:tab pos="283210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1.Increasing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Efficiency:</a:t>
            </a:r>
            <a:endParaRPr sz="1400" dirty="0">
              <a:latin typeface="Times New Roman"/>
              <a:cs typeface="Times New Roman"/>
            </a:endParaRPr>
          </a:p>
          <a:p>
            <a:pPr marR="6164580" algn="r">
              <a:lnSpc>
                <a:spcPct val="100000"/>
              </a:lnSpc>
              <a:spcBef>
                <a:spcPts val="190"/>
              </a:spcBef>
            </a:pPr>
            <a:r>
              <a:rPr sz="1400" dirty="0">
                <a:latin typeface="Times New Roman"/>
                <a:cs typeface="Times New Roman"/>
              </a:rPr>
              <a:t>*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Reduced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Power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Loss</a:t>
            </a:r>
            <a:r>
              <a:rPr lang="en-IN" sz="1400" spc="-10" dirty="0">
                <a:latin typeface="Times New Roman"/>
                <a:cs typeface="Times New Roman"/>
              </a:rPr>
              <a:t>:</a:t>
            </a:r>
            <a:endParaRPr lang="en-IN" sz="1400" dirty="0">
              <a:latin typeface="Times New Roman"/>
              <a:cs typeface="Times New Roman"/>
            </a:endParaRPr>
          </a:p>
          <a:p>
            <a:pPr marL="295910" marR="108585" indent="356235">
              <a:lnSpc>
                <a:spcPct val="77100"/>
              </a:lnSpc>
              <a:spcBef>
                <a:spcPts val="520"/>
              </a:spcBef>
            </a:pPr>
            <a:r>
              <a:rPr lang="en-IN" sz="1400" spc="-10" dirty="0">
                <a:latin typeface="Times New Roman"/>
                <a:cs typeface="Times New Roman"/>
              </a:rPr>
              <a:t>charge</a:t>
            </a:r>
            <a:r>
              <a:rPr lang="en-IN" sz="1400" spc="-75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pumps,</a:t>
            </a:r>
            <a:r>
              <a:rPr lang="en-IN" sz="1400" spc="-30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when</a:t>
            </a:r>
            <a:r>
              <a:rPr lang="en-IN" sz="1400" spc="-15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optimized,</a:t>
            </a:r>
            <a:r>
              <a:rPr lang="en-IN" sz="1400" spc="-70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can</a:t>
            </a:r>
            <a:r>
              <a:rPr lang="en-IN" sz="1400" spc="-15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achieve</a:t>
            </a:r>
            <a:r>
              <a:rPr lang="en-IN" sz="1400" spc="-50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higher</a:t>
            </a:r>
            <a:r>
              <a:rPr lang="en-IN" sz="1400" spc="-70" dirty="0">
                <a:latin typeface="Times New Roman"/>
                <a:cs typeface="Times New Roman"/>
              </a:rPr>
              <a:t> </a:t>
            </a:r>
            <a:r>
              <a:rPr lang="en-IN" sz="1400" spc="-20" dirty="0">
                <a:latin typeface="Times New Roman"/>
                <a:cs typeface="Times New Roman"/>
              </a:rPr>
              <a:t>efficiency</a:t>
            </a:r>
            <a:r>
              <a:rPr lang="en-IN" sz="1400" spc="-85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compared</a:t>
            </a:r>
            <a:r>
              <a:rPr lang="en-IN" sz="1400" spc="-15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to</a:t>
            </a:r>
            <a:r>
              <a:rPr lang="en-IN" sz="1400" spc="-45" dirty="0">
                <a:latin typeface="Times New Roman"/>
                <a:cs typeface="Times New Roman"/>
              </a:rPr>
              <a:t> </a:t>
            </a:r>
            <a:r>
              <a:rPr lang="en-IN" sz="1400" spc="-10" dirty="0">
                <a:latin typeface="Times New Roman"/>
                <a:cs typeface="Times New Roman"/>
              </a:rPr>
              <a:t>traditional </a:t>
            </a:r>
            <a:r>
              <a:rPr lang="en-IN" sz="1400" spc="-20" dirty="0">
                <a:latin typeface="Times New Roman"/>
                <a:cs typeface="Times New Roman"/>
              </a:rPr>
              <a:t>capacitor-</a:t>
            </a:r>
            <a:r>
              <a:rPr lang="en-IN" sz="1400" spc="-10" dirty="0">
                <a:latin typeface="Times New Roman"/>
                <a:cs typeface="Times New Roman"/>
              </a:rPr>
              <a:t>based</a:t>
            </a:r>
            <a:r>
              <a:rPr lang="en-IN" sz="1400" spc="-70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Dickson</a:t>
            </a:r>
            <a:r>
              <a:rPr lang="en-IN" sz="1400" spc="-45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charge</a:t>
            </a:r>
            <a:r>
              <a:rPr lang="en-IN" sz="1400" spc="-50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pumps,</a:t>
            </a:r>
            <a:r>
              <a:rPr lang="en-IN" sz="1400" spc="-10" dirty="0">
                <a:latin typeface="Times New Roman"/>
                <a:cs typeface="Times New Roman"/>
              </a:rPr>
              <a:t> especially</a:t>
            </a:r>
            <a:r>
              <a:rPr lang="en-IN" sz="1400" spc="-70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at</a:t>
            </a:r>
            <a:r>
              <a:rPr lang="en-IN" sz="1400" spc="10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higher</a:t>
            </a:r>
            <a:r>
              <a:rPr lang="en-IN" sz="1400" spc="-90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output</a:t>
            </a:r>
            <a:r>
              <a:rPr lang="en-IN" sz="1400" spc="-70" dirty="0">
                <a:latin typeface="Times New Roman"/>
                <a:cs typeface="Times New Roman"/>
              </a:rPr>
              <a:t> </a:t>
            </a:r>
            <a:r>
              <a:rPr lang="en-IN" sz="1400" spc="-10" dirty="0">
                <a:latin typeface="Times New Roman"/>
                <a:cs typeface="Times New Roman"/>
              </a:rPr>
              <a:t>currents.</a:t>
            </a:r>
            <a:r>
              <a:rPr lang="en-IN" sz="1400" spc="-85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This</a:t>
            </a:r>
            <a:r>
              <a:rPr lang="en-IN" sz="1400" spc="-10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is</a:t>
            </a:r>
            <a:r>
              <a:rPr lang="en-IN" sz="1400" spc="5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because</a:t>
            </a:r>
            <a:r>
              <a:rPr lang="en-IN" sz="1400" spc="-30" dirty="0">
                <a:latin typeface="Times New Roman"/>
                <a:cs typeface="Times New Roman"/>
              </a:rPr>
              <a:t> </a:t>
            </a:r>
            <a:r>
              <a:rPr lang="en-IN" sz="1400" spc="-10" dirty="0">
                <a:latin typeface="Times New Roman"/>
                <a:cs typeface="Times New Roman"/>
              </a:rPr>
              <a:t>inductors</a:t>
            </a:r>
            <a:r>
              <a:rPr lang="en-IN" sz="1400" spc="-70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can</a:t>
            </a:r>
            <a:r>
              <a:rPr lang="en-IN" sz="1400" spc="5" dirty="0">
                <a:latin typeface="Times New Roman"/>
                <a:cs typeface="Times New Roman"/>
              </a:rPr>
              <a:t> </a:t>
            </a:r>
            <a:r>
              <a:rPr lang="en-IN" sz="1400" spc="-10" dirty="0">
                <a:latin typeface="Times New Roman"/>
                <a:cs typeface="Times New Roman"/>
              </a:rPr>
              <a:t>store </a:t>
            </a:r>
            <a:r>
              <a:rPr lang="en-IN" sz="1400" dirty="0">
                <a:latin typeface="Times New Roman"/>
                <a:cs typeface="Times New Roman"/>
              </a:rPr>
              <a:t>and</a:t>
            </a:r>
            <a:r>
              <a:rPr lang="en-IN" sz="1400" spc="-45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transfer</a:t>
            </a:r>
            <a:r>
              <a:rPr lang="en-IN" sz="1400" spc="-60" dirty="0">
                <a:latin typeface="Times New Roman"/>
                <a:cs typeface="Times New Roman"/>
              </a:rPr>
              <a:t> </a:t>
            </a:r>
            <a:r>
              <a:rPr lang="en-IN" sz="1400" spc="-10" dirty="0">
                <a:latin typeface="Times New Roman"/>
                <a:cs typeface="Times New Roman"/>
              </a:rPr>
              <a:t>energy</a:t>
            </a:r>
            <a:r>
              <a:rPr lang="en-IN" sz="1400" spc="-70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more </a:t>
            </a:r>
            <a:r>
              <a:rPr lang="en-IN" sz="1400" spc="-20" dirty="0">
                <a:latin typeface="Times New Roman"/>
                <a:cs typeface="Times New Roman"/>
              </a:rPr>
              <a:t>efficiently,</a:t>
            </a:r>
            <a:r>
              <a:rPr lang="en-IN" sz="1400" spc="-70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minimizing</a:t>
            </a:r>
            <a:r>
              <a:rPr lang="en-IN" sz="1400" spc="-15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resistive</a:t>
            </a:r>
            <a:r>
              <a:rPr lang="en-IN" sz="1400" spc="-45" dirty="0">
                <a:latin typeface="Times New Roman"/>
                <a:cs typeface="Times New Roman"/>
              </a:rPr>
              <a:t> </a:t>
            </a:r>
            <a:r>
              <a:rPr lang="en-IN" sz="1400" spc="-10" dirty="0">
                <a:latin typeface="Times New Roman"/>
                <a:cs typeface="Times New Roman"/>
              </a:rPr>
              <a:t>losses</a:t>
            </a:r>
          </a:p>
          <a:p>
            <a:pPr marL="295910" marR="108585" indent="356235">
              <a:lnSpc>
                <a:spcPct val="77100"/>
              </a:lnSpc>
              <a:spcBef>
                <a:spcPts val="520"/>
              </a:spcBef>
            </a:pPr>
            <a:r>
              <a:rPr sz="1400" dirty="0">
                <a:latin typeface="Times New Roman"/>
                <a:cs typeface="Times New Roman"/>
              </a:rPr>
              <a:t>Optimization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aims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maximize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voltage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conversion</a:t>
            </a:r>
            <a:r>
              <a:rPr sz="1400" spc="-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ratio,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ensuring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desired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output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voltage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is </a:t>
            </a:r>
            <a:r>
              <a:rPr sz="1400" spc="-10" dirty="0">
                <a:latin typeface="Times New Roman"/>
                <a:cs typeface="Times New Roman"/>
              </a:rPr>
              <a:t>achieved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minimal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input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power.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10" dirty="0">
                <a:latin typeface="Times New Roman"/>
                <a:cs typeface="Times New Roman"/>
              </a:rPr>
              <a:t> crucial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applications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where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input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voltage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low,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10" dirty="0">
                <a:latin typeface="Times New Roman"/>
                <a:cs typeface="Times New Roman"/>
              </a:rPr>
              <a:t>higher </a:t>
            </a:r>
            <a:r>
              <a:rPr sz="1400" dirty="0">
                <a:latin typeface="Times New Roman"/>
                <a:cs typeface="Times New Roman"/>
              </a:rPr>
              <a:t>output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voltage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10" dirty="0">
                <a:latin typeface="Times New Roman"/>
                <a:cs typeface="Times New Roman"/>
              </a:rPr>
              <a:t> required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  <a:buClr>
                <a:srgbClr val="4966AC"/>
              </a:buClr>
              <a:buSzPct val="82142"/>
              <a:tabLst>
                <a:tab pos="295910" algn="l"/>
              </a:tabLst>
            </a:pPr>
            <a:r>
              <a:rPr sz="1400" b="1" dirty="0">
                <a:latin typeface="Times New Roman"/>
                <a:cs typeface="Times New Roman"/>
              </a:rPr>
              <a:t>2.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Lowering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Power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Consumption:</a:t>
            </a:r>
            <a:endParaRPr sz="1400" dirty="0">
              <a:latin typeface="Times New Roman"/>
              <a:cs typeface="Times New Roman"/>
            </a:endParaRPr>
          </a:p>
          <a:p>
            <a:pPr marL="12065" marR="5080">
              <a:lnSpc>
                <a:spcPct val="80000"/>
              </a:lnSpc>
              <a:spcBef>
                <a:spcPts val="500"/>
              </a:spcBef>
              <a:tabLst>
                <a:tab pos="295910" algn="l"/>
                <a:tab pos="339725" algn="l"/>
              </a:tabLst>
            </a:pPr>
            <a:r>
              <a:rPr sz="1150" dirty="0">
                <a:solidFill>
                  <a:srgbClr val="4966AC"/>
                </a:solidFill>
                <a:latin typeface="Times New Roman"/>
                <a:cs typeface="Times New Roman"/>
              </a:rPr>
              <a:t>	</a:t>
            </a:r>
            <a:r>
              <a:rPr sz="1400" dirty="0">
                <a:latin typeface="Times New Roman"/>
                <a:cs typeface="Times New Roman"/>
              </a:rPr>
              <a:t>*</a:t>
            </a:r>
            <a:r>
              <a:rPr sz="1400" spc="-10" dirty="0">
                <a:latin typeface="Times New Roman"/>
                <a:cs typeface="Times New Roman"/>
              </a:rPr>
              <a:t> Minimizing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Switching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Losses: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Optimizing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switching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frequency</a:t>
            </a:r>
            <a:r>
              <a:rPr sz="1400" spc="-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duty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cycle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reduces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switching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losses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in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transistors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 </a:t>
            </a:r>
            <a:r>
              <a:rPr sz="1400" spc="-10" dirty="0">
                <a:latin typeface="Times New Roman"/>
                <a:cs typeface="Times New Roman"/>
              </a:rPr>
              <a:t>inductors.</a:t>
            </a:r>
            <a:endParaRPr sz="1400" dirty="0">
              <a:latin typeface="Times New Roman"/>
              <a:cs typeface="Times New Roman"/>
            </a:endParaRPr>
          </a:p>
          <a:p>
            <a:pPr marL="12065" marR="165100">
              <a:lnSpc>
                <a:spcPct val="77900"/>
              </a:lnSpc>
              <a:spcBef>
                <a:spcPts val="495"/>
              </a:spcBef>
              <a:tabLst>
                <a:tab pos="295910" algn="l"/>
                <a:tab pos="384175" algn="l"/>
              </a:tabLst>
            </a:pPr>
            <a:r>
              <a:rPr sz="1150" dirty="0">
                <a:solidFill>
                  <a:srgbClr val="4966AC"/>
                </a:solidFill>
                <a:latin typeface="Times New Roman"/>
                <a:cs typeface="Times New Roman"/>
              </a:rPr>
              <a:t>	</a:t>
            </a:r>
            <a:r>
              <a:rPr sz="1400" dirty="0">
                <a:latin typeface="Times New Roman"/>
                <a:cs typeface="Times New Roman"/>
              </a:rPr>
              <a:t>*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Reducing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Leakage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Currents: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Careful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selection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transistors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optimization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circuit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layout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minimize leakage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currents,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which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contribute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significantly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power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consumption,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especially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low-power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applications.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  <a:buClr>
                <a:srgbClr val="4966AC"/>
              </a:buClr>
              <a:buSzPct val="82142"/>
              <a:tabLst>
                <a:tab pos="295910" algn="l"/>
              </a:tabLst>
            </a:pPr>
            <a:r>
              <a:rPr sz="1400" b="1" dirty="0">
                <a:latin typeface="Times New Roman"/>
                <a:cs typeface="Times New Roman"/>
              </a:rPr>
              <a:t>3.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Enhancing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Performance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in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Low-</a:t>
            </a:r>
            <a:r>
              <a:rPr sz="1400" b="1" spc="-25" dirty="0">
                <a:latin typeface="Times New Roman"/>
                <a:cs typeface="Times New Roman"/>
              </a:rPr>
              <a:t>Power</a:t>
            </a:r>
            <a:r>
              <a:rPr sz="1400" b="1" spc="-18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Applications:</a:t>
            </a:r>
            <a:endParaRPr sz="1400" dirty="0">
              <a:latin typeface="Times New Roman"/>
              <a:cs typeface="Times New Roman"/>
            </a:endParaRPr>
          </a:p>
          <a:p>
            <a:pPr marL="12065" marR="93345">
              <a:lnSpc>
                <a:spcPct val="80000"/>
              </a:lnSpc>
              <a:spcBef>
                <a:spcPts val="505"/>
              </a:spcBef>
              <a:tabLst>
                <a:tab pos="295910" algn="l"/>
                <a:tab pos="339725" algn="l"/>
              </a:tabLst>
            </a:pPr>
            <a:r>
              <a:rPr sz="1150" dirty="0">
                <a:solidFill>
                  <a:srgbClr val="4966AC"/>
                </a:solidFill>
                <a:latin typeface="Times New Roman"/>
                <a:cs typeface="Times New Roman"/>
              </a:rPr>
              <a:t>	</a:t>
            </a:r>
            <a:r>
              <a:rPr sz="1400" dirty="0">
                <a:latin typeface="Times New Roman"/>
                <a:cs typeface="Times New Roman"/>
              </a:rPr>
              <a:t>*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Battery-</a:t>
            </a:r>
            <a:r>
              <a:rPr sz="1400" dirty="0">
                <a:latin typeface="Times New Roman"/>
                <a:cs typeface="Times New Roman"/>
              </a:rPr>
              <a:t>Powered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Devices: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Many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portable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wearable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devices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rely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batteries,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making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low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power </a:t>
            </a:r>
            <a:r>
              <a:rPr sz="1400" dirty="0">
                <a:latin typeface="Times New Roman"/>
                <a:cs typeface="Times New Roman"/>
              </a:rPr>
              <a:t>consumption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critical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requirement.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Optimized </a:t>
            </a:r>
            <a:r>
              <a:rPr sz="1400" spc="-20" dirty="0">
                <a:latin typeface="Times New Roman"/>
                <a:cs typeface="Times New Roman"/>
              </a:rPr>
              <a:t>inductor-</a:t>
            </a:r>
            <a:r>
              <a:rPr sz="1400" spc="-10" dirty="0">
                <a:latin typeface="Times New Roman"/>
                <a:cs typeface="Times New Roman"/>
              </a:rPr>
              <a:t>based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Dickson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charge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pumps can extend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battery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life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by </a:t>
            </a:r>
            <a:r>
              <a:rPr sz="1400" dirty="0">
                <a:latin typeface="Times New Roman"/>
                <a:cs typeface="Times New Roman"/>
              </a:rPr>
              <a:t>minimizing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power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losses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17" rIns="0" bIns="0" rtlCol="0">
            <a:spAutoFit/>
          </a:bodyPr>
          <a:lstStyle/>
          <a:p>
            <a:pPr marL="24352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Motivation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3792" y="1182624"/>
            <a:ext cx="818387" cy="70256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17984" y="6263870"/>
            <a:ext cx="201930" cy="203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150" spc="-25" dirty="0">
                <a:solidFill>
                  <a:srgbClr val="FFFFFF"/>
                </a:solidFill>
                <a:latin typeface="Verdana"/>
                <a:cs typeface="Verdana"/>
              </a:rPr>
              <a:t>7</a:t>
            </a:fld>
            <a:endParaRPr sz="1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8720" y="2483595"/>
            <a:ext cx="8565515" cy="32057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>
              <a:lnSpc>
                <a:spcPct val="100000"/>
              </a:lnSpc>
              <a:spcBef>
                <a:spcPts val="100"/>
              </a:spcBef>
            </a:pPr>
            <a:r>
              <a:rPr sz="1450" b="1" dirty="0">
                <a:latin typeface="Times New Roman"/>
                <a:cs typeface="Times New Roman"/>
              </a:rPr>
              <a:t>1.</a:t>
            </a:r>
            <a:r>
              <a:rPr sz="1450" b="1" spc="45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Efficiency</a:t>
            </a:r>
            <a:r>
              <a:rPr sz="1450" b="1" spc="65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Maximization</a:t>
            </a:r>
            <a:r>
              <a:rPr sz="1450" b="1" spc="40" dirty="0">
                <a:latin typeface="Times New Roman"/>
                <a:cs typeface="Times New Roman"/>
              </a:rPr>
              <a:t> </a:t>
            </a:r>
            <a:r>
              <a:rPr sz="1450" b="1" spc="-50" dirty="0">
                <a:latin typeface="Times New Roman"/>
                <a:cs typeface="Times New Roman"/>
              </a:rPr>
              <a:t>:</a:t>
            </a:r>
            <a:endParaRPr sz="1450" dirty="0">
              <a:latin typeface="Times New Roman"/>
              <a:cs typeface="Times New Roman"/>
            </a:endParaRPr>
          </a:p>
          <a:p>
            <a:pPr marL="12065" marR="15875">
              <a:lnSpc>
                <a:spcPct val="153800"/>
              </a:lnSpc>
              <a:spcBef>
                <a:spcPts val="170"/>
              </a:spcBef>
              <a:tabLst>
                <a:tab pos="238125" algn="l"/>
                <a:tab pos="390525" algn="l"/>
              </a:tabLst>
            </a:pPr>
            <a:r>
              <a:rPr sz="1250" dirty="0">
                <a:solidFill>
                  <a:srgbClr val="4966AC"/>
                </a:solidFill>
                <a:latin typeface="Segoe UI Symbol"/>
                <a:cs typeface="Segoe UI Symbol"/>
              </a:rPr>
              <a:t>	</a:t>
            </a:r>
            <a:r>
              <a:rPr sz="1450" dirty="0">
                <a:latin typeface="Times New Roman"/>
                <a:cs typeface="Times New Roman"/>
              </a:rPr>
              <a:t>Minimize</a:t>
            </a:r>
            <a:r>
              <a:rPr sz="1450" spc="39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conduction</a:t>
            </a:r>
            <a:r>
              <a:rPr sz="1450" spc="4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losses</a:t>
            </a:r>
            <a:r>
              <a:rPr sz="1450" spc="4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</a:t>
            </a:r>
            <a:r>
              <a:rPr sz="1450" spc="4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switches</a:t>
            </a:r>
            <a:r>
              <a:rPr sz="1450" spc="4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and</a:t>
            </a:r>
            <a:r>
              <a:rPr sz="1450" spc="4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diodes.</a:t>
            </a:r>
            <a:r>
              <a:rPr sz="1450" spc="4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Reduce</a:t>
            </a:r>
            <a:r>
              <a:rPr sz="1450" spc="409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switching</a:t>
            </a:r>
            <a:r>
              <a:rPr sz="1450" spc="4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losses</a:t>
            </a:r>
            <a:r>
              <a:rPr sz="1450" spc="40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by</a:t>
            </a:r>
            <a:r>
              <a:rPr sz="1450" spc="4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optimizing</a:t>
            </a:r>
            <a:r>
              <a:rPr sz="1450" spc="38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switching </a:t>
            </a:r>
            <a:r>
              <a:rPr sz="1450" dirty="0">
                <a:latin typeface="Times New Roman"/>
                <a:cs typeface="Times New Roman"/>
              </a:rPr>
              <a:t>frequency. Improve</a:t>
            </a:r>
            <a:r>
              <a:rPr sz="1450" spc="10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inductor</a:t>
            </a:r>
            <a:r>
              <a:rPr sz="1450" spc="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quality</a:t>
            </a:r>
            <a:r>
              <a:rPr sz="1450" spc="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factor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spc="-20" dirty="0">
                <a:latin typeface="Times New Roman"/>
                <a:cs typeface="Times New Roman"/>
              </a:rPr>
              <a:t>(Q-</a:t>
            </a:r>
            <a:r>
              <a:rPr sz="1450" dirty="0">
                <a:latin typeface="Times New Roman"/>
                <a:cs typeface="Times New Roman"/>
              </a:rPr>
              <a:t>factor)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to</a:t>
            </a:r>
            <a:r>
              <a:rPr sz="1450" spc="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reduce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resistive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losses.</a:t>
            </a: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4966AC"/>
              </a:buClr>
              <a:buFont typeface="Segoe UI Symbol"/>
              <a:buChar char="❑"/>
            </a:pPr>
            <a:endParaRPr sz="1450" dirty="0">
              <a:latin typeface="Times New Roman"/>
              <a:cs typeface="Times New Roman"/>
            </a:endParaRPr>
          </a:p>
          <a:p>
            <a:pPr marL="295910">
              <a:lnSpc>
                <a:spcPct val="100000"/>
              </a:lnSpc>
            </a:pPr>
            <a:r>
              <a:rPr sz="1450" b="1" dirty="0">
                <a:latin typeface="Times New Roman"/>
                <a:cs typeface="Times New Roman"/>
              </a:rPr>
              <a:t>2.</a:t>
            </a:r>
            <a:r>
              <a:rPr sz="1450" b="1" spc="40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Low</a:t>
            </a:r>
            <a:r>
              <a:rPr sz="1450" b="1" spc="60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Power</a:t>
            </a:r>
            <a:r>
              <a:rPr sz="1450" b="1" spc="-30" dirty="0">
                <a:latin typeface="Times New Roman"/>
                <a:cs typeface="Times New Roman"/>
              </a:rPr>
              <a:t> </a:t>
            </a:r>
            <a:r>
              <a:rPr sz="1450" b="1" spc="-10" dirty="0">
                <a:latin typeface="Times New Roman"/>
                <a:cs typeface="Times New Roman"/>
              </a:rPr>
              <a:t>Consumption:</a:t>
            </a:r>
            <a:endParaRPr sz="1450" dirty="0">
              <a:latin typeface="Times New Roman"/>
              <a:cs typeface="Times New Roman"/>
            </a:endParaRPr>
          </a:p>
          <a:p>
            <a:pPr marL="12065" marR="5080">
              <a:lnSpc>
                <a:spcPct val="153800"/>
              </a:lnSpc>
              <a:spcBef>
                <a:spcPts val="170"/>
              </a:spcBef>
              <a:tabLst>
                <a:tab pos="238125" algn="l"/>
                <a:tab pos="437515" algn="l"/>
              </a:tabLst>
            </a:pPr>
            <a:r>
              <a:rPr sz="1250" dirty="0">
                <a:solidFill>
                  <a:srgbClr val="4966AC"/>
                </a:solidFill>
                <a:latin typeface="Segoe UI Symbol"/>
                <a:cs typeface="Segoe UI Symbol"/>
              </a:rPr>
              <a:t>	</a:t>
            </a:r>
            <a:r>
              <a:rPr sz="1450" dirty="0">
                <a:latin typeface="Times New Roman"/>
                <a:cs typeface="Times New Roman"/>
              </a:rPr>
              <a:t>Reduce</a:t>
            </a:r>
            <a:r>
              <a:rPr sz="1450" spc="39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gate</a:t>
            </a:r>
            <a:r>
              <a:rPr sz="1450" spc="3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drive</a:t>
            </a:r>
            <a:r>
              <a:rPr sz="1450" spc="4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losses</a:t>
            </a:r>
            <a:r>
              <a:rPr sz="1450" spc="37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</a:t>
            </a:r>
            <a:r>
              <a:rPr sz="1450" spc="40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switching</a:t>
            </a:r>
            <a:r>
              <a:rPr sz="1450" spc="37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transistors.</a:t>
            </a:r>
            <a:r>
              <a:rPr sz="1450" spc="39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Optimize</a:t>
            </a:r>
            <a:r>
              <a:rPr sz="1450" spc="3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control</a:t>
            </a:r>
            <a:r>
              <a:rPr sz="1450" spc="409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logic</a:t>
            </a:r>
            <a:r>
              <a:rPr sz="1450" spc="3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for</a:t>
            </a:r>
            <a:r>
              <a:rPr sz="1450" spc="4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minimal</a:t>
            </a:r>
            <a:r>
              <a:rPr sz="1450" spc="40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dynamic</a:t>
            </a:r>
            <a:r>
              <a:rPr sz="1450" spc="40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power </a:t>
            </a:r>
            <a:r>
              <a:rPr sz="1450" dirty="0">
                <a:latin typeface="Times New Roman"/>
                <a:cs typeface="Times New Roman"/>
              </a:rPr>
              <a:t>consumption.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Choose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low-</a:t>
            </a:r>
            <a:r>
              <a:rPr sz="1450" dirty="0">
                <a:latin typeface="Times New Roman"/>
                <a:cs typeface="Times New Roman"/>
              </a:rPr>
              <a:t>power</a:t>
            </a:r>
            <a:r>
              <a:rPr sz="1450" spc="1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components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(e.g.,</a:t>
            </a:r>
            <a:r>
              <a:rPr sz="1450" spc="11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low-</a:t>
            </a:r>
            <a:r>
              <a:rPr sz="1450" dirty="0">
                <a:latin typeface="Times New Roman"/>
                <a:cs typeface="Times New Roman"/>
              </a:rPr>
              <a:t>threshold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MOSFETs).</a:t>
            </a: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4966AC"/>
              </a:buClr>
              <a:buFont typeface="Segoe UI Symbol"/>
              <a:buChar char="❑"/>
            </a:pPr>
            <a:endParaRPr sz="1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buClr>
                <a:srgbClr val="4966AC"/>
              </a:buClr>
              <a:buSzPct val="86206"/>
              <a:tabLst>
                <a:tab pos="390525" algn="l"/>
              </a:tabLst>
            </a:pPr>
            <a:r>
              <a:rPr lang="en-IN" sz="1450" b="1" dirty="0">
                <a:latin typeface="Times New Roman"/>
                <a:cs typeface="Times New Roman"/>
              </a:rPr>
              <a:t>     </a:t>
            </a:r>
            <a:r>
              <a:rPr sz="1450" b="1" dirty="0">
                <a:latin typeface="Times New Roman"/>
                <a:cs typeface="Times New Roman"/>
              </a:rPr>
              <a:t>3.To</a:t>
            </a:r>
            <a:r>
              <a:rPr sz="1450" b="1" spc="10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minimize</a:t>
            </a:r>
            <a:r>
              <a:rPr sz="1450" b="1" spc="35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power</a:t>
            </a:r>
            <a:r>
              <a:rPr sz="1450" b="1" spc="-55" dirty="0">
                <a:latin typeface="Times New Roman"/>
                <a:cs typeface="Times New Roman"/>
              </a:rPr>
              <a:t> </a:t>
            </a:r>
            <a:r>
              <a:rPr sz="1450" b="1" spc="-10" dirty="0">
                <a:latin typeface="Times New Roman"/>
                <a:cs typeface="Times New Roman"/>
              </a:rPr>
              <a:t>consumption:</a:t>
            </a:r>
            <a:endParaRPr sz="1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  <a:buClr>
                <a:srgbClr val="4966AC"/>
              </a:buClr>
              <a:buSzPct val="86206"/>
              <a:tabLst>
                <a:tab pos="390525" algn="l"/>
              </a:tabLst>
            </a:pPr>
            <a:r>
              <a:rPr lang="en-IN" sz="1450" dirty="0">
                <a:latin typeface="Times New Roman"/>
                <a:cs typeface="Times New Roman"/>
              </a:rPr>
              <a:t>     </a:t>
            </a:r>
            <a:r>
              <a:rPr sz="1450" dirty="0">
                <a:latin typeface="Times New Roman"/>
                <a:cs typeface="Times New Roman"/>
              </a:rPr>
              <a:t>This</a:t>
            </a:r>
            <a:r>
              <a:rPr sz="1450" spc="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focuses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on</a:t>
            </a:r>
            <a:r>
              <a:rPr sz="1450" spc="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reducing</a:t>
            </a:r>
            <a:r>
              <a:rPr sz="1450" spc="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</a:t>
            </a:r>
            <a:r>
              <a:rPr sz="1450" spc="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current</a:t>
            </a:r>
            <a:r>
              <a:rPr sz="1450" spc="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drawn</a:t>
            </a:r>
            <a:r>
              <a:rPr sz="1450" spc="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by</a:t>
            </a:r>
            <a:r>
              <a:rPr sz="1450" spc="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charge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pump,</a:t>
            </a:r>
            <a:r>
              <a:rPr sz="1450" spc="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particularly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stand</a:t>
            </a:r>
            <a:r>
              <a:rPr sz="1450" spc="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by</a:t>
            </a:r>
            <a:r>
              <a:rPr sz="1450" spc="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or</a:t>
            </a:r>
            <a:r>
              <a:rPr sz="1450" spc="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idle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modes,</a:t>
            </a:r>
            <a:r>
              <a:rPr sz="1450" spc="30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to</a:t>
            </a:r>
            <a:endParaRPr sz="1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  <a:buClr>
                <a:srgbClr val="4966AC"/>
              </a:buClr>
              <a:buSzPct val="86206"/>
              <a:tabLst>
                <a:tab pos="437515" algn="l"/>
              </a:tabLst>
            </a:pPr>
            <a:r>
              <a:rPr sz="1450" dirty="0">
                <a:latin typeface="Times New Roman"/>
                <a:cs typeface="Times New Roman"/>
              </a:rPr>
              <a:t>extend</a:t>
            </a:r>
            <a:r>
              <a:rPr sz="1450" spc="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battery</a:t>
            </a:r>
            <a:r>
              <a:rPr sz="1450" spc="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life</a:t>
            </a:r>
            <a:r>
              <a:rPr sz="1450" spc="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or</a:t>
            </a:r>
            <a:r>
              <a:rPr sz="1450" spc="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reduce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energy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requirements.</a:t>
            </a:r>
            <a:endParaRPr sz="14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73787" y="1618061"/>
            <a:ext cx="1640839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3792" y="1182624"/>
            <a:ext cx="818387" cy="7025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7984" y="6263870"/>
            <a:ext cx="201930" cy="203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150" spc="-25" dirty="0">
                <a:solidFill>
                  <a:srgbClr val="FFFFFF"/>
                </a:solidFill>
                <a:latin typeface="Verdana"/>
                <a:cs typeface="Verdana"/>
              </a:rPr>
              <a:t>8</a:t>
            </a:fld>
            <a:endParaRPr sz="1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9370" y="2194336"/>
            <a:ext cx="8436610" cy="3500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6" marR="5080" algn="just">
              <a:lnSpc>
                <a:spcPct val="143000"/>
              </a:lnSpc>
              <a:spcBef>
                <a:spcPts val="95"/>
              </a:spcBef>
              <a:buSzPct val="86206"/>
              <a:tabLst>
                <a:tab pos="239395" algn="l"/>
                <a:tab pos="384810" algn="l"/>
              </a:tabLst>
            </a:pPr>
            <a:r>
              <a:rPr sz="1450" dirty="0">
                <a:latin typeface="Times New Roman"/>
                <a:cs typeface="Times New Roman"/>
              </a:rPr>
              <a:t>A</a:t>
            </a:r>
            <a:r>
              <a:rPr sz="1450" spc="2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high</a:t>
            </a:r>
            <a:r>
              <a:rPr sz="1450" spc="3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voltage</a:t>
            </a:r>
            <a:r>
              <a:rPr sz="1450" spc="29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charge</a:t>
            </a:r>
            <a:r>
              <a:rPr sz="1450" spc="3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pump</a:t>
            </a:r>
            <a:r>
              <a:rPr sz="1450" spc="3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design</a:t>
            </a:r>
            <a:r>
              <a:rPr sz="1450" spc="2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is</a:t>
            </a:r>
            <a:r>
              <a:rPr sz="1450" spc="27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being</a:t>
            </a:r>
            <a:r>
              <a:rPr sz="1450" spc="29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presented</a:t>
            </a:r>
            <a:r>
              <a:rPr sz="1450" spc="3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</a:t>
            </a:r>
            <a:r>
              <a:rPr sz="1450" spc="2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this</a:t>
            </a:r>
            <a:r>
              <a:rPr sz="1450" spc="2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paper.</a:t>
            </a:r>
            <a:r>
              <a:rPr sz="1450" spc="29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</a:t>
            </a:r>
            <a:r>
              <a:rPr sz="1450" spc="2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design</a:t>
            </a:r>
            <a:r>
              <a:rPr sz="1450" spc="2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is</a:t>
            </a:r>
            <a:r>
              <a:rPr sz="1450" spc="29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based</a:t>
            </a:r>
            <a:r>
              <a:rPr sz="1450" spc="3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on</a:t>
            </a:r>
            <a:r>
              <a:rPr sz="1450" spc="28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Dickson </a:t>
            </a:r>
            <a:r>
              <a:rPr sz="1450" dirty="0">
                <a:latin typeface="Times New Roman"/>
                <a:cs typeface="Times New Roman"/>
              </a:rPr>
              <a:t>charge</a:t>
            </a:r>
            <a:r>
              <a:rPr sz="1450" spc="10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pump,</a:t>
            </a:r>
            <a:r>
              <a:rPr sz="1450" spc="114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constructed</a:t>
            </a:r>
            <a:r>
              <a:rPr sz="1450" spc="1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with</a:t>
            </a:r>
            <a:r>
              <a:rPr sz="1450" spc="1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diodes</a:t>
            </a:r>
            <a:r>
              <a:rPr sz="1450" spc="1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by</a:t>
            </a:r>
            <a:r>
              <a:rPr sz="1450" spc="1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using</a:t>
            </a:r>
            <a:r>
              <a:rPr sz="1450" spc="1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AMS</a:t>
            </a:r>
            <a:r>
              <a:rPr sz="1450" spc="105" dirty="0">
                <a:latin typeface="Times New Roman"/>
                <a:cs typeface="Times New Roman"/>
              </a:rPr>
              <a:t> </a:t>
            </a:r>
            <a:r>
              <a:rPr sz="1450" spc="55" dirty="0">
                <a:latin typeface="Times New Roman"/>
                <a:cs typeface="Times New Roman"/>
              </a:rPr>
              <a:t>90nm</a:t>
            </a:r>
            <a:r>
              <a:rPr sz="1450" spc="1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technology.</a:t>
            </a:r>
            <a:r>
              <a:rPr sz="1450" spc="1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</a:t>
            </a:r>
            <a:r>
              <a:rPr sz="1450" spc="1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innovation</a:t>
            </a:r>
            <a:r>
              <a:rPr sz="1450" spc="1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is</a:t>
            </a:r>
            <a:r>
              <a:rPr sz="1450" spc="1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made</a:t>
            </a:r>
            <a:r>
              <a:rPr sz="1450" spc="1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</a:t>
            </a:r>
            <a:r>
              <a:rPr sz="1450" spc="10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Dickson </a:t>
            </a:r>
            <a:r>
              <a:rPr sz="1450" dirty="0">
                <a:latin typeface="Times New Roman"/>
                <a:cs typeface="Times New Roman"/>
              </a:rPr>
              <a:t>charge</a:t>
            </a:r>
            <a:r>
              <a:rPr sz="1450" spc="1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pump</a:t>
            </a:r>
            <a:r>
              <a:rPr sz="1450" spc="1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i.e.</a:t>
            </a:r>
            <a:r>
              <a:rPr sz="1450" spc="1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charge</a:t>
            </a:r>
            <a:r>
              <a:rPr sz="1450" spc="13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control</a:t>
            </a:r>
            <a:r>
              <a:rPr sz="1450" spc="1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PMOS</a:t>
            </a:r>
            <a:r>
              <a:rPr sz="1450" spc="1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transistor</a:t>
            </a:r>
            <a:r>
              <a:rPr sz="1450" spc="1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is</a:t>
            </a:r>
            <a:r>
              <a:rPr sz="1450" spc="1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used</a:t>
            </a:r>
            <a:r>
              <a:rPr sz="1450" spc="1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</a:t>
            </a:r>
            <a:r>
              <a:rPr sz="1450" spc="1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each</a:t>
            </a:r>
            <a:r>
              <a:rPr sz="1450" spc="1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stage</a:t>
            </a:r>
            <a:r>
              <a:rPr sz="1450" spc="13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of</a:t>
            </a:r>
            <a:r>
              <a:rPr sz="1450" spc="1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charge</a:t>
            </a:r>
            <a:r>
              <a:rPr sz="1450" spc="1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pump.</a:t>
            </a:r>
            <a:r>
              <a:rPr sz="1450" spc="1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PMOS</a:t>
            </a:r>
            <a:r>
              <a:rPr sz="1450" spc="1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transistor</a:t>
            </a:r>
            <a:r>
              <a:rPr sz="1450" spc="140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is </a:t>
            </a:r>
            <a:r>
              <a:rPr sz="1450" dirty="0">
                <a:latin typeface="Times New Roman"/>
                <a:cs typeface="Times New Roman"/>
              </a:rPr>
              <a:t>used</a:t>
            </a:r>
            <a:r>
              <a:rPr sz="1450" spc="1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</a:t>
            </a:r>
            <a:r>
              <a:rPr sz="1450" spc="1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series</a:t>
            </a:r>
            <a:r>
              <a:rPr sz="1450" spc="1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with</a:t>
            </a:r>
            <a:r>
              <a:rPr sz="1450" spc="1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charging</a:t>
            </a:r>
            <a:r>
              <a:rPr sz="1450" spc="1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capacitor</a:t>
            </a:r>
            <a:r>
              <a:rPr sz="1450" spc="13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which</a:t>
            </a:r>
            <a:r>
              <a:rPr sz="1450" spc="1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reduces</a:t>
            </a:r>
            <a:r>
              <a:rPr sz="1450" spc="1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</a:t>
            </a:r>
            <a:r>
              <a:rPr sz="1450" spc="1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power</a:t>
            </a:r>
            <a:r>
              <a:rPr sz="1450" spc="13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consumption</a:t>
            </a:r>
            <a:r>
              <a:rPr sz="1450" spc="1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during</a:t>
            </a:r>
            <a:r>
              <a:rPr sz="1450" spc="1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</a:t>
            </a:r>
            <a:r>
              <a:rPr sz="1450" spc="1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clock</a:t>
            </a:r>
            <a:r>
              <a:rPr sz="1450" spc="1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transition</a:t>
            </a:r>
            <a:r>
              <a:rPr sz="1450" spc="155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by </a:t>
            </a:r>
            <a:r>
              <a:rPr sz="1450" dirty="0">
                <a:latin typeface="Times New Roman"/>
                <a:cs typeface="Times New Roman"/>
              </a:rPr>
              <a:t>controlling</a:t>
            </a:r>
            <a:r>
              <a:rPr sz="1450" spc="3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</a:t>
            </a:r>
            <a:r>
              <a:rPr sz="1450" spc="3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time</a:t>
            </a:r>
            <a:r>
              <a:rPr sz="1450" spc="3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constant</a:t>
            </a:r>
            <a:r>
              <a:rPr sz="1450" spc="3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of</a:t>
            </a:r>
            <a:r>
              <a:rPr sz="1450" spc="3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each</a:t>
            </a:r>
            <a:r>
              <a:rPr sz="1450" spc="3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stage.</a:t>
            </a:r>
            <a:r>
              <a:rPr sz="1450" spc="3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</a:t>
            </a:r>
            <a:r>
              <a:rPr sz="1450" spc="3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resistance</a:t>
            </a:r>
            <a:r>
              <a:rPr sz="1450" spc="30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between</a:t>
            </a:r>
            <a:r>
              <a:rPr sz="1450" spc="3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drain</a:t>
            </a:r>
            <a:r>
              <a:rPr sz="1450" spc="3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to</a:t>
            </a:r>
            <a:r>
              <a:rPr sz="1450" spc="3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source</a:t>
            </a:r>
            <a:r>
              <a:rPr sz="1450" spc="3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of</a:t>
            </a:r>
            <a:r>
              <a:rPr sz="1450" spc="3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PMOS</a:t>
            </a:r>
            <a:r>
              <a:rPr sz="1450" spc="32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transistor </a:t>
            </a:r>
            <a:r>
              <a:rPr sz="1450" dirty="0">
                <a:latin typeface="Times New Roman"/>
                <a:cs typeface="Times New Roman"/>
              </a:rPr>
              <a:t>increases</a:t>
            </a:r>
            <a:r>
              <a:rPr sz="1450" spc="1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</a:t>
            </a:r>
            <a:r>
              <a:rPr sz="1450" spc="1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time</a:t>
            </a:r>
            <a:r>
              <a:rPr sz="1450" spc="1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constant</a:t>
            </a:r>
            <a:r>
              <a:rPr sz="1450" spc="19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during</a:t>
            </a:r>
            <a:r>
              <a:rPr sz="1450" spc="1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</a:t>
            </a:r>
            <a:r>
              <a:rPr sz="1450" spc="1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charging</a:t>
            </a:r>
            <a:r>
              <a:rPr sz="1450" spc="1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of</a:t>
            </a:r>
            <a:r>
              <a:rPr sz="1450" spc="1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</a:t>
            </a:r>
            <a:r>
              <a:rPr sz="1450" spc="1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capacitor</a:t>
            </a:r>
            <a:r>
              <a:rPr sz="1450" spc="2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placed</a:t>
            </a:r>
            <a:r>
              <a:rPr sz="1450" spc="1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</a:t>
            </a:r>
            <a:r>
              <a:rPr sz="1450" spc="2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each</a:t>
            </a:r>
            <a:r>
              <a:rPr sz="1450" spc="19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stage</a:t>
            </a:r>
            <a:r>
              <a:rPr sz="1450" spc="1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of</a:t>
            </a:r>
            <a:r>
              <a:rPr sz="1450" spc="1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charge</a:t>
            </a:r>
            <a:r>
              <a:rPr sz="1450" spc="1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pump.</a:t>
            </a:r>
            <a:r>
              <a:rPr sz="1450" spc="170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The </a:t>
            </a:r>
            <a:r>
              <a:rPr sz="1450" dirty="0">
                <a:latin typeface="Times New Roman"/>
                <a:cs typeface="Times New Roman"/>
              </a:rPr>
              <a:t>output</a:t>
            </a:r>
            <a:r>
              <a:rPr sz="1450" spc="2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voltage</a:t>
            </a:r>
            <a:r>
              <a:rPr sz="1450" spc="2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of</a:t>
            </a:r>
            <a:r>
              <a:rPr sz="1450" spc="2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about</a:t>
            </a:r>
            <a:r>
              <a:rPr sz="1450" spc="2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5.693V</a:t>
            </a:r>
            <a:r>
              <a:rPr sz="1450" spc="2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is</a:t>
            </a:r>
            <a:r>
              <a:rPr sz="1450" spc="254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achieved</a:t>
            </a:r>
            <a:r>
              <a:rPr sz="1450" spc="27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by</a:t>
            </a:r>
            <a:r>
              <a:rPr sz="1450" spc="2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</a:t>
            </a:r>
            <a:r>
              <a:rPr sz="1450" spc="27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six</a:t>
            </a:r>
            <a:r>
              <a:rPr sz="1450" spc="27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stages</a:t>
            </a:r>
            <a:r>
              <a:rPr sz="1450" spc="27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of</a:t>
            </a:r>
            <a:r>
              <a:rPr sz="1450" spc="2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Dickson</a:t>
            </a:r>
            <a:r>
              <a:rPr sz="1450" spc="2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charge</a:t>
            </a:r>
            <a:r>
              <a:rPr sz="1450" spc="27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pump</a:t>
            </a:r>
            <a:r>
              <a:rPr sz="1450" spc="27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at</a:t>
            </a:r>
            <a:r>
              <a:rPr sz="1450" spc="27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no-</a:t>
            </a:r>
            <a:r>
              <a:rPr sz="1450" dirty="0">
                <a:latin typeface="Times New Roman"/>
                <a:cs typeface="Times New Roman"/>
              </a:rPr>
              <a:t>load</a:t>
            </a:r>
            <a:r>
              <a:rPr sz="1450" spc="28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which </a:t>
            </a:r>
            <a:r>
              <a:rPr sz="1450" dirty="0">
                <a:latin typeface="Times New Roman"/>
                <a:cs typeface="Times New Roman"/>
              </a:rPr>
              <a:t>reduces</a:t>
            </a:r>
            <a:r>
              <a:rPr sz="1450" spc="3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to</a:t>
            </a:r>
            <a:r>
              <a:rPr sz="1450" spc="3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5.537V</a:t>
            </a:r>
            <a:r>
              <a:rPr sz="1450" spc="3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with</a:t>
            </a:r>
            <a:r>
              <a:rPr sz="1450" spc="3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</a:t>
            </a:r>
            <a:r>
              <a:rPr sz="1450" spc="3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six</a:t>
            </a:r>
            <a:r>
              <a:rPr sz="1450" spc="3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stages</a:t>
            </a:r>
            <a:r>
              <a:rPr sz="1450" spc="3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of</a:t>
            </a:r>
            <a:r>
              <a:rPr sz="1450" spc="3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proposed</a:t>
            </a:r>
            <a:r>
              <a:rPr sz="1450" spc="3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charge</a:t>
            </a:r>
            <a:r>
              <a:rPr sz="1450" spc="3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pump</a:t>
            </a:r>
            <a:r>
              <a:rPr sz="1450" spc="3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but</a:t>
            </a:r>
            <a:r>
              <a:rPr sz="1450" spc="3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</a:t>
            </a:r>
            <a:r>
              <a:rPr sz="1450" spc="3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power</a:t>
            </a:r>
            <a:r>
              <a:rPr sz="1450" spc="3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during</a:t>
            </a:r>
            <a:r>
              <a:rPr sz="1450" spc="3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</a:t>
            </a:r>
            <a:r>
              <a:rPr sz="1450" spc="3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input</a:t>
            </a:r>
            <a:r>
              <a:rPr sz="1450" spc="35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clock </a:t>
            </a:r>
            <a:r>
              <a:rPr sz="1450" dirty="0">
                <a:latin typeface="Times New Roman"/>
                <a:cs typeface="Times New Roman"/>
              </a:rPr>
              <a:t>transition</a:t>
            </a:r>
            <a:r>
              <a:rPr sz="1450" spc="3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is</a:t>
            </a:r>
            <a:r>
              <a:rPr sz="1450" spc="3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reduced</a:t>
            </a:r>
            <a:r>
              <a:rPr sz="1450" spc="3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from</a:t>
            </a:r>
            <a:r>
              <a:rPr sz="1450" spc="3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340.5w</a:t>
            </a:r>
            <a:r>
              <a:rPr sz="1450" spc="3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(consumed</a:t>
            </a:r>
            <a:r>
              <a:rPr sz="1450" spc="3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by</a:t>
            </a:r>
            <a:r>
              <a:rPr sz="1450" spc="3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Dickson</a:t>
            </a:r>
            <a:r>
              <a:rPr sz="1450" spc="3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charge</a:t>
            </a:r>
            <a:r>
              <a:rPr sz="1450" spc="3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pump)</a:t>
            </a:r>
            <a:r>
              <a:rPr sz="1450" spc="3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to</a:t>
            </a:r>
            <a:r>
              <a:rPr sz="1450" spc="3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28.85</a:t>
            </a:r>
            <a:r>
              <a:rPr sz="1450" spc="3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W</a:t>
            </a:r>
            <a:r>
              <a:rPr sz="1450" spc="3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(consumed</a:t>
            </a:r>
            <a:r>
              <a:rPr sz="1450" spc="3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by</a:t>
            </a:r>
            <a:r>
              <a:rPr sz="1450" spc="330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the </a:t>
            </a:r>
            <a:r>
              <a:rPr sz="1450" dirty="0">
                <a:latin typeface="Times New Roman"/>
                <a:cs typeface="Times New Roman"/>
              </a:rPr>
              <a:t>proposed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modified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charge</a:t>
            </a:r>
            <a:r>
              <a:rPr sz="1450" spc="9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pump).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Some</a:t>
            </a:r>
            <a:r>
              <a:rPr sz="1450" spc="1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other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results</a:t>
            </a:r>
            <a:r>
              <a:rPr sz="1450" spc="1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are</a:t>
            </a:r>
            <a:r>
              <a:rPr sz="1450" spc="9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also</a:t>
            </a:r>
            <a:r>
              <a:rPr sz="1450" spc="1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discussed</a:t>
            </a:r>
            <a:r>
              <a:rPr sz="1450" spc="9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</a:t>
            </a:r>
            <a:r>
              <a:rPr sz="1450" spc="1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this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paper,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which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are</a:t>
            </a:r>
            <a:r>
              <a:rPr sz="1450" spc="9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achieved</a:t>
            </a:r>
            <a:r>
              <a:rPr sz="1450" spc="100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on </a:t>
            </a:r>
            <a:r>
              <a:rPr sz="1450" dirty="0">
                <a:latin typeface="Times New Roman"/>
                <a:cs typeface="Times New Roman"/>
              </a:rPr>
              <a:t>different</a:t>
            </a:r>
            <a:r>
              <a:rPr sz="1450" spc="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load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resistances.</a:t>
            </a:r>
            <a:endParaRPr sz="14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041" rIns="0" bIns="0" rtlCol="0">
            <a:spAutoFit/>
          </a:bodyPr>
          <a:lstStyle/>
          <a:p>
            <a:pPr marL="2330450">
              <a:lnSpc>
                <a:spcPct val="100000"/>
              </a:lnSpc>
              <a:spcBef>
                <a:spcPts val="100"/>
              </a:spcBef>
            </a:pPr>
            <a:r>
              <a:rPr sz="2950" dirty="0"/>
              <a:t>Existing</a:t>
            </a:r>
            <a:r>
              <a:rPr sz="2950" spc="-60" dirty="0"/>
              <a:t> </a:t>
            </a:r>
            <a:r>
              <a:rPr sz="2950" spc="-10" dirty="0"/>
              <a:t>Method</a:t>
            </a:r>
            <a:endParaRPr sz="29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3792" y="1182624"/>
            <a:ext cx="818387" cy="7025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7984" y="6263870"/>
            <a:ext cx="201930" cy="203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150" spc="-25" dirty="0">
                <a:solidFill>
                  <a:srgbClr val="FFFFFF"/>
                </a:solidFill>
                <a:latin typeface="Verdana"/>
                <a:cs typeface="Verdana"/>
              </a:rPr>
              <a:t>9</a:t>
            </a:fld>
            <a:endParaRPr sz="1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091FE-2768-46D8-BE7D-DF2460399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6615" y="1130204"/>
            <a:ext cx="7150100" cy="1015663"/>
          </a:xfrm>
        </p:spPr>
        <p:txBody>
          <a:bodyPr/>
          <a:lstStyle/>
          <a:p>
            <a:r>
              <a:rPr lang="en-IN" dirty="0"/>
              <a:t>SCHEMATIC FOR DICKSON CHARGE PUMP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3F511-D2D0-DF80-DAD0-9AE769421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2209800"/>
            <a:ext cx="9448800" cy="3539430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                                    FIG : SCHEMATIC OF DIODE BASED DICKSON CHARGE PUMP FOR 90NM TECHNOLOGY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F51F1DF7-439F-E8FD-1391-BD151886CCD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549120"/>
            <a:ext cx="9282683" cy="257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846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385060"/>
            <a:ext cx="8686800" cy="31775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390" y="1228343"/>
            <a:ext cx="9913620" cy="5521960"/>
          </a:xfrm>
          <a:custGeom>
            <a:avLst/>
            <a:gdLst/>
            <a:ahLst/>
            <a:cxnLst/>
            <a:rect l="l" t="t" r="r" b="b"/>
            <a:pathLst>
              <a:path w="9913620" h="5521959">
                <a:moveTo>
                  <a:pt x="0" y="272795"/>
                </a:moveTo>
                <a:lnTo>
                  <a:pt x="4572" y="224027"/>
                </a:lnTo>
                <a:lnTo>
                  <a:pt x="18288" y="178307"/>
                </a:lnTo>
                <a:lnTo>
                  <a:pt x="38100" y="135635"/>
                </a:lnTo>
                <a:lnTo>
                  <a:pt x="64008" y="97535"/>
                </a:lnTo>
                <a:lnTo>
                  <a:pt x="97536" y="65531"/>
                </a:lnTo>
                <a:lnTo>
                  <a:pt x="135636" y="38099"/>
                </a:lnTo>
                <a:lnTo>
                  <a:pt x="176783" y="18287"/>
                </a:lnTo>
                <a:lnTo>
                  <a:pt x="224028" y="4571"/>
                </a:lnTo>
                <a:lnTo>
                  <a:pt x="271272" y="0"/>
                </a:lnTo>
                <a:lnTo>
                  <a:pt x="9642348" y="0"/>
                </a:lnTo>
                <a:lnTo>
                  <a:pt x="9691116" y="4571"/>
                </a:lnTo>
                <a:lnTo>
                  <a:pt x="9736835" y="18287"/>
                </a:lnTo>
                <a:lnTo>
                  <a:pt x="9779507" y="38099"/>
                </a:lnTo>
                <a:lnTo>
                  <a:pt x="9817607" y="65531"/>
                </a:lnTo>
                <a:lnTo>
                  <a:pt x="9851135" y="97535"/>
                </a:lnTo>
                <a:lnTo>
                  <a:pt x="9877043" y="135635"/>
                </a:lnTo>
                <a:lnTo>
                  <a:pt x="9896856" y="178307"/>
                </a:lnTo>
                <a:lnTo>
                  <a:pt x="9910571" y="224027"/>
                </a:lnTo>
                <a:lnTo>
                  <a:pt x="9913620" y="272795"/>
                </a:lnTo>
                <a:lnTo>
                  <a:pt x="9913620" y="5250179"/>
                </a:lnTo>
                <a:lnTo>
                  <a:pt x="9910571" y="5298947"/>
                </a:lnTo>
                <a:lnTo>
                  <a:pt x="9896856" y="5344667"/>
                </a:lnTo>
                <a:lnTo>
                  <a:pt x="9877043" y="5387340"/>
                </a:lnTo>
                <a:lnTo>
                  <a:pt x="9851135" y="5425440"/>
                </a:lnTo>
                <a:lnTo>
                  <a:pt x="9817607" y="5458967"/>
                </a:lnTo>
                <a:lnTo>
                  <a:pt x="9779507" y="5484876"/>
                </a:lnTo>
                <a:lnTo>
                  <a:pt x="9736835" y="5504688"/>
                </a:lnTo>
                <a:lnTo>
                  <a:pt x="9691116" y="5518403"/>
                </a:lnTo>
                <a:lnTo>
                  <a:pt x="9642348" y="5521451"/>
                </a:lnTo>
                <a:lnTo>
                  <a:pt x="271272" y="5521451"/>
                </a:lnTo>
                <a:lnTo>
                  <a:pt x="224028" y="5518403"/>
                </a:lnTo>
                <a:lnTo>
                  <a:pt x="176783" y="5504688"/>
                </a:lnTo>
                <a:lnTo>
                  <a:pt x="135636" y="5484876"/>
                </a:lnTo>
                <a:lnTo>
                  <a:pt x="97536" y="5458967"/>
                </a:lnTo>
                <a:lnTo>
                  <a:pt x="64008" y="5425440"/>
                </a:lnTo>
                <a:lnTo>
                  <a:pt x="38100" y="5387340"/>
                </a:lnTo>
                <a:lnTo>
                  <a:pt x="18288" y="5344667"/>
                </a:lnTo>
                <a:lnTo>
                  <a:pt x="4572" y="5298947"/>
                </a:lnTo>
                <a:lnTo>
                  <a:pt x="0" y="5250179"/>
                </a:lnTo>
                <a:lnTo>
                  <a:pt x="0" y="272795"/>
                </a:lnTo>
                <a:close/>
              </a:path>
            </a:pathLst>
          </a:custGeom>
          <a:ln w="45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9370" y="2182144"/>
            <a:ext cx="8437245" cy="4108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6854" marR="5080" indent="-224790" algn="just">
              <a:lnSpc>
                <a:spcPct val="154000"/>
              </a:lnSpc>
              <a:spcBef>
                <a:spcPts val="95"/>
              </a:spcBef>
              <a:buClr>
                <a:srgbClr val="4966AC"/>
              </a:buClr>
              <a:buSzPct val="86206"/>
              <a:buFont typeface="Times New Roman"/>
              <a:buChar char="●"/>
              <a:tabLst>
                <a:tab pos="238125" algn="l"/>
              </a:tabLst>
            </a:pPr>
            <a:r>
              <a:rPr sz="1450" dirty="0">
                <a:latin typeface="Palatino Linotype"/>
                <a:cs typeface="Palatino Linotype"/>
              </a:rPr>
              <a:t>The</a:t>
            </a:r>
            <a:r>
              <a:rPr sz="1450" spc="110" dirty="0">
                <a:latin typeface="Palatino Linotype"/>
                <a:cs typeface="Palatino Linotype"/>
              </a:rPr>
              <a:t> </a:t>
            </a:r>
            <a:r>
              <a:rPr sz="1450" spc="-10" dirty="0">
                <a:latin typeface="Palatino Linotype"/>
                <a:cs typeface="Palatino Linotype"/>
              </a:rPr>
              <a:t>inductor-</a:t>
            </a:r>
            <a:r>
              <a:rPr sz="1450" dirty="0">
                <a:latin typeface="Palatino Linotype"/>
                <a:cs typeface="Palatino Linotype"/>
              </a:rPr>
              <a:t>based</a:t>
            </a:r>
            <a:r>
              <a:rPr sz="1450" spc="12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Dickson</a:t>
            </a:r>
            <a:r>
              <a:rPr sz="1450" spc="12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charge</a:t>
            </a:r>
            <a:r>
              <a:rPr sz="1450" spc="12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pump</a:t>
            </a:r>
            <a:r>
              <a:rPr sz="1450" spc="12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operates</a:t>
            </a:r>
            <a:r>
              <a:rPr sz="1450" spc="12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by</a:t>
            </a:r>
            <a:r>
              <a:rPr sz="1450" spc="12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utilizing</a:t>
            </a:r>
            <a:r>
              <a:rPr sz="1450" spc="12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inductors,</a:t>
            </a:r>
            <a:r>
              <a:rPr sz="1450" spc="11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MOSFET</a:t>
            </a:r>
            <a:r>
              <a:rPr sz="1450" spc="12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switches,</a:t>
            </a:r>
            <a:r>
              <a:rPr sz="1450" spc="114" dirty="0">
                <a:latin typeface="Palatino Linotype"/>
                <a:cs typeface="Palatino Linotype"/>
              </a:rPr>
              <a:t> </a:t>
            </a:r>
            <a:r>
              <a:rPr sz="1450" spc="-25" dirty="0">
                <a:latin typeface="Palatino Linotype"/>
                <a:cs typeface="Palatino Linotype"/>
              </a:rPr>
              <a:t>and 	</a:t>
            </a:r>
            <a:r>
              <a:rPr sz="1450" dirty="0">
                <a:latin typeface="Palatino Linotype"/>
                <a:cs typeface="Palatino Linotype"/>
              </a:rPr>
              <a:t>capacitors</a:t>
            </a:r>
            <a:r>
              <a:rPr sz="1450" spc="44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to</a:t>
            </a:r>
            <a:r>
              <a:rPr sz="1450" spc="47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efficiently</a:t>
            </a:r>
            <a:r>
              <a:rPr sz="1450" spc="45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transfer</a:t>
            </a:r>
            <a:r>
              <a:rPr sz="1450" spc="47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and</a:t>
            </a:r>
            <a:r>
              <a:rPr sz="1450" spc="45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boost</a:t>
            </a:r>
            <a:r>
              <a:rPr sz="1450" spc="42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voltage</a:t>
            </a:r>
            <a:r>
              <a:rPr sz="1450" spc="46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in</a:t>
            </a:r>
            <a:r>
              <a:rPr sz="1450" spc="459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multiple</a:t>
            </a:r>
            <a:r>
              <a:rPr sz="1450" spc="45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stages.</a:t>
            </a:r>
            <a:r>
              <a:rPr sz="1450" spc="45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Initially,</a:t>
            </a:r>
            <a:r>
              <a:rPr sz="1450" spc="46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the</a:t>
            </a:r>
            <a:r>
              <a:rPr sz="1450" spc="45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circuit</a:t>
            </a:r>
            <a:r>
              <a:rPr sz="1450" spc="430" dirty="0">
                <a:latin typeface="Palatino Linotype"/>
                <a:cs typeface="Palatino Linotype"/>
              </a:rPr>
              <a:t> </a:t>
            </a:r>
            <a:r>
              <a:rPr sz="1450" spc="-25" dirty="0">
                <a:latin typeface="Palatino Linotype"/>
                <a:cs typeface="Palatino Linotype"/>
              </a:rPr>
              <a:t>is 	</a:t>
            </a:r>
            <a:r>
              <a:rPr sz="1450" dirty="0">
                <a:latin typeface="Palatino Linotype"/>
                <a:cs typeface="Palatino Linotype"/>
              </a:rPr>
              <a:t>powered</a:t>
            </a:r>
            <a:r>
              <a:rPr sz="1450" spc="145" dirty="0">
                <a:latin typeface="Palatino Linotype"/>
                <a:cs typeface="Palatino Linotype"/>
              </a:rPr>
              <a:t>  </a:t>
            </a:r>
            <a:r>
              <a:rPr sz="1450" dirty="0">
                <a:latin typeface="Palatino Linotype"/>
                <a:cs typeface="Palatino Linotype"/>
              </a:rPr>
              <a:t>by</a:t>
            </a:r>
            <a:r>
              <a:rPr sz="1450" spc="145" dirty="0">
                <a:latin typeface="Palatino Linotype"/>
                <a:cs typeface="Palatino Linotype"/>
              </a:rPr>
              <a:t>  </a:t>
            </a:r>
            <a:r>
              <a:rPr sz="1450" dirty="0">
                <a:latin typeface="Palatino Linotype"/>
                <a:cs typeface="Palatino Linotype"/>
              </a:rPr>
              <a:t>VDD,</a:t>
            </a:r>
            <a:r>
              <a:rPr sz="1450" spc="45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which</a:t>
            </a:r>
            <a:r>
              <a:rPr sz="1450" spc="44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provides</a:t>
            </a:r>
            <a:r>
              <a:rPr sz="1450" spc="145" dirty="0">
                <a:latin typeface="Palatino Linotype"/>
                <a:cs typeface="Palatino Linotype"/>
              </a:rPr>
              <a:t>  </a:t>
            </a:r>
            <a:r>
              <a:rPr sz="1450" dirty="0">
                <a:latin typeface="Palatino Linotype"/>
                <a:cs typeface="Palatino Linotype"/>
              </a:rPr>
              <a:t>the</a:t>
            </a:r>
            <a:r>
              <a:rPr sz="1450" spc="45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input</a:t>
            </a:r>
            <a:r>
              <a:rPr sz="1450" spc="45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voltage.</a:t>
            </a:r>
            <a:r>
              <a:rPr sz="1450" spc="434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The</a:t>
            </a:r>
            <a:r>
              <a:rPr sz="1450" spc="44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MOSFETs</a:t>
            </a:r>
            <a:r>
              <a:rPr sz="1450" spc="145" dirty="0">
                <a:latin typeface="Palatino Linotype"/>
                <a:cs typeface="Palatino Linotype"/>
              </a:rPr>
              <a:t>  </a:t>
            </a:r>
            <a:r>
              <a:rPr sz="1450" dirty="0">
                <a:latin typeface="Palatino Linotype"/>
                <a:cs typeface="Palatino Linotype"/>
              </a:rPr>
              <a:t>function</a:t>
            </a:r>
            <a:r>
              <a:rPr sz="1450" spc="48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as</a:t>
            </a:r>
            <a:r>
              <a:rPr sz="1450" spc="445" dirty="0">
                <a:latin typeface="Palatino Linotype"/>
                <a:cs typeface="Palatino Linotype"/>
              </a:rPr>
              <a:t> </a:t>
            </a:r>
            <a:r>
              <a:rPr sz="1450" spc="-10" dirty="0">
                <a:latin typeface="Palatino Linotype"/>
                <a:cs typeface="Palatino Linotype"/>
              </a:rPr>
              <a:t>controlled 	</a:t>
            </a:r>
            <a:r>
              <a:rPr sz="1450" dirty="0">
                <a:latin typeface="Palatino Linotype"/>
                <a:cs typeface="Palatino Linotype"/>
              </a:rPr>
              <a:t>switches,</a:t>
            </a:r>
            <a:r>
              <a:rPr sz="1450" spc="14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enabling</a:t>
            </a:r>
            <a:r>
              <a:rPr sz="1450" spc="15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the</a:t>
            </a:r>
            <a:r>
              <a:rPr sz="1450" spc="15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inductors</a:t>
            </a:r>
            <a:r>
              <a:rPr sz="1450" spc="15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to</a:t>
            </a:r>
            <a:r>
              <a:rPr sz="1450" spc="15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store</a:t>
            </a:r>
            <a:r>
              <a:rPr sz="1450" spc="15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energy</a:t>
            </a:r>
            <a:r>
              <a:rPr sz="1450" spc="14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when</a:t>
            </a:r>
            <a:r>
              <a:rPr sz="1450" spc="15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turned</a:t>
            </a:r>
            <a:r>
              <a:rPr sz="1450" spc="14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ON.</a:t>
            </a:r>
            <a:r>
              <a:rPr sz="1450" spc="14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Once</a:t>
            </a:r>
            <a:r>
              <a:rPr sz="1450" spc="14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the</a:t>
            </a:r>
            <a:r>
              <a:rPr sz="1450" spc="15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MOSFETs</a:t>
            </a:r>
            <a:r>
              <a:rPr sz="1450" spc="14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turn</a:t>
            </a:r>
            <a:r>
              <a:rPr sz="1450" spc="140" dirty="0">
                <a:latin typeface="Palatino Linotype"/>
                <a:cs typeface="Palatino Linotype"/>
              </a:rPr>
              <a:t> </a:t>
            </a:r>
            <a:r>
              <a:rPr sz="1450" spc="-20" dirty="0">
                <a:latin typeface="Palatino Linotype"/>
                <a:cs typeface="Palatino Linotype"/>
              </a:rPr>
              <a:t>OFF, 	</a:t>
            </a:r>
            <a:r>
              <a:rPr sz="1450" dirty="0">
                <a:latin typeface="Palatino Linotype"/>
                <a:cs typeface="Palatino Linotype"/>
              </a:rPr>
              <a:t>the</a:t>
            </a:r>
            <a:r>
              <a:rPr sz="1450" spc="18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inductors</a:t>
            </a:r>
            <a:r>
              <a:rPr sz="1450" spc="18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release</a:t>
            </a:r>
            <a:r>
              <a:rPr sz="1450" spc="19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the</a:t>
            </a:r>
            <a:r>
              <a:rPr sz="1450" spc="204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stored</a:t>
            </a:r>
            <a:r>
              <a:rPr sz="1450" spc="20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energy,</a:t>
            </a:r>
            <a:r>
              <a:rPr sz="1450" spc="204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transferring</a:t>
            </a:r>
            <a:r>
              <a:rPr sz="1450" spc="19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it</a:t>
            </a:r>
            <a:r>
              <a:rPr sz="1450" spc="19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to</a:t>
            </a:r>
            <a:r>
              <a:rPr sz="1450" spc="19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the</a:t>
            </a:r>
            <a:r>
              <a:rPr sz="1450" spc="19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next</a:t>
            </a:r>
            <a:r>
              <a:rPr sz="1450" spc="19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stage</a:t>
            </a:r>
            <a:r>
              <a:rPr sz="1450" spc="204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through</a:t>
            </a:r>
            <a:r>
              <a:rPr sz="1450" spc="18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capacitors.</a:t>
            </a:r>
            <a:r>
              <a:rPr sz="1450" spc="190" dirty="0">
                <a:latin typeface="Palatino Linotype"/>
                <a:cs typeface="Palatino Linotype"/>
              </a:rPr>
              <a:t> </a:t>
            </a:r>
            <a:r>
              <a:rPr sz="1450" spc="-20" dirty="0">
                <a:latin typeface="Palatino Linotype"/>
                <a:cs typeface="Palatino Linotype"/>
              </a:rPr>
              <a:t>This 	</a:t>
            </a:r>
            <a:r>
              <a:rPr sz="1450" dirty="0">
                <a:latin typeface="Palatino Linotype"/>
                <a:cs typeface="Palatino Linotype"/>
              </a:rPr>
              <a:t>sequential</a:t>
            </a:r>
            <a:r>
              <a:rPr sz="1450" spc="19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process</a:t>
            </a:r>
            <a:r>
              <a:rPr sz="1450" spc="19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continues</a:t>
            </a:r>
            <a:r>
              <a:rPr sz="1450" spc="19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across</a:t>
            </a:r>
            <a:r>
              <a:rPr sz="1450" spc="19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multiple</a:t>
            </a:r>
            <a:r>
              <a:rPr sz="1450" spc="20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stages,</a:t>
            </a:r>
            <a:r>
              <a:rPr sz="1450" spc="20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progressively</a:t>
            </a:r>
            <a:r>
              <a:rPr sz="1450" spc="21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increasing</a:t>
            </a:r>
            <a:r>
              <a:rPr sz="1450" spc="21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the</a:t>
            </a:r>
            <a:r>
              <a:rPr sz="1450" spc="21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voltage</a:t>
            </a:r>
            <a:r>
              <a:rPr sz="1450" spc="22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step</a:t>
            </a:r>
            <a:r>
              <a:rPr sz="1450" spc="195" dirty="0">
                <a:latin typeface="Palatino Linotype"/>
                <a:cs typeface="Palatino Linotype"/>
              </a:rPr>
              <a:t> </a:t>
            </a:r>
            <a:r>
              <a:rPr sz="1450" spc="-25" dirty="0">
                <a:latin typeface="Palatino Linotype"/>
                <a:cs typeface="Palatino Linotype"/>
              </a:rPr>
              <a:t>by 	</a:t>
            </a:r>
            <a:r>
              <a:rPr sz="1450" dirty="0">
                <a:latin typeface="Palatino Linotype"/>
                <a:cs typeface="Palatino Linotype"/>
              </a:rPr>
              <a:t>step.Each</a:t>
            </a:r>
            <a:r>
              <a:rPr sz="1450" spc="254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stage</a:t>
            </a:r>
            <a:r>
              <a:rPr sz="1450" spc="26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consists</a:t>
            </a:r>
            <a:r>
              <a:rPr sz="1450" spc="27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of</a:t>
            </a:r>
            <a:r>
              <a:rPr sz="1450" spc="25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inductors,</a:t>
            </a:r>
            <a:r>
              <a:rPr sz="1450" spc="26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capacitors,</a:t>
            </a:r>
            <a:r>
              <a:rPr sz="1450" spc="26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and</a:t>
            </a:r>
            <a:r>
              <a:rPr sz="1450" spc="28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switching</a:t>
            </a:r>
            <a:r>
              <a:rPr sz="1450" spc="28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transistors,</a:t>
            </a:r>
            <a:r>
              <a:rPr sz="1450" spc="254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working</a:t>
            </a:r>
            <a:r>
              <a:rPr sz="1450" spc="28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together</a:t>
            </a:r>
            <a:r>
              <a:rPr sz="1450" spc="275" dirty="0">
                <a:latin typeface="Palatino Linotype"/>
                <a:cs typeface="Palatino Linotype"/>
              </a:rPr>
              <a:t> </a:t>
            </a:r>
            <a:r>
              <a:rPr sz="1450" spc="-25" dirty="0">
                <a:latin typeface="Palatino Linotype"/>
                <a:cs typeface="Palatino Linotype"/>
              </a:rPr>
              <a:t>to 	</a:t>
            </a:r>
            <a:r>
              <a:rPr sz="1450" dirty="0">
                <a:latin typeface="Palatino Linotype"/>
                <a:cs typeface="Palatino Linotype"/>
              </a:rPr>
              <a:t>ensure</a:t>
            </a:r>
            <a:r>
              <a:rPr sz="1450" spc="110" dirty="0">
                <a:latin typeface="Palatino Linotype"/>
                <a:cs typeface="Palatino Linotype"/>
              </a:rPr>
              <a:t>  </a:t>
            </a:r>
            <a:r>
              <a:rPr sz="1450" dirty="0">
                <a:latin typeface="Palatino Linotype"/>
                <a:cs typeface="Palatino Linotype"/>
              </a:rPr>
              <a:t>proper</a:t>
            </a:r>
            <a:r>
              <a:rPr sz="1450" spc="459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charge</a:t>
            </a:r>
            <a:r>
              <a:rPr sz="1450" spc="45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transfer</a:t>
            </a:r>
            <a:r>
              <a:rPr sz="1450" spc="105" dirty="0">
                <a:latin typeface="Palatino Linotype"/>
                <a:cs typeface="Palatino Linotype"/>
              </a:rPr>
              <a:t>  </a:t>
            </a:r>
            <a:r>
              <a:rPr sz="1450" dirty="0">
                <a:latin typeface="Palatino Linotype"/>
                <a:cs typeface="Palatino Linotype"/>
              </a:rPr>
              <a:t>and</a:t>
            </a:r>
            <a:r>
              <a:rPr sz="1450" spc="110" dirty="0">
                <a:latin typeface="Palatino Linotype"/>
                <a:cs typeface="Palatino Linotype"/>
              </a:rPr>
              <a:t>  </a:t>
            </a:r>
            <a:r>
              <a:rPr sz="1450" dirty="0">
                <a:latin typeface="Palatino Linotype"/>
                <a:cs typeface="Palatino Linotype"/>
              </a:rPr>
              <a:t>energy</a:t>
            </a:r>
            <a:r>
              <a:rPr sz="1450" spc="100" dirty="0">
                <a:latin typeface="Palatino Linotype"/>
                <a:cs typeface="Palatino Linotype"/>
              </a:rPr>
              <a:t>  </a:t>
            </a:r>
            <a:r>
              <a:rPr sz="1450" dirty="0">
                <a:latin typeface="Palatino Linotype"/>
                <a:cs typeface="Palatino Linotype"/>
              </a:rPr>
              <a:t>conversion.</a:t>
            </a:r>
            <a:r>
              <a:rPr sz="1450" spc="110" dirty="0">
                <a:latin typeface="Palatino Linotype"/>
                <a:cs typeface="Palatino Linotype"/>
              </a:rPr>
              <a:t>  </a:t>
            </a:r>
            <a:r>
              <a:rPr sz="1450" dirty="0">
                <a:latin typeface="Palatino Linotype"/>
                <a:cs typeface="Palatino Linotype"/>
              </a:rPr>
              <a:t>The</a:t>
            </a:r>
            <a:r>
              <a:rPr sz="1450" spc="110" dirty="0">
                <a:latin typeface="Palatino Linotype"/>
                <a:cs typeface="Palatino Linotype"/>
              </a:rPr>
              <a:t>  </a:t>
            </a:r>
            <a:r>
              <a:rPr sz="1450" dirty="0">
                <a:latin typeface="Palatino Linotype"/>
                <a:cs typeface="Palatino Linotype"/>
              </a:rPr>
              <a:t>capacitors</a:t>
            </a:r>
            <a:r>
              <a:rPr sz="1450" spc="105" dirty="0">
                <a:latin typeface="Palatino Linotype"/>
                <a:cs typeface="Palatino Linotype"/>
              </a:rPr>
              <a:t>  </a:t>
            </a:r>
            <a:r>
              <a:rPr sz="1450" dirty="0">
                <a:latin typeface="Palatino Linotype"/>
                <a:cs typeface="Palatino Linotype"/>
              </a:rPr>
              <a:t>act</a:t>
            </a:r>
            <a:r>
              <a:rPr sz="1450" spc="46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as</a:t>
            </a:r>
            <a:r>
              <a:rPr sz="1450" spc="46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charge</a:t>
            </a:r>
            <a:r>
              <a:rPr sz="1450" spc="450" dirty="0">
                <a:latin typeface="Palatino Linotype"/>
                <a:cs typeface="Palatino Linotype"/>
              </a:rPr>
              <a:t> </a:t>
            </a:r>
            <a:r>
              <a:rPr sz="1450" spc="-10" dirty="0">
                <a:latin typeface="Palatino Linotype"/>
                <a:cs typeface="Palatino Linotype"/>
              </a:rPr>
              <a:t>storage 	</a:t>
            </a:r>
            <a:r>
              <a:rPr sz="1450" dirty="0">
                <a:latin typeface="Palatino Linotype"/>
                <a:cs typeface="Palatino Linotype"/>
              </a:rPr>
              <a:t>elements,</a:t>
            </a:r>
            <a:r>
              <a:rPr sz="1450" spc="16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reducing</a:t>
            </a:r>
            <a:r>
              <a:rPr sz="1450" spc="16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voltage</a:t>
            </a:r>
            <a:r>
              <a:rPr sz="1450" spc="16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ripple</a:t>
            </a:r>
            <a:r>
              <a:rPr sz="1450" spc="15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and</a:t>
            </a:r>
            <a:r>
              <a:rPr sz="1450" spc="16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stabilizing</a:t>
            </a:r>
            <a:r>
              <a:rPr sz="1450" spc="17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the</a:t>
            </a:r>
            <a:r>
              <a:rPr sz="1450" spc="16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output.</a:t>
            </a:r>
            <a:r>
              <a:rPr sz="1450" spc="16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The</a:t>
            </a:r>
            <a:r>
              <a:rPr sz="1450" spc="15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final</a:t>
            </a:r>
            <a:r>
              <a:rPr sz="1450" spc="17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stage</a:t>
            </a:r>
            <a:r>
              <a:rPr sz="1450" spc="18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generates</a:t>
            </a:r>
            <a:r>
              <a:rPr sz="1450" spc="16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an</a:t>
            </a:r>
            <a:r>
              <a:rPr sz="1450" spc="165" dirty="0">
                <a:latin typeface="Palatino Linotype"/>
                <a:cs typeface="Palatino Linotype"/>
              </a:rPr>
              <a:t> </a:t>
            </a:r>
            <a:r>
              <a:rPr sz="1450" spc="-10" dirty="0">
                <a:latin typeface="Palatino Linotype"/>
                <a:cs typeface="Palatino Linotype"/>
              </a:rPr>
              <a:t>output 	</a:t>
            </a:r>
            <a:r>
              <a:rPr sz="1450" dirty="0">
                <a:latin typeface="Palatino Linotype"/>
                <a:cs typeface="Palatino Linotype"/>
              </a:rPr>
              <a:t>voltage</a:t>
            </a:r>
            <a:r>
              <a:rPr sz="1450" spc="20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(VOUT)</a:t>
            </a:r>
            <a:r>
              <a:rPr sz="1450" spc="19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that</a:t>
            </a:r>
            <a:r>
              <a:rPr sz="1450" spc="19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is</a:t>
            </a:r>
            <a:r>
              <a:rPr sz="1450" spc="204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significantly</a:t>
            </a:r>
            <a:r>
              <a:rPr sz="1450" spc="204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higher</a:t>
            </a:r>
            <a:r>
              <a:rPr sz="1450" spc="21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than</a:t>
            </a:r>
            <a:r>
              <a:rPr sz="1450" spc="19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the</a:t>
            </a:r>
            <a:r>
              <a:rPr sz="1450" spc="204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input</a:t>
            </a:r>
            <a:r>
              <a:rPr sz="1450" spc="19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voltage,</a:t>
            </a:r>
            <a:r>
              <a:rPr sz="1450" spc="20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depending</a:t>
            </a:r>
            <a:r>
              <a:rPr sz="1450" spc="19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on</a:t>
            </a:r>
            <a:r>
              <a:rPr sz="1450" spc="18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the</a:t>
            </a:r>
            <a:r>
              <a:rPr sz="1450" spc="204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number</a:t>
            </a:r>
            <a:r>
              <a:rPr sz="1450" spc="190" dirty="0">
                <a:latin typeface="Palatino Linotype"/>
                <a:cs typeface="Palatino Linotype"/>
              </a:rPr>
              <a:t> </a:t>
            </a:r>
            <a:r>
              <a:rPr sz="1450" spc="-25" dirty="0">
                <a:latin typeface="Palatino Linotype"/>
                <a:cs typeface="Palatino Linotype"/>
              </a:rPr>
              <a:t>of 	</a:t>
            </a:r>
            <a:r>
              <a:rPr sz="1450" dirty="0">
                <a:latin typeface="Palatino Linotype"/>
                <a:cs typeface="Palatino Linotype"/>
              </a:rPr>
              <a:t>charge</a:t>
            </a:r>
            <a:r>
              <a:rPr sz="1450" spc="16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pump</a:t>
            </a:r>
            <a:r>
              <a:rPr sz="1450" spc="17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stages.</a:t>
            </a:r>
            <a:r>
              <a:rPr sz="1450" spc="16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The</a:t>
            </a:r>
            <a:r>
              <a:rPr sz="1450" spc="16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circuit's</a:t>
            </a:r>
            <a:r>
              <a:rPr sz="1450" spc="17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efficiency</a:t>
            </a:r>
            <a:r>
              <a:rPr sz="1450" spc="15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is</a:t>
            </a:r>
            <a:r>
              <a:rPr sz="1450" spc="17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influenced</a:t>
            </a:r>
            <a:r>
              <a:rPr sz="1450" spc="16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by</a:t>
            </a:r>
            <a:r>
              <a:rPr sz="1450" spc="17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factors</a:t>
            </a:r>
            <a:r>
              <a:rPr sz="1450" spc="15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such</a:t>
            </a:r>
            <a:r>
              <a:rPr sz="1450" spc="15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as</a:t>
            </a:r>
            <a:r>
              <a:rPr sz="1450" spc="15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switching</a:t>
            </a:r>
            <a:r>
              <a:rPr sz="1450" spc="170" dirty="0">
                <a:latin typeface="Palatino Linotype"/>
                <a:cs typeface="Palatino Linotype"/>
              </a:rPr>
              <a:t> </a:t>
            </a:r>
            <a:r>
              <a:rPr sz="1450" spc="-10" dirty="0">
                <a:latin typeface="Palatino Linotype"/>
                <a:cs typeface="Palatino Linotype"/>
              </a:rPr>
              <a:t>frequency, 	</a:t>
            </a:r>
            <a:r>
              <a:rPr sz="1450" dirty="0">
                <a:latin typeface="Palatino Linotype"/>
                <a:cs typeface="Palatino Linotype"/>
              </a:rPr>
              <a:t>inductor</a:t>
            </a:r>
            <a:r>
              <a:rPr sz="1450" spc="21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selection,</a:t>
            </a:r>
            <a:r>
              <a:rPr sz="1450" spc="24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and</a:t>
            </a:r>
            <a:r>
              <a:rPr sz="1450" spc="19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MOSFET</a:t>
            </a:r>
            <a:r>
              <a:rPr sz="1450" spc="20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conduction</a:t>
            </a:r>
            <a:r>
              <a:rPr sz="1450" spc="22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losses.</a:t>
            </a:r>
            <a:r>
              <a:rPr sz="1450" spc="204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Proper</a:t>
            </a:r>
            <a:r>
              <a:rPr sz="1450" spc="20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design</a:t>
            </a:r>
            <a:r>
              <a:rPr sz="1450" spc="22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optimization,</a:t>
            </a:r>
            <a:r>
              <a:rPr sz="1450" spc="204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including</a:t>
            </a:r>
            <a:r>
              <a:rPr sz="1450" spc="235" dirty="0">
                <a:latin typeface="Palatino Linotype"/>
                <a:cs typeface="Palatino Linotype"/>
              </a:rPr>
              <a:t> </a:t>
            </a:r>
            <a:r>
              <a:rPr sz="1450" spc="-20" dirty="0">
                <a:latin typeface="Palatino Linotype"/>
                <a:cs typeface="Palatino Linotype"/>
              </a:rPr>
              <a:t>low-</a:t>
            </a:r>
            <a:endParaRPr sz="145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172" y="1481806"/>
            <a:ext cx="298005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30" dirty="0"/>
              <a:t> </a:t>
            </a:r>
            <a:r>
              <a:rPr spc="-10" dirty="0"/>
              <a:t>Method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57733" y="6177533"/>
            <a:ext cx="510540" cy="386080"/>
            <a:chOff x="157733" y="6177533"/>
            <a:chExt cx="510540" cy="386080"/>
          </a:xfrm>
        </p:grpSpPr>
        <p:sp>
          <p:nvSpPr>
            <p:cNvPr id="6" name="object 6"/>
            <p:cNvSpPr/>
            <p:nvPr/>
          </p:nvSpPr>
          <p:spPr>
            <a:xfrm>
              <a:off x="161544" y="6181344"/>
              <a:ext cx="502920" cy="378460"/>
            </a:xfrm>
            <a:custGeom>
              <a:avLst/>
              <a:gdLst/>
              <a:ahLst/>
              <a:cxnLst/>
              <a:rect l="l" t="t" r="r" b="b"/>
              <a:pathLst>
                <a:path w="502920" h="378459">
                  <a:moveTo>
                    <a:pt x="251459" y="377951"/>
                  </a:moveTo>
                  <a:lnTo>
                    <a:pt x="201167" y="374903"/>
                  </a:lnTo>
                  <a:lnTo>
                    <a:pt x="153923" y="364235"/>
                  </a:lnTo>
                  <a:lnTo>
                    <a:pt x="111251" y="345947"/>
                  </a:lnTo>
                  <a:lnTo>
                    <a:pt x="74676" y="323087"/>
                  </a:lnTo>
                  <a:lnTo>
                    <a:pt x="44195" y="295655"/>
                  </a:lnTo>
                  <a:lnTo>
                    <a:pt x="19811" y="263651"/>
                  </a:lnTo>
                  <a:lnTo>
                    <a:pt x="6095" y="227075"/>
                  </a:lnTo>
                  <a:lnTo>
                    <a:pt x="0" y="188975"/>
                  </a:lnTo>
                  <a:lnTo>
                    <a:pt x="6095" y="152399"/>
                  </a:lnTo>
                  <a:lnTo>
                    <a:pt x="19811" y="115823"/>
                  </a:lnTo>
                  <a:lnTo>
                    <a:pt x="44195" y="83820"/>
                  </a:lnTo>
                  <a:lnTo>
                    <a:pt x="74676" y="56388"/>
                  </a:lnTo>
                  <a:lnTo>
                    <a:pt x="111251" y="33527"/>
                  </a:lnTo>
                  <a:lnTo>
                    <a:pt x="153923" y="15239"/>
                  </a:lnTo>
                  <a:lnTo>
                    <a:pt x="201167" y="4571"/>
                  </a:lnTo>
                  <a:lnTo>
                    <a:pt x="251459" y="0"/>
                  </a:lnTo>
                  <a:lnTo>
                    <a:pt x="303275" y="4571"/>
                  </a:lnTo>
                  <a:lnTo>
                    <a:pt x="350520" y="15239"/>
                  </a:lnTo>
                  <a:lnTo>
                    <a:pt x="393191" y="33527"/>
                  </a:lnTo>
                  <a:lnTo>
                    <a:pt x="429767" y="56388"/>
                  </a:lnTo>
                  <a:lnTo>
                    <a:pt x="460247" y="83820"/>
                  </a:lnTo>
                  <a:lnTo>
                    <a:pt x="483108" y="115823"/>
                  </a:lnTo>
                  <a:lnTo>
                    <a:pt x="498347" y="152399"/>
                  </a:lnTo>
                  <a:lnTo>
                    <a:pt x="502919" y="188975"/>
                  </a:lnTo>
                  <a:lnTo>
                    <a:pt x="498347" y="227075"/>
                  </a:lnTo>
                  <a:lnTo>
                    <a:pt x="483108" y="263651"/>
                  </a:lnTo>
                  <a:lnTo>
                    <a:pt x="460247" y="295655"/>
                  </a:lnTo>
                  <a:lnTo>
                    <a:pt x="429767" y="323087"/>
                  </a:lnTo>
                  <a:lnTo>
                    <a:pt x="393191" y="345947"/>
                  </a:lnTo>
                  <a:lnTo>
                    <a:pt x="350520" y="364235"/>
                  </a:lnTo>
                  <a:lnTo>
                    <a:pt x="303275" y="374903"/>
                  </a:lnTo>
                  <a:lnTo>
                    <a:pt x="251459" y="377951"/>
                  </a:lnTo>
                  <a:close/>
                </a:path>
              </a:pathLst>
            </a:custGeom>
            <a:solidFill>
              <a:srgbClr val="0E5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1543" y="6181343"/>
              <a:ext cx="502920" cy="378460"/>
            </a:xfrm>
            <a:custGeom>
              <a:avLst/>
              <a:gdLst/>
              <a:ahLst/>
              <a:cxnLst/>
              <a:rect l="l" t="t" r="r" b="b"/>
              <a:pathLst>
                <a:path w="502920" h="378459">
                  <a:moveTo>
                    <a:pt x="0" y="188975"/>
                  </a:moveTo>
                  <a:lnTo>
                    <a:pt x="19812" y="115823"/>
                  </a:lnTo>
                  <a:lnTo>
                    <a:pt x="44195" y="83819"/>
                  </a:lnTo>
                  <a:lnTo>
                    <a:pt x="74676" y="56387"/>
                  </a:lnTo>
                  <a:lnTo>
                    <a:pt x="111252" y="33527"/>
                  </a:lnTo>
                  <a:lnTo>
                    <a:pt x="153924" y="15239"/>
                  </a:lnTo>
                  <a:lnTo>
                    <a:pt x="201168" y="4571"/>
                  </a:lnTo>
                  <a:lnTo>
                    <a:pt x="251459" y="0"/>
                  </a:lnTo>
                  <a:lnTo>
                    <a:pt x="303276" y="4571"/>
                  </a:lnTo>
                  <a:lnTo>
                    <a:pt x="350519" y="15239"/>
                  </a:lnTo>
                  <a:lnTo>
                    <a:pt x="393191" y="33527"/>
                  </a:lnTo>
                  <a:lnTo>
                    <a:pt x="429767" y="56387"/>
                  </a:lnTo>
                  <a:lnTo>
                    <a:pt x="460248" y="83819"/>
                  </a:lnTo>
                  <a:lnTo>
                    <a:pt x="483108" y="115823"/>
                  </a:lnTo>
                  <a:lnTo>
                    <a:pt x="498348" y="152399"/>
                  </a:lnTo>
                  <a:lnTo>
                    <a:pt x="502919" y="188975"/>
                  </a:lnTo>
                  <a:lnTo>
                    <a:pt x="498348" y="227075"/>
                  </a:lnTo>
                  <a:lnTo>
                    <a:pt x="483108" y="263651"/>
                  </a:lnTo>
                  <a:lnTo>
                    <a:pt x="460248" y="295655"/>
                  </a:lnTo>
                  <a:lnTo>
                    <a:pt x="429767" y="323088"/>
                  </a:lnTo>
                  <a:lnTo>
                    <a:pt x="393191" y="345947"/>
                  </a:lnTo>
                  <a:lnTo>
                    <a:pt x="350519" y="364235"/>
                  </a:lnTo>
                  <a:lnTo>
                    <a:pt x="303276" y="374903"/>
                  </a:lnTo>
                  <a:lnTo>
                    <a:pt x="251459" y="377951"/>
                  </a:lnTo>
                  <a:lnTo>
                    <a:pt x="201168" y="374903"/>
                  </a:lnTo>
                  <a:lnTo>
                    <a:pt x="153924" y="364235"/>
                  </a:lnTo>
                  <a:lnTo>
                    <a:pt x="111252" y="345947"/>
                  </a:lnTo>
                  <a:lnTo>
                    <a:pt x="74676" y="323088"/>
                  </a:lnTo>
                  <a:lnTo>
                    <a:pt x="44195" y="295655"/>
                  </a:lnTo>
                  <a:lnTo>
                    <a:pt x="19812" y="263651"/>
                  </a:lnTo>
                  <a:lnTo>
                    <a:pt x="6096" y="227075"/>
                  </a:lnTo>
                  <a:lnTo>
                    <a:pt x="0" y="188975"/>
                  </a:lnTo>
                </a:path>
              </a:pathLst>
            </a:custGeom>
            <a:ln w="7620">
              <a:solidFill>
                <a:srgbClr val="0E56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3792" y="1182624"/>
            <a:ext cx="818387" cy="70256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19555" y="6263870"/>
            <a:ext cx="208279" cy="203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spc="-25" dirty="0">
                <a:solidFill>
                  <a:srgbClr val="FFFFFF"/>
                </a:solidFill>
                <a:latin typeface="Verdana"/>
                <a:cs typeface="Verdana"/>
              </a:rPr>
              <a:t>12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4874" y="6463417"/>
            <a:ext cx="8124825" cy="213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5"/>
              </a:lnSpc>
            </a:pPr>
            <a:r>
              <a:rPr sz="1450" dirty="0">
                <a:latin typeface="Palatino Linotype"/>
                <a:cs typeface="Palatino Linotype"/>
              </a:rPr>
              <a:t>loss</a:t>
            </a:r>
            <a:r>
              <a:rPr sz="1450" spc="42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components</a:t>
            </a:r>
            <a:r>
              <a:rPr sz="1450" spc="47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and</a:t>
            </a:r>
            <a:r>
              <a:rPr sz="1450" spc="47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an</a:t>
            </a:r>
            <a:r>
              <a:rPr sz="1450" spc="459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efficient</a:t>
            </a:r>
            <a:r>
              <a:rPr sz="1450" spc="495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control</a:t>
            </a:r>
            <a:r>
              <a:rPr sz="1450" spc="459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mechanism,</a:t>
            </a:r>
            <a:r>
              <a:rPr sz="1450" spc="48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ensures</a:t>
            </a:r>
            <a:r>
              <a:rPr sz="1450" spc="47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stable</a:t>
            </a:r>
            <a:r>
              <a:rPr sz="1450" spc="450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voltage</a:t>
            </a:r>
            <a:r>
              <a:rPr sz="1450" spc="459" dirty="0">
                <a:latin typeface="Palatino Linotype"/>
                <a:cs typeface="Palatino Linotype"/>
              </a:rPr>
              <a:t> </a:t>
            </a:r>
            <a:r>
              <a:rPr sz="1450" dirty="0">
                <a:latin typeface="Palatino Linotype"/>
                <a:cs typeface="Palatino Linotype"/>
              </a:rPr>
              <a:t>regulation</a:t>
            </a:r>
            <a:r>
              <a:rPr sz="1450" spc="490" dirty="0">
                <a:latin typeface="Palatino Linotype"/>
                <a:cs typeface="Palatino Linotype"/>
              </a:rPr>
              <a:t> </a:t>
            </a:r>
            <a:r>
              <a:rPr sz="1450" spc="-25" dirty="0">
                <a:latin typeface="Palatino Linotype"/>
                <a:cs typeface="Palatino Linotype"/>
              </a:rPr>
              <a:t>and</a:t>
            </a:r>
            <a:endParaRPr sz="14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4926" rIns="0" bIns="0" rtlCol="0">
            <a:spAutoFit/>
          </a:bodyPr>
          <a:lstStyle/>
          <a:p>
            <a:pPr marL="1530350">
              <a:lnSpc>
                <a:spcPct val="100000"/>
              </a:lnSpc>
              <a:spcBef>
                <a:spcPts val="100"/>
              </a:spcBef>
            </a:pPr>
            <a:r>
              <a:rPr sz="2650" dirty="0"/>
              <a:t>Explanation</a:t>
            </a:r>
            <a:r>
              <a:rPr sz="2650" spc="-110" dirty="0"/>
              <a:t> </a:t>
            </a:r>
            <a:r>
              <a:rPr sz="2650" dirty="0"/>
              <a:t>of</a:t>
            </a:r>
            <a:r>
              <a:rPr sz="2650" spc="-85" dirty="0"/>
              <a:t> </a:t>
            </a:r>
            <a:r>
              <a:rPr sz="2650" spc="-10" dirty="0"/>
              <a:t>Proposed</a:t>
            </a:r>
            <a:r>
              <a:rPr sz="2650" spc="-160" dirty="0"/>
              <a:t> </a:t>
            </a:r>
            <a:r>
              <a:rPr sz="2650" spc="-20" dirty="0"/>
              <a:t>Work</a:t>
            </a:r>
            <a:endParaRPr sz="26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3792" y="1182624"/>
            <a:ext cx="818387" cy="7025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45520" y="2351590"/>
            <a:ext cx="8454390" cy="386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The</a:t>
            </a:r>
            <a:r>
              <a:rPr sz="1400" spc="1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optimization</a:t>
            </a:r>
            <a:r>
              <a:rPr sz="1400" spc="1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inductor-</a:t>
            </a:r>
            <a:r>
              <a:rPr sz="1400" dirty="0">
                <a:latin typeface="Arial MT"/>
                <a:cs typeface="Arial MT"/>
              </a:rPr>
              <a:t>based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Dickson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charge</a:t>
            </a:r>
            <a:r>
              <a:rPr sz="1400" spc="1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pump</a:t>
            </a:r>
            <a:r>
              <a:rPr sz="1400" spc="1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1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low-</a:t>
            </a:r>
            <a:r>
              <a:rPr sz="1400" dirty="0">
                <a:latin typeface="Arial MT"/>
                <a:cs typeface="Arial MT"/>
              </a:rPr>
              <a:t>power</a:t>
            </a:r>
            <a:r>
              <a:rPr sz="1400" spc="1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applications</a:t>
            </a:r>
            <a:r>
              <a:rPr sz="1400" spc="1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involves</a:t>
            </a:r>
            <a:r>
              <a:rPr sz="1400" spc="1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multiple </a:t>
            </a:r>
            <a:r>
              <a:rPr sz="1400" dirty="0">
                <a:latin typeface="Arial MT"/>
                <a:cs typeface="Arial MT"/>
              </a:rPr>
              <a:t>design enhancements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improve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efficiency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minimize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power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losses.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Firstly,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selecting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high-</a:t>
            </a:r>
            <a:r>
              <a:rPr sz="1400" dirty="0">
                <a:latin typeface="Arial MT"/>
                <a:cs typeface="Arial MT"/>
              </a:rPr>
              <a:t>Q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inductor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crucial</a:t>
            </a:r>
            <a:r>
              <a:rPr sz="1400" spc="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reduce</a:t>
            </a:r>
            <a:r>
              <a:rPr sz="1400" spc="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resistive</a:t>
            </a:r>
            <a:r>
              <a:rPr sz="1400" spc="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losses,</a:t>
            </a:r>
            <a:r>
              <a:rPr sz="1400" spc="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using</a:t>
            </a:r>
            <a:r>
              <a:rPr sz="1400" spc="7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on-</a:t>
            </a:r>
            <a:r>
              <a:rPr sz="1400" dirty="0">
                <a:latin typeface="Arial MT"/>
                <a:cs typeface="Arial MT"/>
              </a:rPr>
              <a:t>chip</a:t>
            </a:r>
            <a:r>
              <a:rPr sz="1400" spc="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spiral</a:t>
            </a:r>
            <a:r>
              <a:rPr sz="1400" spc="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or</a:t>
            </a:r>
            <a:r>
              <a:rPr sz="1400" spc="8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bond-</a:t>
            </a:r>
            <a:r>
              <a:rPr sz="1400" dirty="0">
                <a:latin typeface="Arial MT"/>
                <a:cs typeface="Arial MT"/>
              </a:rPr>
              <a:t>wire</a:t>
            </a:r>
            <a:r>
              <a:rPr sz="1400" spc="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inductors</a:t>
            </a:r>
            <a:r>
              <a:rPr sz="1400" spc="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enhances</a:t>
            </a:r>
            <a:r>
              <a:rPr sz="1400" spc="6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integration. </a:t>
            </a:r>
            <a:r>
              <a:rPr sz="1400" dirty="0">
                <a:latin typeface="Arial MT"/>
                <a:cs typeface="Arial MT"/>
              </a:rPr>
              <a:t>Switching</a:t>
            </a:r>
            <a:r>
              <a:rPr sz="1400" spc="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strategy</a:t>
            </a:r>
            <a:r>
              <a:rPr sz="1400" spc="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optimization</a:t>
            </a:r>
            <a:r>
              <a:rPr sz="1400" spc="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plays</a:t>
            </a:r>
            <a:r>
              <a:rPr sz="1400" spc="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vital</a:t>
            </a:r>
            <a:r>
              <a:rPr sz="1400" spc="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role,</a:t>
            </a:r>
            <a:r>
              <a:rPr sz="1400" spc="1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where</a:t>
            </a:r>
            <a:r>
              <a:rPr sz="1400" spc="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techniques</a:t>
            </a:r>
            <a:r>
              <a:rPr sz="1400" spc="1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like</a:t>
            </a:r>
            <a:r>
              <a:rPr sz="1400" spc="7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zero-</a:t>
            </a:r>
            <a:r>
              <a:rPr sz="1400" dirty="0">
                <a:latin typeface="Arial MT"/>
                <a:cs typeface="Arial MT"/>
              </a:rPr>
              <a:t>voltage</a:t>
            </a:r>
            <a:r>
              <a:rPr sz="1400" spc="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switching</a:t>
            </a:r>
            <a:r>
              <a:rPr sz="1400" spc="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(ZVS)</a:t>
            </a:r>
            <a:r>
              <a:rPr sz="1400" spc="11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and </a:t>
            </a:r>
            <a:r>
              <a:rPr sz="1400" spc="-10" dirty="0">
                <a:latin typeface="Arial MT"/>
                <a:cs typeface="Arial MT"/>
              </a:rPr>
              <a:t>zero-</a:t>
            </a:r>
            <a:r>
              <a:rPr sz="1400" dirty="0">
                <a:latin typeface="Arial MT"/>
                <a:cs typeface="Arial MT"/>
              </a:rPr>
              <a:t>current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switching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(ZCS)</a:t>
            </a:r>
            <a:r>
              <a:rPr sz="1400" spc="1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help</a:t>
            </a:r>
            <a:r>
              <a:rPr sz="1400" spc="1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reduce</a:t>
            </a:r>
            <a:r>
              <a:rPr sz="1400" spc="1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switching</a:t>
            </a:r>
            <a:r>
              <a:rPr sz="1400" spc="1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losses.</a:t>
            </a:r>
            <a:r>
              <a:rPr sz="1400" spc="1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Additionally,</a:t>
            </a:r>
            <a:r>
              <a:rPr sz="1400" spc="1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replacing</a:t>
            </a:r>
            <a:r>
              <a:rPr sz="1400" spc="1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diodes</a:t>
            </a:r>
            <a:r>
              <a:rPr sz="1400" spc="1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MOSFET- </a:t>
            </a:r>
            <a:r>
              <a:rPr sz="1400" dirty="0">
                <a:latin typeface="Arial MT"/>
                <a:cs typeface="Arial MT"/>
              </a:rPr>
              <a:t>based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synchronous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rectifiers</a:t>
            </a:r>
            <a:r>
              <a:rPr sz="1400" spc="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lowers</a:t>
            </a:r>
            <a:r>
              <a:rPr sz="1400" spc="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conduction</a:t>
            </a:r>
            <a:r>
              <a:rPr sz="1400" spc="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losses.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Proper</a:t>
            </a:r>
            <a:r>
              <a:rPr sz="1400" spc="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transistor</a:t>
            </a:r>
            <a:r>
              <a:rPr sz="1400" spc="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sizing,</a:t>
            </a:r>
            <a:r>
              <a:rPr sz="1400" spc="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particularly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optimizing</a:t>
            </a:r>
            <a:r>
              <a:rPr sz="1400" spc="5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the </a:t>
            </a:r>
            <a:r>
              <a:rPr sz="1400" spc="-10" dirty="0">
                <a:latin typeface="Arial MT"/>
                <a:cs typeface="Arial MT"/>
              </a:rPr>
              <a:t>width-to-</a:t>
            </a:r>
            <a:r>
              <a:rPr sz="1400" dirty="0">
                <a:latin typeface="Arial MT"/>
                <a:cs typeface="Arial MT"/>
              </a:rPr>
              <a:t>length</a:t>
            </a:r>
            <a:r>
              <a:rPr sz="1400" spc="3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(W/L)</a:t>
            </a:r>
            <a:r>
              <a:rPr sz="1400" spc="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ratio</a:t>
            </a:r>
            <a:r>
              <a:rPr sz="1400" spc="3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3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using</a:t>
            </a:r>
            <a:r>
              <a:rPr sz="1400" spc="37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low-</a:t>
            </a:r>
            <a:r>
              <a:rPr sz="1400" dirty="0">
                <a:latin typeface="Arial MT"/>
                <a:cs typeface="Arial MT"/>
              </a:rPr>
              <a:t>threshold</a:t>
            </a:r>
            <a:r>
              <a:rPr sz="1400" spc="3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voltage</a:t>
            </a:r>
            <a:r>
              <a:rPr sz="1400" spc="3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(Vth)</a:t>
            </a:r>
            <a:r>
              <a:rPr sz="1400" spc="3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transistors,</a:t>
            </a:r>
            <a:r>
              <a:rPr sz="1400" spc="3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ensures</a:t>
            </a:r>
            <a:r>
              <a:rPr sz="1400" spc="3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efficient</a:t>
            </a:r>
            <a:r>
              <a:rPr sz="1400" spc="37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charge </a:t>
            </a:r>
            <a:r>
              <a:rPr sz="1400" dirty="0">
                <a:latin typeface="Arial MT"/>
                <a:cs typeface="Arial MT"/>
              </a:rPr>
              <a:t>transfer</a:t>
            </a:r>
            <a:r>
              <a:rPr sz="1400" spc="1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1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minimal</a:t>
            </a:r>
            <a:r>
              <a:rPr sz="1400" spc="1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losses.</a:t>
            </a:r>
            <a:r>
              <a:rPr sz="1400" spc="1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1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clocking</a:t>
            </a:r>
            <a:r>
              <a:rPr sz="1400" spc="1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scheme</a:t>
            </a:r>
            <a:r>
              <a:rPr sz="1400" spc="1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can</a:t>
            </a:r>
            <a:r>
              <a:rPr sz="1400" spc="1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be</a:t>
            </a:r>
            <a:r>
              <a:rPr sz="1400" spc="1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improved</a:t>
            </a:r>
            <a:r>
              <a:rPr sz="1400" spc="1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by</a:t>
            </a:r>
            <a:r>
              <a:rPr sz="1400" spc="1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implementing</a:t>
            </a:r>
            <a:r>
              <a:rPr sz="1400" spc="1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adaptive</a:t>
            </a:r>
            <a:r>
              <a:rPr sz="1400" spc="1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frequency </a:t>
            </a:r>
            <a:r>
              <a:rPr sz="1400" dirty="0">
                <a:latin typeface="Arial MT"/>
                <a:cs typeface="Arial MT"/>
              </a:rPr>
              <a:t>control</a:t>
            </a:r>
            <a:r>
              <a:rPr sz="1400" spc="2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adjust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2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pump’s</a:t>
            </a:r>
            <a:r>
              <a:rPr sz="1400" spc="2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performance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based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on</a:t>
            </a:r>
            <a:r>
              <a:rPr sz="1400" spc="2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load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conditions,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along</a:t>
            </a:r>
            <a:r>
              <a:rPr sz="1400" spc="2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non-</a:t>
            </a:r>
            <a:r>
              <a:rPr sz="1400" dirty="0">
                <a:latin typeface="Arial MT"/>
                <a:cs typeface="Arial MT"/>
              </a:rPr>
              <a:t>overlapping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clock </a:t>
            </a:r>
            <a:r>
              <a:rPr sz="1400" dirty="0">
                <a:latin typeface="Arial MT"/>
                <a:cs typeface="Arial MT"/>
              </a:rPr>
              <a:t>phases</a:t>
            </a:r>
            <a:r>
              <a:rPr sz="1400" spc="4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43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prevent</a:t>
            </a:r>
            <a:r>
              <a:rPr sz="1400" spc="43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charge</a:t>
            </a:r>
            <a:r>
              <a:rPr sz="1400" spc="4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sharing</a:t>
            </a:r>
            <a:r>
              <a:rPr sz="1400" spc="4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losses.</a:t>
            </a:r>
            <a:r>
              <a:rPr sz="1400" spc="4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Capacitor</a:t>
            </a:r>
            <a:r>
              <a:rPr sz="1400" spc="4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selection</a:t>
            </a:r>
            <a:r>
              <a:rPr sz="1400" spc="43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4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another</a:t>
            </a:r>
            <a:r>
              <a:rPr sz="1400" spc="4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critical</a:t>
            </a:r>
            <a:r>
              <a:rPr sz="1400" spc="4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factor;</a:t>
            </a:r>
            <a:r>
              <a:rPr sz="1400" spc="4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high-density </a:t>
            </a:r>
            <a:r>
              <a:rPr sz="1400" dirty="0">
                <a:latin typeface="Arial MT"/>
                <a:cs typeface="Arial MT"/>
              </a:rPr>
              <a:t>capacitors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improve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charge</a:t>
            </a:r>
            <a:r>
              <a:rPr sz="1400" spc="1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storage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efficiency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while</a:t>
            </a:r>
            <a:r>
              <a:rPr sz="1400" spc="1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optimizing</a:t>
            </a:r>
            <a:r>
              <a:rPr sz="1400" spc="1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their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values</a:t>
            </a:r>
            <a:r>
              <a:rPr sz="1400" spc="1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helps</a:t>
            </a:r>
            <a:r>
              <a:rPr sz="1400" spc="1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minimize</a:t>
            </a:r>
            <a:r>
              <a:rPr sz="1400" spc="1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voltage</a:t>
            </a:r>
            <a:r>
              <a:rPr sz="1400" spc="16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ripple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enhance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charge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transfer.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4926" rIns="0" bIns="0" rtlCol="0">
            <a:spAutoFit/>
          </a:bodyPr>
          <a:lstStyle/>
          <a:p>
            <a:pPr marL="1530350">
              <a:lnSpc>
                <a:spcPct val="100000"/>
              </a:lnSpc>
              <a:spcBef>
                <a:spcPts val="100"/>
              </a:spcBef>
            </a:pPr>
            <a:r>
              <a:rPr sz="2650" dirty="0"/>
              <a:t>Explanation</a:t>
            </a:r>
            <a:r>
              <a:rPr sz="2650" spc="-110" dirty="0"/>
              <a:t> </a:t>
            </a:r>
            <a:r>
              <a:rPr sz="2650" dirty="0"/>
              <a:t>of</a:t>
            </a:r>
            <a:r>
              <a:rPr sz="2650" spc="-85" dirty="0"/>
              <a:t> </a:t>
            </a:r>
            <a:r>
              <a:rPr sz="2650" spc="-10" dirty="0"/>
              <a:t>Proposed</a:t>
            </a:r>
            <a:r>
              <a:rPr sz="2650" spc="-160" dirty="0"/>
              <a:t> </a:t>
            </a:r>
            <a:r>
              <a:rPr sz="2650" spc="-20" dirty="0"/>
              <a:t>Work</a:t>
            </a:r>
            <a:endParaRPr sz="26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3792" y="1182624"/>
            <a:ext cx="818387" cy="7025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25110" y="2841799"/>
            <a:ext cx="8270240" cy="2799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Furthermore,</a:t>
            </a:r>
            <a:r>
              <a:rPr sz="1400" spc="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reducing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parasitic</a:t>
            </a:r>
            <a:r>
              <a:rPr sz="1400" spc="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effects,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such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as</a:t>
            </a:r>
            <a:r>
              <a:rPr sz="1400" spc="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capacitance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resistance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layout,</a:t>
            </a:r>
            <a:r>
              <a:rPr sz="1400" spc="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contributes</a:t>
            </a:r>
            <a:r>
              <a:rPr sz="1400" spc="5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to</a:t>
            </a:r>
            <a:endParaRPr sz="1400">
              <a:latin typeface="Arial MT"/>
              <a:cs typeface="Arial MT"/>
            </a:endParaRPr>
          </a:p>
          <a:p>
            <a:pPr marL="12700" marR="5080" algn="just">
              <a:lnSpc>
                <a:spcPct val="200000"/>
              </a:lnSpc>
            </a:pPr>
            <a:r>
              <a:rPr sz="1400" dirty="0">
                <a:latin typeface="Arial MT"/>
                <a:cs typeface="Arial MT"/>
              </a:rPr>
              <a:t>overall</a:t>
            </a:r>
            <a:r>
              <a:rPr sz="1400" spc="1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efficiency,</a:t>
            </a:r>
            <a:r>
              <a:rPr sz="1400" spc="20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shielding</a:t>
            </a:r>
            <a:r>
              <a:rPr sz="1400" spc="1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techniques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can</a:t>
            </a:r>
            <a:r>
              <a:rPr sz="1400" spc="1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be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employed</a:t>
            </a:r>
            <a:r>
              <a:rPr sz="1400" spc="1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1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mitigate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electromagnetic</a:t>
            </a:r>
            <a:r>
              <a:rPr sz="1400" spc="20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interference </a:t>
            </a:r>
            <a:r>
              <a:rPr sz="1400" dirty="0">
                <a:latin typeface="Arial MT"/>
                <a:cs typeface="Arial MT"/>
              </a:rPr>
              <a:t>(EMI).</a:t>
            </a:r>
            <a:r>
              <a:rPr sz="1400" spc="1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Lastly,</a:t>
            </a:r>
            <a:r>
              <a:rPr sz="1400" spc="1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adaptive</a:t>
            </a:r>
            <a:r>
              <a:rPr sz="1400" spc="1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biasing</a:t>
            </a:r>
            <a:r>
              <a:rPr sz="1400" spc="1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circuits</a:t>
            </a:r>
            <a:r>
              <a:rPr sz="1400" spc="1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1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feedback</a:t>
            </a:r>
            <a:r>
              <a:rPr sz="1400" spc="1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regulation</a:t>
            </a:r>
            <a:r>
              <a:rPr sz="1400" spc="1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mechanisms</a:t>
            </a:r>
            <a:r>
              <a:rPr sz="1400" spc="1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dynamically</a:t>
            </a:r>
            <a:r>
              <a:rPr sz="1400" spc="1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adjust</a:t>
            </a:r>
            <a:r>
              <a:rPr sz="1400" spc="1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power </a:t>
            </a:r>
            <a:r>
              <a:rPr sz="1400" dirty="0">
                <a:latin typeface="Arial MT"/>
                <a:cs typeface="Arial MT"/>
              </a:rPr>
              <a:t>consumption</a:t>
            </a:r>
            <a:r>
              <a:rPr sz="1400" spc="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6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maintain</a:t>
            </a:r>
            <a:r>
              <a:rPr sz="1400" spc="6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6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stable</a:t>
            </a:r>
            <a:r>
              <a:rPr sz="1400" spc="6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output</a:t>
            </a:r>
            <a:r>
              <a:rPr sz="1400" spc="7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voltage,</a:t>
            </a:r>
            <a:r>
              <a:rPr sz="1400" spc="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ensuring</a:t>
            </a:r>
            <a:r>
              <a:rPr sz="1400" spc="7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optimal</a:t>
            </a:r>
            <a:r>
              <a:rPr sz="1400" spc="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performance</a:t>
            </a:r>
            <a:r>
              <a:rPr sz="1400" spc="6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70" dirty="0">
                <a:latin typeface="Arial MT"/>
                <a:cs typeface="Arial MT"/>
              </a:rPr>
              <a:t>  </a:t>
            </a:r>
            <a:r>
              <a:rPr sz="1400" spc="-10" dirty="0">
                <a:latin typeface="Arial MT"/>
                <a:cs typeface="Arial MT"/>
              </a:rPr>
              <a:t>low-power </a:t>
            </a:r>
            <a:r>
              <a:rPr sz="1400" dirty="0">
                <a:latin typeface="Arial MT"/>
                <a:cs typeface="Arial MT"/>
              </a:rPr>
              <a:t>applications.</a:t>
            </a:r>
            <a:r>
              <a:rPr sz="1400" spc="2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By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integrating</a:t>
            </a:r>
            <a:r>
              <a:rPr sz="1400" spc="2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these</a:t>
            </a:r>
            <a:r>
              <a:rPr sz="1400" spc="2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techniques,</a:t>
            </a:r>
            <a:r>
              <a:rPr sz="1400" spc="25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inductor-</a:t>
            </a:r>
            <a:r>
              <a:rPr sz="1400" dirty="0">
                <a:latin typeface="Arial MT"/>
                <a:cs typeface="Arial MT"/>
              </a:rPr>
              <a:t>based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Dickson</a:t>
            </a:r>
            <a:r>
              <a:rPr sz="1400" spc="2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charge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pump</a:t>
            </a:r>
            <a:r>
              <a:rPr sz="1400" spc="2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can</a:t>
            </a:r>
            <a:r>
              <a:rPr sz="1400" spc="2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achieve </a:t>
            </a:r>
            <a:r>
              <a:rPr sz="1400" dirty="0">
                <a:latin typeface="Arial MT"/>
                <a:cs typeface="Arial MT"/>
              </a:rPr>
              <a:t>higher</a:t>
            </a:r>
            <a:r>
              <a:rPr sz="1400" spc="215" dirty="0">
                <a:latin typeface="Arial MT"/>
                <a:cs typeface="Arial MT"/>
              </a:rPr>
              <a:t>   </a:t>
            </a:r>
            <a:r>
              <a:rPr sz="1400" dirty="0">
                <a:latin typeface="Arial MT"/>
                <a:cs typeface="Arial MT"/>
              </a:rPr>
              <a:t>efficiency,</a:t>
            </a:r>
            <a:r>
              <a:rPr sz="1400" spc="225" dirty="0">
                <a:latin typeface="Arial MT"/>
                <a:cs typeface="Arial MT"/>
              </a:rPr>
              <a:t>   </a:t>
            </a:r>
            <a:r>
              <a:rPr sz="1400" dirty="0">
                <a:latin typeface="Arial MT"/>
                <a:cs typeface="Arial MT"/>
              </a:rPr>
              <a:t>reduced</a:t>
            </a:r>
            <a:r>
              <a:rPr sz="1400" spc="220" dirty="0">
                <a:latin typeface="Arial MT"/>
                <a:cs typeface="Arial MT"/>
              </a:rPr>
              <a:t>   </a:t>
            </a:r>
            <a:r>
              <a:rPr sz="1400" dirty="0">
                <a:latin typeface="Arial MT"/>
                <a:cs typeface="Arial MT"/>
              </a:rPr>
              <a:t>power</a:t>
            </a:r>
            <a:r>
              <a:rPr sz="1400" spc="225" dirty="0">
                <a:latin typeface="Arial MT"/>
                <a:cs typeface="Arial MT"/>
              </a:rPr>
              <a:t>   </a:t>
            </a:r>
            <a:r>
              <a:rPr sz="1400" dirty="0">
                <a:latin typeface="Arial MT"/>
                <a:cs typeface="Arial MT"/>
              </a:rPr>
              <a:t>dissipation,</a:t>
            </a:r>
            <a:r>
              <a:rPr sz="1400" spc="225" dirty="0">
                <a:latin typeface="Arial MT"/>
                <a:cs typeface="Arial MT"/>
              </a:rPr>
              <a:t>  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220" dirty="0">
                <a:latin typeface="Arial MT"/>
                <a:cs typeface="Arial MT"/>
              </a:rPr>
              <a:t>   </a:t>
            </a:r>
            <a:r>
              <a:rPr sz="1400" dirty="0">
                <a:latin typeface="Arial MT"/>
                <a:cs typeface="Arial MT"/>
              </a:rPr>
              <a:t>enhanced</a:t>
            </a:r>
            <a:r>
              <a:rPr sz="1400" spc="220" dirty="0">
                <a:latin typeface="Arial MT"/>
                <a:cs typeface="Arial MT"/>
              </a:rPr>
              <a:t>   </a:t>
            </a:r>
            <a:r>
              <a:rPr sz="1400" dirty="0">
                <a:latin typeface="Arial MT"/>
                <a:cs typeface="Arial MT"/>
              </a:rPr>
              <a:t>performance</a:t>
            </a:r>
            <a:r>
              <a:rPr sz="1400" spc="225" dirty="0">
                <a:latin typeface="Arial MT"/>
                <a:cs typeface="Arial MT"/>
              </a:rPr>
              <a:t>  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215" dirty="0">
                <a:latin typeface="Arial MT"/>
                <a:cs typeface="Arial MT"/>
              </a:rPr>
              <a:t>   </a:t>
            </a:r>
            <a:r>
              <a:rPr sz="1400" spc="-10" dirty="0">
                <a:latin typeface="Arial MT"/>
                <a:cs typeface="Arial MT"/>
              </a:rPr>
              <a:t>energy- </a:t>
            </a:r>
            <a:r>
              <a:rPr sz="1400" dirty="0">
                <a:latin typeface="Arial MT"/>
                <a:cs typeface="Arial MT"/>
              </a:rPr>
              <a:t>constrained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applications.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52" y="1115567"/>
            <a:ext cx="9913620" cy="5521960"/>
          </a:xfrm>
          <a:custGeom>
            <a:avLst/>
            <a:gdLst/>
            <a:ahLst/>
            <a:cxnLst/>
            <a:rect l="l" t="t" r="r" b="b"/>
            <a:pathLst>
              <a:path w="9913620" h="5521959">
                <a:moveTo>
                  <a:pt x="0" y="272795"/>
                </a:moveTo>
                <a:lnTo>
                  <a:pt x="4572" y="224027"/>
                </a:lnTo>
                <a:lnTo>
                  <a:pt x="18288" y="178307"/>
                </a:lnTo>
                <a:lnTo>
                  <a:pt x="38100" y="135635"/>
                </a:lnTo>
                <a:lnTo>
                  <a:pt x="64008" y="97535"/>
                </a:lnTo>
                <a:lnTo>
                  <a:pt x="97536" y="65531"/>
                </a:lnTo>
                <a:lnTo>
                  <a:pt x="135636" y="38099"/>
                </a:lnTo>
                <a:lnTo>
                  <a:pt x="176783" y="18287"/>
                </a:lnTo>
                <a:lnTo>
                  <a:pt x="224028" y="4571"/>
                </a:lnTo>
                <a:lnTo>
                  <a:pt x="271272" y="0"/>
                </a:lnTo>
                <a:lnTo>
                  <a:pt x="9642348" y="0"/>
                </a:lnTo>
                <a:lnTo>
                  <a:pt x="9691116" y="4571"/>
                </a:lnTo>
                <a:lnTo>
                  <a:pt x="9736835" y="18287"/>
                </a:lnTo>
                <a:lnTo>
                  <a:pt x="9779507" y="38099"/>
                </a:lnTo>
                <a:lnTo>
                  <a:pt x="9817607" y="65531"/>
                </a:lnTo>
                <a:lnTo>
                  <a:pt x="9851135" y="97535"/>
                </a:lnTo>
                <a:lnTo>
                  <a:pt x="9877043" y="135635"/>
                </a:lnTo>
                <a:lnTo>
                  <a:pt x="9896856" y="178307"/>
                </a:lnTo>
                <a:lnTo>
                  <a:pt x="9910571" y="224027"/>
                </a:lnTo>
                <a:lnTo>
                  <a:pt x="9913620" y="272795"/>
                </a:lnTo>
                <a:lnTo>
                  <a:pt x="9913620" y="5250179"/>
                </a:lnTo>
                <a:lnTo>
                  <a:pt x="9910571" y="5298947"/>
                </a:lnTo>
                <a:lnTo>
                  <a:pt x="9896856" y="5344667"/>
                </a:lnTo>
                <a:lnTo>
                  <a:pt x="9877043" y="5387340"/>
                </a:lnTo>
                <a:lnTo>
                  <a:pt x="9851135" y="5425440"/>
                </a:lnTo>
                <a:lnTo>
                  <a:pt x="9817607" y="5458967"/>
                </a:lnTo>
                <a:lnTo>
                  <a:pt x="9779507" y="5484876"/>
                </a:lnTo>
                <a:lnTo>
                  <a:pt x="9736835" y="5504688"/>
                </a:lnTo>
                <a:lnTo>
                  <a:pt x="9691116" y="5518403"/>
                </a:lnTo>
                <a:lnTo>
                  <a:pt x="9642348" y="5521451"/>
                </a:lnTo>
                <a:lnTo>
                  <a:pt x="271272" y="5521451"/>
                </a:lnTo>
                <a:lnTo>
                  <a:pt x="224028" y="5518403"/>
                </a:lnTo>
                <a:lnTo>
                  <a:pt x="176783" y="5504688"/>
                </a:lnTo>
                <a:lnTo>
                  <a:pt x="135636" y="5484876"/>
                </a:lnTo>
                <a:lnTo>
                  <a:pt x="97536" y="5458967"/>
                </a:lnTo>
                <a:lnTo>
                  <a:pt x="64008" y="5425440"/>
                </a:lnTo>
                <a:lnTo>
                  <a:pt x="38100" y="5387340"/>
                </a:lnTo>
                <a:lnTo>
                  <a:pt x="18288" y="5344667"/>
                </a:lnTo>
                <a:lnTo>
                  <a:pt x="4572" y="5298947"/>
                </a:lnTo>
                <a:lnTo>
                  <a:pt x="0" y="5250179"/>
                </a:lnTo>
                <a:lnTo>
                  <a:pt x="0" y="272795"/>
                </a:lnTo>
                <a:close/>
              </a:path>
            </a:pathLst>
          </a:custGeom>
          <a:ln w="45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6395" marR="5080" indent="-289433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System</a:t>
            </a:r>
            <a:r>
              <a:rPr spc="-225" dirty="0"/>
              <a:t> </a:t>
            </a:r>
            <a:r>
              <a:rPr dirty="0"/>
              <a:t>Architecture/Proposed</a:t>
            </a:r>
            <a:r>
              <a:rPr spc="-135" dirty="0"/>
              <a:t> </a:t>
            </a:r>
            <a:r>
              <a:rPr dirty="0"/>
              <a:t>work</a:t>
            </a:r>
            <a:r>
              <a:rPr spc="-90" dirty="0"/>
              <a:t> </a:t>
            </a:r>
            <a:r>
              <a:rPr spc="-10" dirty="0"/>
              <a:t>Block diagram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7733" y="6177533"/>
            <a:ext cx="510540" cy="386080"/>
            <a:chOff x="157733" y="6177533"/>
            <a:chExt cx="510540" cy="386080"/>
          </a:xfrm>
        </p:grpSpPr>
        <p:sp>
          <p:nvSpPr>
            <p:cNvPr id="5" name="object 5"/>
            <p:cNvSpPr/>
            <p:nvPr/>
          </p:nvSpPr>
          <p:spPr>
            <a:xfrm>
              <a:off x="161544" y="6181344"/>
              <a:ext cx="502920" cy="378460"/>
            </a:xfrm>
            <a:custGeom>
              <a:avLst/>
              <a:gdLst/>
              <a:ahLst/>
              <a:cxnLst/>
              <a:rect l="l" t="t" r="r" b="b"/>
              <a:pathLst>
                <a:path w="502920" h="378459">
                  <a:moveTo>
                    <a:pt x="251459" y="377951"/>
                  </a:moveTo>
                  <a:lnTo>
                    <a:pt x="201167" y="374903"/>
                  </a:lnTo>
                  <a:lnTo>
                    <a:pt x="153923" y="364235"/>
                  </a:lnTo>
                  <a:lnTo>
                    <a:pt x="111251" y="345947"/>
                  </a:lnTo>
                  <a:lnTo>
                    <a:pt x="74676" y="323087"/>
                  </a:lnTo>
                  <a:lnTo>
                    <a:pt x="44195" y="295655"/>
                  </a:lnTo>
                  <a:lnTo>
                    <a:pt x="19811" y="263651"/>
                  </a:lnTo>
                  <a:lnTo>
                    <a:pt x="6095" y="227075"/>
                  </a:lnTo>
                  <a:lnTo>
                    <a:pt x="0" y="188975"/>
                  </a:lnTo>
                  <a:lnTo>
                    <a:pt x="6095" y="152399"/>
                  </a:lnTo>
                  <a:lnTo>
                    <a:pt x="19811" y="115823"/>
                  </a:lnTo>
                  <a:lnTo>
                    <a:pt x="44195" y="83820"/>
                  </a:lnTo>
                  <a:lnTo>
                    <a:pt x="74676" y="56388"/>
                  </a:lnTo>
                  <a:lnTo>
                    <a:pt x="111251" y="33527"/>
                  </a:lnTo>
                  <a:lnTo>
                    <a:pt x="153923" y="15239"/>
                  </a:lnTo>
                  <a:lnTo>
                    <a:pt x="201167" y="4571"/>
                  </a:lnTo>
                  <a:lnTo>
                    <a:pt x="251459" y="0"/>
                  </a:lnTo>
                  <a:lnTo>
                    <a:pt x="303275" y="4571"/>
                  </a:lnTo>
                  <a:lnTo>
                    <a:pt x="350520" y="15239"/>
                  </a:lnTo>
                  <a:lnTo>
                    <a:pt x="393191" y="33527"/>
                  </a:lnTo>
                  <a:lnTo>
                    <a:pt x="429767" y="56388"/>
                  </a:lnTo>
                  <a:lnTo>
                    <a:pt x="460247" y="83820"/>
                  </a:lnTo>
                  <a:lnTo>
                    <a:pt x="483108" y="115823"/>
                  </a:lnTo>
                  <a:lnTo>
                    <a:pt x="498347" y="152399"/>
                  </a:lnTo>
                  <a:lnTo>
                    <a:pt x="502919" y="188975"/>
                  </a:lnTo>
                  <a:lnTo>
                    <a:pt x="498347" y="227075"/>
                  </a:lnTo>
                  <a:lnTo>
                    <a:pt x="483108" y="263651"/>
                  </a:lnTo>
                  <a:lnTo>
                    <a:pt x="460247" y="295655"/>
                  </a:lnTo>
                  <a:lnTo>
                    <a:pt x="429767" y="323087"/>
                  </a:lnTo>
                  <a:lnTo>
                    <a:pt x="393191" y="345947"/>
                  </a:lnTo>
                  <a:lnTo>
                    <a:pt x="350520" y="364235"/>
                  </a:lnTo>
                  <a:lnTo>
                    <a:pt x="303275" y="374903"/>
                  </a:lnTo>
                  <a:lnTo>
                    <a:pt x="251459" y="377951"/>
                  </a:lnTo>
                  <a:close/>
                </a:path>
              </a:pathLst>
            </a:custGeom>
            <a:solidFill>
              <a:srgbClr val="0E5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1543" y="6181343"/>
              <a:ext cx="502920" cy="378460"/>
            </a:xfrm>
            <a:custGeom>
              <a:avLst/>
              <a:gdLst/>
              <a:ahLst/>
              <a:cxnLst/>
              <a:rect l="l" t="t" r="r" b="b"/>
              <a:pathLst>
                <a:path w="502920" h="378459">
                  <a:moveTo>
                    <a:pt x="0" y="188975"/>
                  </a:moveTo>
                  <a:lnTo>
                    <a:pt x="19812" y="115823"/>
                  </a:lnTo>
                  <a:lnTo>
                    <a:pt x="44195" y="83819"/>
                  </a:lnTo>
                  <a:lnTo>
                    <a:pt x="74676" y="56387"/>
                  </a:lnTo>
                  <a:lnTo>
                    <a:pt x="111252" y="33527"/>
                  </a:lnTo>
                  <a:lnTo>
                    <a:pt x="153924" y="15239"/>
                  </a:lnTo>
                  <a:lnTo>
                    <a:pt x="201168" y="4571"/>
                  </a:lnTo>
                  <a:lnTo>
                    <a:pt x="251459" y="0"/>
                  </a:lnTo>
                  <a:lnTo>
                    <a:pt x="303276" y="4571"/>
                  </a:lnTo>
                  <a:lnTo>
                    <a:pt x="350519" y="15239"/>
                  </a:lnTo>
                  <a:lnTo>
                    <a:pt x="393191" y="33527"/>
                  </a:lnTo>
                  <a:lnTo>
                    <a:pt x="429767" y="56387"/>
                  </a:lnTo>
                  <a:lnTo>
                    <a:pt x="460248" y="83819"/>
                  </a:lnTo>
                  <a:lnTo>
                    <a:pt x="483108" y="115823"/>
                  </a:lnTo>
                  <a:lnTo>
                    <a:pt x="498348" y="152399"/>
                  </a:lnTo>
                  <a:lnTo>
                    <a:pt x="502919" y="188975"/>
                  </a:lnTo>
                  <a:lnTo>
                    <a:pt x="498348" y="227075"/>
                  </a:lnTo>
                  <a:lnTo>
                    <a:pt x="483108" y="263651"/>
                  </a:lnTo>
                  <a:lnTo>
                    <a:pt x="460248" y="295655"/>
                  </a:lnTo>
                  <a:lnTo>
                    <a:pt x="429767" y="323088"/>
                  </a:lnTo>
                  <a:lnTo>
                    <a:pt x="393191" y="345947"/>
                  </a:lnTo>
                  <a:lnTo>
                    <a:pt x="350519" y="364235"/>
                  </a:lnTo>
                  <a:lnTo>
                    <a:pt x="303276" y="374903"/>
                  </a:lnTo>
                  <a:lnTo>
                    <a:pt x="251459" y="377951"/>
                  </a:lnTo>
                  <a:lnTo>
                    <a:pt x="201168" y="374903"/>
                  </a:lnTo>
                  <a:lnTo>
                    <a:pt x="153924" y="364235"/>
                  </a:lnTo>
                  <a:lnTo>
                    <a:pt x="111252" y="345947"/>
                  </a:lnTo>
                  <a:lnTo>
                    <a:pt x="74676" y="323088"/>
                  </a:lnTo>
                  <a:lnTo>
                    <a:pt x="44195" y="295655"/>
                  </a:lnTo>
                  <a:lnTo>
                    <a:pt x="19812" y="263651"/>
                  </a:lnTo>
                  <a:lnTo>
                    <a:pt x="6096" y="227075"/>
                  </a:lnTo>
                  <a:lnTo>
                    <a:pt x="0" y="188975"/>
                  </a:lnTo>
                </a:path>
              </a:pathLst>
            </a:custGeom>
            <a:ln w="7620">
              <a:solidFill>
                <a:srgbClr val="0E56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19555" y="6264655"/>
            <a:ext cx="208279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25" dirty="0">
                <a:solidFill>
                  <a:srgbClr val="FFFFFF"/>
                </a:solidFill>
                <a:latin typeface="Verdana"/>
                <a:cs typeface="Verdana"/>
              </a:rPr>
              <a:t>18</a:t>
            </a:r>
            <a:endParaRPr sz="115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438400"/>
            <a:ext cx="7406639" cy="336499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517185" y="5828751"/>
            <a:ext cx="45027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Schematic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for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optimization</a:t>
            </a:r>
            <a:r>
              <a:rPr sz="1800" b="1" spc="4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inductor-based </a:t>
            </a:r>
            <a:r>
              <a:rPr sz="1800" b="1" dirty="0">
                <a:latin typeface="Times New Roman"/>
                <a:cs typeface="Times New Roman"/>
              </a:rPr>
              <a:t>Dickson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charge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pump for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low-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power applications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9555" y="6264655"/>
            <a:ext cx="208279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25" dirty="0">
                <a:solidFill>
                  <a:srgbClr val="FFFFFF"/>
                </a:solidFill>
                <a:latin typeface="Verdana"/>
                <a:cs typeface="Verdana"/>
              </a:rPr>
              <a:t>19</a:t>
            </a:r>
            <a:endParaRPr sz="115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828800"/>
            <a:ext cx="7772400" cy="3429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88586" y="5283149"/>
            <a:ext cx="434975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Symbol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optimization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inductor-based </a:t>
            </a:r>
            <a:r>
              <a:rPr sz="1200" dirty="0">
                <a:latin typeface="Times New Roman"/>
                <a:cs typeface="Times New Roman"/>
              </a:rPr>
              <a:t>Dickson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charge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pump 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low-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power applications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347" rIns="0" bIns="0" rtlCol="0">
            <a:spAutoFit/>
          </a:bodyPr>
          <a:lstStyle/>
          <a:p>
            <a:pPr marL="1477010">
              <a:lnSpc>
                <a:spcPct val="100000"/>
              </a:lnSpc>
              <a:spcBef>
                <a:spcPts val="100"/>
              </a:spcBef>
            </a:pPr>
            <a:r>
              <a:rPr sz="2650" dirty="0"/>
              <a:t>Hardware</a:t>
            </a:r>
            <a:r>
              <a:rPr sz="2650" spc="-130" dirty="0"/>
              <a:t> </a:t>
            </a:r>
            <a:r>
              <a:rPr sz="2650" dirty="0"/>
              <a:t>&amp;</a:t>
            </a:r>
            <a:r>
              <a:rPr sz="2650" spc="-110" dirty="0"/>
              <a:t> </a:t>
            </a:r>
            <a:r>
              <a:rPr sz="2650" dirty="0"/>
              <a:t>Software</a:t>
            </a:r>
            <a:r>
              <a:rPr sz="2650" spc="-100" dirty="0"/>
              <a:t> </a:t>
            </a:r>
            <a:r>
              <a:rPr sz="2650" spc="-10" dirty="0"/>
              <a:t>Involved</a:t>
            </a:r>
            <a:endParaRPr sz="2650"/>
          </a:p>
        </p:txBody>
      </p:sp>
      <p:sp>
        <p:nvSpPr>
          <p:cNvPr id="3" name="object 3"/>
          <p:cNvSpPr txBox="1"/>
          <p:nvPr/>
        </p:nvSpPr>
        <p:spPr>
          <a:xfrm>
            <a:off x="1195826" y="2333118"/>
            <a:ext cx="2624455" cy="59245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38125" indent="-225425">
              <a:lnSpc>
                <a:spcPct val="100000"/>
              </a:lnSpc>
              <a:spcBef>
                <a:spcPts val="590"/>
              </a:spcBef>
              <a:buClr>
                <a:srgbClr val="4966AC"/>
              </a:buClr>
              <a:buSzPct val="86206"/>
              <a:buChar char="●"/>
              <a:tabLst>
                <a:tab pos="238125" algn="l"/>
              </a:tabLst>
            </a:pPr>
            <a:r>
              <a:rPr sz="1450" dirty="0">
                <a:latin typeface="Times New Roman"/>
                <a:cs typeface="Times New Roman"/>
              </a:rPr>
              <a:t>Hard</a:t>
            </a:r>
            <a:r>
              <a:rPr sz="1450" spc="12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ware-</a:t>
            </a:r>
            <a:r>
              <a:rPr sz="1450" spc="-25" dirty="0">
                <a:latin typeface="Times New Roman"/>
                <a:cs typeface="Times New Roman"/>
              </a:rPr>
              <a:t>NIL</a:t>
            </a:r>
            <a:endParaRPr sz="1450">
              <a:latin typeface="Times New Roman"/>
              <a:cs typeface="Times New Roman"/>
            </a:endParaRPr>
          </a:p>
          <a:p>
            <a:pPr marL="238125" indent="-225425">
              <a:lnSpc>
                <a:spcPct val="100000"/>
              </a:lnSpc>
              <a:spcBef>
                <a:spcPts val="490"/>
              </a:spcBef>
              <a:buClr>
                <a:srgbClr val="4966AC"/>
              </a:buClr>
              <a:buSzPct val="86206"/>
              <a:buChar char="●"/>
              <a:tabLst>
                <a:tab pos="238125" algn="l"/>
              </a:tabLst>
            </a:pPr>
            <a:r>
              <a:rPr sz="1450" dirty="0">
                <a:latin typeface="Times New Roman"/>
                <a:cs typeface="Times New Roman"/>
              </a:rPr>
              <a:t>Soft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ware-</a:t>
            </a:r>
            <a:r>
              <a:rPr sz="1450" dirty="0">
                <a:latin typeface="Times New Roman"/>
                <a:cs typeface="Times New Roman"/>
              </a:rPr>
              <a:t>cadence</a:t>
            </a:r>
            <a:r>
              <a:rPr sz="1450" spc="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virtuoso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spc="-20" dirty="0">
                <a:latin typeface="Times New Roman"/>
                <a:cs typeface="Times New Roman"/>
              </a:rPr>
              <a:t>tool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3792" y="1182624"/>
            <a:ext cx="818387" cy="70256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2781" rIns="0" bIns="0" rtlCol="0">
            <a:spAutoFit/>
          </a:bodyPr>
          <a:lstStyle/>
          <a:p>
            <a:pPr marL="1358265">
              <a:lnSpc>
                <a:spcPct val="100000"/>
              </a:lnSpc>
              <a:spcBef>
                <a:spcPts val="100"/>
              </a:spcBef>
            </a:pPr>
            <a:r>
              <a:rPr dirty="0"/>
              <a:t>Application</a:t>
            </a:r>
            <a:r>
              <a:rPr spc="-75" dirty="0"/>
              <a:t> </a:t>
            </a:r>
            <a:r>
              <a:rPr dirty="0"/>
              <a:t>&amp;</a:t>
            </a:r>
            <a:r>
              <a:rPr spc="-204" dirty="0"/>
              <a:t> </a:t>
            </a:r>
            <a:r>
              <a:rPr spc="-10" dirty="0"/>
              <a:t>Advantages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5826" y="2339154"/>
            <a:ext cx="8293100" cy="315912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38125" indent="-225425">
              <a:lnSpc>
                <a:spcPct val="100000"/>
              </a:lnSpc>
              <a:spcBef>
                <a:spcPts val="540"/>
              </a:spcBef>
              <a:buClr>
                <a:srgbClr val="4966AC"/>
              </a:buClr>
              <a:buSzPct val="86206"/>
              <a:buFont typeface="Times New Roman"/>
              <a:buChar char="●"/>
              <a:tabLst>
                <a:tab pos="238125" algn="l"/>
              </a:tabLst>
            </a:pPr>
            <a:r>
              <a:rPr sz="1450" b="1" spc="-10" dirty="0">
                <a:latin typeface="Times New Roman"/>
                <a:cs typeface="Times New Roman"/>
              </a:rPr>
              <a:t>Applications:</a:t>
            </a:r>
            <a:endParaRPr sz="1450">
              <a:latin typeface="Times New Roman"/>
              <a:cs typeface="Times New Roman"/>
            </a:endParaRPr>
          </a:p>
          <a:p>
            <a:pPr marL="238125" marR="358140" indent="-226060">
              <a:lnSpc>
                <a:spcPct val="102800"/>
              </a:lnSpc>
              <a:spcBef>
                <a:spcPts val="395"/>
              </a:spcBef>
              <a:buClr>
                <a:srgbClr val="4966AC"/>
              </a:buClr>
              <a:buSzPct val="86206"/>
              <a:buChar char="●"/>
              <a:tabLst>
                <a:tab pos="238125" algn="l"/>
              </a:tabLst>
            </a:pPr>
            <a:r>
              <a:rPr sz="1450" dirty="0">
                <a:latin typeface="Times New Roman"/>
                <a:cs typeface="Times New Roman"/>
              </a:rPr>
              <a:t>1.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Wireless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Communication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Systems:</a:t>
            </a:r>
            <a:r>
              <a:rPr sz="1450" spc="-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Advanced</a:t>
            </a:r>
            <a:r>
              <a:rPr sz="1450" spc="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charge</a:t>
            </a:r>
            <a:r>
              <a:rPr sz="1450" spc="3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pump</a:t>
            </a:r>
            <a:r>
              <a:rPr sz="1450" spc="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design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enables</a:t>
            </a:r>
            <a:r>
              <a:rPr sz="1450" spc="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PLLs</a:t>
            </a:r>
            <a:r>
              <a:rPr sz="1450" spc="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to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operate</a:t>
            </a:r>
            <a:r>
              <a:rPr sz="1450" spc="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at</a:t>
            </a:r>
            <a:r>
              <a:rPr sz="1450" spc="1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higher </a:t>
            </a:r>
            <a:r>
              <a:rPr sz="1450" dirty="0">
                <a:latin typeface="Times New Roman"/>
                <a:cs typeface="Times New Roman"/>
              </a:rPr>
              <a:t>frequencies,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supporting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faster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data</a:t>
            </a:r>
            <a:r>
              <a:rPr sz="1450" spc="3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rates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and</a:t>
            </a:r>
            <a:r>
              <a:rPr sz="1450" spc="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improved</a:t>
            </a:r>
            <a:r>
              <a:rPr sz="1450" spc="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wireless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communication.</a:t>
            </a:r>
            <a:endParaRPr sz="1450">
              <a:latin typeface="Times New Roman"/>
              <a:cs typeface="Times New Roman"/>
            </a:endParaRPr>
          </a:p>
          <a:p>
            <a:pPr marL="238125" marR="5080" indent="-226060">
              <a:lnSpc>
                <a:spcPct val="102800"/>
              </a:lnSpc>
              <a:spcBef>
                <a:spcPts val="505"/>
              </a:spcBef>
              <a:buClr>
                <a:srgbClr val="4966AC"/>
              </a:buClr>
              <a:buSzPct val="86206"/>
              <a:buChar char="●"/>
              <a:tabLst>
                <a:tab pos="238125" algn="l"/>
              </a:tabLst>
            </a:pPr>
            <a:r>
              <a:rPr sz="1450" dirty="0">
                <a:latin typeface="Times New Roman"/>
                <a:cs typeface="Times New Roman"/>
              </a:rPr>
              <a:t>2.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High-</a:t>
            </a:r>
            <a:r>
              <a:rPr sz="1450" dirty="0">
                <a:latin typeface="Times New Roman"/>
                <a:cs typeface="Times New Roman"/>
              </a:rPr>
              <a:t>Speed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Data</a:t>
            </a:r>
            <a:r>
              <a:rPr sz="1450" spc="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Converters: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Improved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PLL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stability</a:t>
            </a:r>
            <a:r>
              <a:rPr sz="1450" spc="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reduces</a:t>
            </a:r>
            <a:r>
              <a:rPr sz="1450" spc="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jitter</a:t>
            </a:r>
            <a:r>
              <a:rPr sz="1450" spc="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and</a:t>
            </a:r>
            <a:r>
              <a:rPr sz="1450" spc="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phase</a:t>
            </a:r>
            <a:r>
              <a:rPr sz="1450" spc="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noise,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enabling</a:t>
            </a:r>
            <a:r>
              <a:rPr sz="1450" spc="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high-</a:t>
            </a:r>
            <a:r>
              <a:rPr sz="1450" spc="-10" dirty="0">
                <a:latin typeface="Times New Roman"/>
                <a:cs typeface="Times New Roman"/>
              </a:rPr>
              <a:t>speed </a:t>
            </a:r>
            <a:r>
              <a:rPr sz="1450" dirty="0">
                <a:latin typeface="Times New Roman"/>
                <a:cs typeface="Times New Roman"/>
              </a:rPr>
              <a:t>data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converters</a:t>
            </a:r>
            <a:r>
              <a:rPr sz="1450" spc="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to</a:t>
            </a:r>
            <a:r>
              <a:rPr sz="1450" spc="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operate</a:t>
            </a:r>
            <a:r>
              <a:rPr sz="1450" spc="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with</a:t>
            </a:r>
            <a:r>
              <a:rPr sz="1450" spc="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higher</a:t>
            </a:r>
            <a:r>
              <a:rPr sz="1450" spc="4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accuracy.</a:t>
            </a:r>
            <a:endParaRPr sz="1450">
              <a:latin typeface="Times New Roman"/>
              <a:cs typeface="Times New Roman"/>
            </a:endParaRPr>
          </a:p>
          <a:p>
            <a:pPr marL="238125" indent="-225425">
              <a:lnSpc>
                <a:spcPct val="100000"/>
              </a:lnSpc>
              <a:spcBef>
                <a:spcPts val="610"/>
              </a:spcBef>
              <a:buClr>
                <a:srgbClr val="4966AC"/>
              </a:buClr>
              <a:buSzPct val="86206"/>
              <a:buFont typeface="Times New Roman"/>
              <a:buChar char="●"/>
              <a:tabLst>
                <a:tab pos="238125" algn="l"/>
              </a:tabLst>
            </a:pPr>
            <a:r>
              <a:rPr sz="1450" b="1" spc="-10" dirty="0">
                <a:latin typeface="Times New Roman"/>
                <a:cs typeface="Times New Roman"/>
              </a:rPr>
              <a:t>Advantages:</a:t>
            </a:r>
            <a:endParaRPr sz="1450">
              <a:latin typeface="Times New Roman"/>
              <a:cs typeface="Times New Roman"/>
            </a:endParaRPr>
          </a:p>
          <a:p>
            <a:pPr marL="238125" marR="43180" indent="-226060">
              <a:lnSpc>
                <a:spcPct val="102699"/>
              </a:lnSpc>
              <a:spcBef>
                <a:spcPts val="400"/>
              </a:spcBef>
              <a:buClr>
                <a:srgbClr val="4966AC"/>
              </a:buClr>
              <a:buSzPct val="86206"/>
              <a:buChar char="●"/>
              <a:tabLst>
                <a:tab pos="238125" algn="l"/>
              </a:tabLst>
            </a:pPr>
            <a:r>
              <a:rPr sz="1450" dirty="0">
                <a:latin typeface="Times New Roman"/>
                <a:cs typeface="Times New Roman"/>
              </a:rPr>
              <a:t>1.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Improved</a:t>
            </a:r>
            <a:r>
              <a:rPr sz="1450" spc="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PLL</a:t>
            </a:r>
            <a:r>
              <a:rPr sz="1450" spc="-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Stability:</a:t>
            </a:r>
            <a:r>
              <a:rPr sz="1450" spc="-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Advanced</a:t>
            </a:r>
            <a:r>
              <a:rPr sz="1450" spc="3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charge</a:t>
            </a:r>
            <a:r>
              <a:rPr sz="1450" spc="3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pump</a:t>
            </a:r>
            <a:r>
              <a:rPr sz="1450" spc="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design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reduces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phase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noise</a:t>
            </a:r>
            <a:r>
              <a:rPr sz="1450" spc="3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and</a:t>
            </a:r>
            <a:r>
              <a:rPr sz="1450" spc="3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improves</a:t>
            </a:r>
            <a:r>
              <a:rPr sz="1450" spc="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PLL</a:t>
            </a:r>
            <a:r>
              <a:rPr sz="1450" spc="-2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stability, </a:t>
            </a:r>
            <a:r>
              <a:rPr sz="1450" dirty="0">
                <a:latin typeface="Times New Roman"/>
                <a:cs typeface="Times New Roman"/>
              </a:rPr>
              <a:t>enabling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systems</a:t>
            </a:r>
            <a:r>
              <a:rPr sz="1450" spc="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to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operate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with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higher</a:t>
            </a:r>
            <a:r>
              <a:rPr sz="1450" spc="5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accuracy.</a:t>
            </a:r>
            <a:endParaRPr sz="1450">
              <a:latin typeface="Times New Roman"/>
              <a:cs typeface="Times New Roman"/>
            </a:endParaRPr>
          </a:p>
          <a:p>
            <a:pPr marL="238125" marR="863600" indent="-226060">
              <a:lnSpc>
                <a:spcPct val="102099"/>
              </a:lnSpc>
              <a:spcBef>
                <a:spcPts val="505"/>
              </a:spcBef>
              <a:buClr>
                <a:srgbClr val="4966AC"/>
              </a:buClr>
              <a:buSzPct val="86206"/>
              <a:buChar char="●"/>
              <a:tabLst>
                <a:tab pos="238125" algn="l"/>
              </a:tabLst>
            </a:pPr>
            <a:r>
              <a:rPr sz="1450" dirty="0">
                <a:latin typeface="Times New Roman"/>
                <a:cs typeface="Times New Roman"/>
              </a:rPr>
              <a:t>2.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Increased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Frequency</a:t>
            </a:r>
            <a:r>
              <a:rPr sz="1450" spc="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Range:</a:t>
            </a:r>
            <a:r>
              <a:rPr sz="1450" spc="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Improved</a:t>
            </a:r>
            <a:r>
              <a:rPr sz="1450" spc="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charge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pump</a:t>
            </a:r>
            <a:r>
              <a:rPr sz="1450" spc="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design</a:t>
            </a:r>
            <a:r>
              <a:rPr sz="1450" spc="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enables</a:t>
            </a:r>
            <a:r>
              <a:rPr sz="1450" spc="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PLLs</a:t>
            </a:r>
            <a:r>
              <a:rPr sz="1450" spc="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to</a:t>
            </a:r>
            <a:r>
              <a:rPr sz="1450" spc="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operate</a:t>
            </a:r>
            <a:r>
              <a:rPr sz="1450" spc="3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at</a:t>
            </a:r>
            <a:r>
              <a:rPr sz="1450" spc="5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higher </a:t>
            </a:r>
            <a:r>
              <a:rPr sz="1450" dirty="0">
                <a:latin typeface="Times New Roman"/>
                <a:cs typeface="Times New Roman"/>
              </a:rPr>
              <a:t>frequencies,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supporting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faster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data</a:t>
            </a:r>
            <a:r>
              <a:rPr sz="1450" spc="3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rates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and</a:t>
            </a:r>
            <a:r>
              <a:rPr sz="1450" spc="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improved</a:t>
            </a:r>
            <a:r>
              <a:rPr sz="1450" spc="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system</a:t>
            </a:r>
            <a:r>
              <a:rPr sz="1450" spc="4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performance.</a:t>
            </a:r>
            <a:endParaRPr sz="1450">
              <a:latin typeface="Times New Roman"/>
              <a:cs typeface="Times New Roman"/>
            </a:endParaRPr>
          </a:p>
          <a:p>
            <a:pPr marL="238125" marR="615315" indent="-226060">
              <a:lnSpc>
                <a:spcPct val="102099"/>
              </a:lnSpc>
              <a:spcBef>
                <a:spcPts val="500"/>
              </a:spcBef>
              <a:buClr>
                <a:srgbClr val="4966AC"/>
              </a:buClr>
              <a:buSzPct val="86206"/>
              <a:buChar char="●"/>
              <a:tabLst>
                <a:tab pos="238125" algn="l"/>
              </a:tabLst>
            </a:pPr>
            <a:r>
              <a:rPr sz="1450" dirty="0">
                <a:latin typeface="Times New Roman"/>
                <a:cs typeface="Times New Roman"/>
              </a:rPr>
              <a:t>3.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Reduced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Jitter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and</a:t>
            </a:r>
            <a:r>
              <a:rPr sz="1450" spc="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Phase</a:t>
            </a:r>
            <a:r>
              <a:rPr sz="1450" spc="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Noise:</a:t>
            </a:r>
            <a:r>
              <a:rPr sz="1450" spc="-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Advanced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charge</a:t>
            </a:r>
            <a:r>
              <a:rPr sz="1450" spc="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pump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design</a:t>
            </a:r>
            <a:r>
              <a:rPr sz="1450" spc="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minimizes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jitter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and</a:t>
            </a:r>
            <a:r>
              <a:rPr sz="1450" spc="4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phase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noise, </a:t>
            </a:r>
            <a:r>
              <a:rPr sz="1450" dirty="0">
                <a:latin typeface="Times New Roman"/>
                <a:cs typeface="Times New Roman"/>
              </a:rPr>
              <a:t>enabling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systems</a:t>
            </a:r>
            <a:r>
              <a:rPr sz="1450" spc="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to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operate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with</a:t>
            </a:r>
            <a:r>
              <a:rPr sz="1450" spc="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higher</a:t>
            </a:r>
            <a:r>
              <a:rPr sz="1450" spc="5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precision</a:t>
            </a:r>
            <a:r>
              <a:rPr sz="1450" b="1" spc="-10" dirty="0">
                <a:latin typeface="Times New Roman"/>
                <a:cs typeface="Times New Roman"/>
              </a:rPr>
              <a:t>.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3792" y="1182624"/>
            <a:ext cx="818387" cy="70256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DE509-2096-2EC8-7C3F-FDCDDD79D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6615" y="1130204"/>
            <a:ext cx="7150100" cy="1015663"/>
          </a:xfrm>
        </p:spPr>
        <p:txBody>
          <a:bodyPr/>
          <a:lstStyle/>
          <a:p>
            <a:pPr algn="ctr"/>
            <a:br>
              <a:rPr lang="en-IN" dirty="0"/>
            </a:br>
            <a:r>
              <a:rPr lang="en-IN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116F5-E9DE-2D1D-92AF-B5919DDAF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6836" y="2549120"/>
            <a:ext cx="8344534" cy="353943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000E034B-968F-D0E5-B0FE-F32810310F6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613" y="2549120"/>
            <a:ext cx="4330587" cy="3362352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9465E23A-4E07-C3BD-5342-541D3EB5C47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7827" y="2564360"/>
            <a:ext cx="42672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09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0557" rIns="0" bIns="0" rtlCol="0">
            <a:spAutoFit/>
          </a:bodyPr>
          <a:lstStyle/>
          <a:p>
            <a:pPr marL="1382395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  <a:r>
              <a:rPr spc="-70" dirty="0"/>
              <a:t> </a:t>
            </a:r>
            <a:r>
              <a:rPr spc="-95" dirty="0"/>
              <a:t>(APA</a:t>
            </a:r>
            <a:r>
              <a:rPr spc="-305" dirty="0"/>
              <a:t> </a:t>
            </a:r>
            <a:r>
              <a:rPr spc="-10" dirty="0"/>
              <a:t>Style)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0">
              <a:lnSpc>
                <a:spcPct val="100000"/>
              </a:lnSpc>
              <a:spcBef>
                <a:spcPts val="100"/>
              </a:spcBef>
              <a:buSzPct val="91304"/>
              <a:buAutoNum type="arabicPlain"/>
              <a:tabLst>
                <a:tab pos="85725" algn="l"/>
              </a:tabLst>
            </a:pPr>
            <a:r>
              <a:rPr dirty="0"/>
              <a:t>	.A.</a:t>
            </a:r>
            <a:r>
              <a:rPr spc="-40" dirty="0"/>
              <a:t> </a:t>
            </a:r>
            <a:r>
              <a:rPr dirty="0"/>
              <a:t>Wang</a:t>
            </a:r>
            <a:r>
              <a:rPr spc="-3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A.</a:t>
            </a:r>
            <a:r>
              <a:rPr spc="-20" dirty="0"/>
              <a:t> </a:t>
            </a:r>
            <a:r>
              <a:rPr spc="-10" dirty="0"/>
              <a:t>Chandrakasan,</a:t>
            </a:r>
            <a:r>
              <a:rPr spc="-60" dirty="0"/>
              <a:t> </a:t>
            </a:r>
            <a:r>
              <a:rPr spc="-65" dirty="0"/>
              <a:t>“A</a:t>
            </a:r>
            <a:r>
              <a:rPr spc="-160" dirty="0"/>
              <a:t> </a:t>
            </a:r>
            <a:r>
              <a:rPr spc="-10" dirty="0"/>
              <a:t>180-</a:t>
            </a:r>
            <a:r>
              <a:rPr dirty="0"/>
              <a:t>mV</a:t>
            </a:r>
            <a:r>
              <a:rPr spc="-30" dirty="0"/>
              <a:t> </a:t>
            </a:r>
            <a:r>
              <a:rPr dirty="0"/>
              <a:t>subthreshold</a:t>
            </a:r>
            <a:r>
              <a:rPr spc="-40" dirty="0"/>
              <a:t> </a:t>
            </a:r>
            <a:r>
              <a:rPr dirty="0"/>
              <a:t>FFT</a:t>
            </a:r>
            <a:r>
              <a:rPr spc="-15" dirty="0"/>
              <a:t> </a:t>
            </a:r>
            <a:r>
              <a:rPr dirty="0"/>
              <a:t>proces</a:t>
            </a:r>
            <a:r>
              <a:rPr spc="-45" dirty="0"/>
              <a:t> </a:t>
            </a:r>
            <a:r>
              <a:rPr dirty="0"/>
              <a:t>sor</a:t>
            </a:r>
            <a:r>
              <a:rPr spc="-35" dirty="0"/>
              <a:t> </a:t>
            </a:r>
            <a:r>
              <a:rPr dirty="0"/>
              <a:t>using</a:t>
            </a:r>
            <a:r>
              <a:rPr spc="-5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minimum</a:t>
            </a:r>
            <a:r>
              <a:rPr spc="-10" dirty="0"/>
              <a:t> </a:t>
            </a:r>
            <a:r>
              <a:rPr dirty="0"/>
              <a:t>energy</a:t>
            </a:r>
            <a:r>
              <a:rPr spc="-30" dirty="0"/>
              <a:t> </a:t>
            </a:r>
            <a:r>
              <a:rPr dirty="0"/>
              <a:t>design</a:t>
            </a:r>
            <a:r>
              <a:rPr spc="-20" dirty="0"/>
              <a:t> </a:t>
            </a:r>
            <a:r>
              <a:rPr spc="-10" dirty="0"/>
              <a:t>methodology,”</a:t>
            </a:r>
            <a:r>
              <a:rPr spc="-5" dirty="0"/>
              <a:t> </a:t>
            </a:r>
            <a:r>
              <a:rPr dirty="0"/>
              <a:t>IEEE</a:t>
            </a:r>
            <a:r>
              <a:rPr spc="-60" dirty="0"/>
              <a:t> </a:t>
            </a:r>
            <a:r>
              <a:rPr spc="-25" dirty="0"/>
              <a:t>J. Solid-</a:t>
            </a:r>
            <a:r>
              <a:rPr dirty="0"/>
              <a:t>State</a:t>
            </a:r>
            <a:r>
              <a:rPr spc="-5" dirty="0"/>
              <a:t> </a:t>
            </a:r>
            <a:r>
              <a:rPr dirty="0"/>
              <a:t>Circuits,</a:t>
            </a:r>
            <a:r>
              <a:rPr spc="-35" dirty="0"/>
              <a:t> </a:t>
            </a:r>
            <a:r>
              <a:rPr dirty="0"/>
              <a:t>vol.</a:t>
            </a:r>
            <a:r>
              <a:rPr spc="20" dirty="0"/>
              <a:t> </a:t>
            </a:r>
            <a:r>
              <a:rPr dirty="0"/>
              <a:t>40, no.</a:t>
            </a:r>
            <a:r>
              <a:rPr spc="-15" dirty="0"/>
              <a:t> </a:t>
            </a:r>
            <a:r>
              <a:rPr dirty="0"/>
              <a:t>1,</a:t>
            </a:r>
            <a:r>
              <a:rPr spc="10" dirty="0"/>
              <a:t> </a:t>
            </a:r>
            <a:r>
              <a:rPr dirty="0"/>
              <a:t>pp.</a:t>
            </a:r>
            <a:r>
              <a:rPr spc="-40" dirty="0"/>
              <a:t> </a:t>
            </a:r>
            <a:r>
              <a:rPr dirty="0"/>
              <a:t>310–319, Jan. </a:t>
            </a:r>
            <a:r>
              <a:rPr spc="-10" dirty="0"/>
              <a:t>2005.</a:t>
            </a:r>
          </a:p>
          <a:p>
            <a:pPr marL="12700" marR="361950" indent="207645">
              <a:lnSpc>
                <a:spcPct val="100000"/>
              </a:lnSpc>
              <a:buSzPct val="91304"/>
              <a:buAutoNum type="arabicPlain"/>
              <a:tabLst>
                <a:tab pos="220345" algn="l"/>
              </a:tabLst>
            </a:pPr>
            <a:r>
              <a:rPr spc="-25" dirty="0"/>
              <a:t>S.-</a:t>
            </a:r>
            <a:r>
              <a:rPr dirty="0"/>
              <a:t>C. Luo</a:t>
            </a:r>
            <a:r>
              <a:rPr spc="-1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25" dirty="0"/>
              <a:t>L.-Y.</a:t>
            </a:r>
            <a:r>
              <a:rPr spc="-60" dirty="0"/>
              <a:t> </a:t>
            </a:r>
            <a:r>
              <a:rPr dirty="0"/>
              <a:t>Chiou,</a:t>
            </a:r>
            <a:r>
              <a:rPr spc="5" dirty="0"/>
              <a:t> </a:t>
            </a:r>
            <a:r>
              <a:rPr spc="-10" dirty="0"/>
              <a:t>“Asub-</a:t>
            </a:r>
            <a:r>
              <a:rPr spc="-25" dirty="0"/>
              <a:t>200-</a:t>
            </a:r>
            <a:r>
              <a:rPr dirty="0"/>
              <a:t>mV</a:t>
            </a:r>
            <a:r>
              <a:rPr spc="-5" dirty="0"/>
              <a:t> </a:t>
            </a:r>
            <a:r>
              <a:rPr spc="-25" dirty="0"/>
              <a:t>voltage-</a:t>
            </a:r>
            <a:r>
              <a:rPr dirty="0"/>
              <a:t>scalable</a:t>
            </a:r>
            <a:r>
              <a:rPr spc="50" dirty="0"/>
              <a:t> </a:t>
            </a:r>
            <a:r>
              <a:rPr dirty="0"/>
              <a:t>SRAM</a:t>
            </a:r>
            <a:r>
              <a:rPr spc="10" dirty="0"/>
              <a:t> </a:t>
            </a:r>
            <a:r>
              <a:rPr dirty="0"/>
              <a:t>with</a:t>
            </a:r>
            <a:r>
              <a:rPr spc="5" dirty="0"/>
              <a:t> </a:t>
            </a:r>
            <a:r>
              <a:rPr dirty="0"/>
              <a:t>tolerance</a:t>
            </a:r>
            <a:r>
              <a:rPr spc="-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access</a:t>
            </a:r>
            <a:r>
              <a:rPr spc="-45" dirty="0"/>
              <a:t> </a:t>
            </a:r>
            <a:r>
              <a:rPr dirty="0"/>
              <a:t>failure by</a:t>
            </a:r>
            <a:r>
              <a:rPr spc="20" dirty="0"/>
              <a:t> </a:t>
            </a:r>
            <a:r>
              <a:rPr spc="-20" dirty="0"/>
              <a:t>self-</a:t>
            </a:r>
            <a:r>
              <a:rPr dirty="0"/>
              <a:t>activated</a:t>
            </a:r>
            <a:r>
              <a:rPr spc="-25" dirty="0"/>
              <a:t> </a:t>
            </a:r>
            <a:r>
              <a:rPr spc="-10" dirty="0"/>
              <a:t>bitline </a:t>
            </a:r>
            <a:r>
              <a:rPr dirty="0"/>
              <a:t>sensing,”</a:t>
            </a:r>
            <a:r>
              <a:rPr spc="-35" dirty="0"/>
              <a:t> </a:t>
            </a:r>
            <a:r>
              <a:rPr dirty="0"/>
              <a:t>IEEE</a:t>
            </a:r>
            <a:r>
              <a:rPr spc="-40" dirty="0"/>
              <a:t> </a:t>
            </a:r>
            <a:r>
              <a:rPr spc="-10" dirty="0"/>
              <a:t>Trans.</a:t>
            </a:r>
            <a:r>
              <a:rPr spc="-45" dirty="0"/>
              <a:t> </a:t>
            </a:r>
            <a:r>
              <a:rPr dirty="0"/>
              <a:t>Circuits</a:t>
            </a:r>
            <a:r>
              <a:rPr spc="-35" dirty="0"/>
              <a:t> </a:t>
            </a:r>
            <a:r>
              <a:rPr dirty="0"/>
              <a:t>Syst.</a:t>
            </a:r>
            <a:r>
              <a:rPr spc="-30" dirty="0"/>
              <a:t> </a:t>
            </a:r>
            <a:r>
              <a:rPr dirty="0"/>
              <a:t>II, Exp.</a:t>
            </a:r>
            <a:r>
              <a:rPr spc="-65" dirty="0"/>
              <a:t> </a:t>
            </a:r>
            <a:r>
              <a:rPr dirty="0"/>
              <a:t>Briefs,</a:t>
            </a:r>
            <a:r>
              <a:rPr spc="-30" dirty="0"/>
              <a:t> </a:t>
            </a:r>
            <a:r>
              <a:rPr dirty="0"/>
              <a:t>vol. 57,</a:t>
            </a:r>
            <a:r>
              <a:rPr spc="-5" dirty="0"/>
              <a:t> </a:t>
            </a:r>
            <a:r>
              <a:rPr dirty="0"/>
              <a:t>no.</a:t>
            </a:r>
            <a:r>
              <a:rPr spc="-25" dirty="0"/>
              <a:t> </a:t>
            </a:r>
            <a:r>
              <a:rPr dirty="0"/>
              <a:t>6,</a:t>
            </a:r>
            <a:r>
              <a:rPr spc="-20" dirty="0"/>
              <a:t> </a:t>
            </a:r>
            <a:r>
              <a:rPr dirty="0"/>
              <a:t>pp.</a:t>
            </a:r>
            <a:r>
              <a:rPr spc="-45" dirty="0"/>
              <a:t> </a:t>
            </a:r>
            <a:r>
              <a:rPr dirty="0"/>
              <a:t>440–445,</a:t>
            </a:r>
            <a:r>
              <a:rPr spc="-20" dirty="0"/>
              <a:t> </a:t>
            </a:r>
            <a:r>
              <a:rPr dirty="0"/>
              <a:t>Jun.</a:t>
            </a:r>
            <a:r>
              <a:rPr spc="-25" dirty="0"/>
              <a:t> </a:t>
            </a:r>
            <a:r>
              <a:rPr spc="-10" dirty="0"/>
              <a:t>2010.</a:t>
            </a:r>
          </a:p>
          <a:p>
            <a:pPr marL="12700" marR="275590" indent="243840">
              <a:lnSpc>
                <a:spcPct val="100000"/>
              </a:lnSpc>
              <a:buSzPct val="91304"/>
              <a:buAutoNum type="arabicPlain"/>
              <a:tabLst>
                <a:tab pos="256540" algn="l"/>
              </a:tabLst>
            </a:pPr>
            <a:r>
              <a:rPr dirty="0"/>
              <a:t>G.</a:t>
            </a:r>
            <a:r>
              <a:rPr spc="-25" dirty="0"/>
              <a:t> </a:t>
            </a:r>
            <a:r>
              <a:rPr dirty="0"/>
              <a:t>Bassi,</a:t>
            </a:r>
            <a:r>
              <a:rPr spc="-40" dirty="0"/>
              <a:t> </a:t>
            </a:r>
            <a:r>
              <a:rPr dirty="0"/>
              <a:t>L.</a:t>
            </a:r>
            <a:r>
              <a:rPr spc="-40" dirty="0"/>
              <a:t> </a:t>
            </a:r>
            <a:r>
              <a:rPr spc="-10" dirty="0"/>
              <a:t>Colalongo,</a:t>
            </a:r>
            <a:r>
              <a:rPr spc="-5" dirty="0"/>
              <a:t> </a:t>
            </a:r>
            <a:r>
              <a:rPr dirty="0"/>
              <a:t>A.</a:t>
            </a:r>
            <a:r>
              <a:rPr spc="-20" dirty="0"/>
              <a:t> </a:t>
            </a:r>
            <a:r>
              <a:rPr dirty="0"/>
              <a:t>Richelli,</a:t>
            </a:r>
            <a:r>
              <a:rPr spc="5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Z.</a:t>
            </a:r>
            <a:r>
              <a:rPr spc="-30" dirty="0"/>
              <a:t> </a:t>
            </a:r>
            <a:r>
              <a:rPr dirty="0"/>
              <a:t>M.</a:t>
            </a:r>
            <a:r>
              <a:rPr spc="-10" dirty="0"/>
              <a:t> </a:t>
            </a:r>
            <a:r>
              <a:rPr spc="-25" dirty="0"/>
              <a:t>Kovacs-</a:t>
            </a:r>
            <a:r>
              <a:rPr spc="-10" dirty="0"/>
              <a:t>Vajna,</a:t>
            </a:r>
            <a:r>
              <a:rPr spc="15" dirty="0"/>
              <a:t> </a:t>
            </a:r>
            <a:r>
              <a:rPr dirty="0"/>
              <a:t>“100</a:t>
            </a:r>
            <a:r>
              <a:rPr spc="-20" dirty="0"/>
              <a:t> </a:t>
            </a:r>
            <a:r>
              <a:rPr dirty="0"/>
              <a:t>mV</a:t>
            </a:r>
            <a:r>
              <a:rPr spc="-20" dirty="0"/>
              <a:t> </a:t>
            </a:r>
            <a:r>
              <a:rPr dirty="0"/>
              <a:t>1.2</a:t>
            </a:r>
            <a:r>
              <a:rPr spc="-5" dirty="0"/>
              <a:t> </a:t>
            </a:r>
            <a:r>
              <a:rPr dirty="0"/>
              <a:t>V</a:t>
            </a:r>
            <a:r>
              <a:rPr spc="-45" dirty="0"/>
              <a:t> </a:t>
            </a:r>
            <a:r>
              <a:rPr spc="-20" dirty="0"/>
              <a:t>fully-</a:t>
            </a:r>
            <a:r>
              <a:rPr dirty="0"/>
              <a:t>integrated</a:t>
            </a:r>
            <a:r>
              <a:rPr spc="-10" dirty="0"/>
              <a:t> </a:t>
            </a:r>
            <a:r>
              <a:rPr dirty="0"/>
              <a:t>DC–DC</a:t>
            </a:r>
            <a:r>
              <a:rPr spc="-15" dirty="0"/>
              <a:t> </a:t>
            </a:r>
            <a:r>
              <a:rPr dirty="0"/>
              <a:t>converters</a:t>
            </a:r>
            <a:r>
              <a:rPr spc="-30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spc="-10" dirty="0"/>
              <a:t>thermal </a:t>
            </a:r>
            <a:r>
              <a:rPr dirty="0"/>
              <a:t>energy</a:t>
            </a:r>
            <a:r>
              <a:rPr spc="-40" dirty="0"/>
              <a:t> </a:t>
            </a:r>
            <a:r>
              <a:rPr dirty="0"/>
              <a:t>harvesting,”</a:t>
            </a:r>
            <a:r>
              <a:rPr spc="-35" dirty="0"/>
              <a:t> </a:t>
            </a:r>
            <a:r>
              <a:rPr dirty="0"/>
              <a:t>IET</a:t>
            </a:r>
            <a:r>
              <a:rPr spc="-50" dirty="0"/>
              <a:t> </a:t>
            </a:r>
            <a:r>
              <a:rPr dirty="0"/>
              <a:t>Power</a:t>
            </a:r>
            <a:r>
              <a:rPr spc="-20" dirty="0"/>
              <a:t> </a:t>
            </a:r>
            <a:r>
              <a:rPr dirty="0"/>
              <a:t>Electron.,</a:t>
            </a:r>
            <a:r>
              <a:rPr spc="-55" dirty="0"/>
              <a:t> </a:t>
            </a:r>
            <a:r>
              <a:rPr dirty="0"/>
              <a:t>vol.</a:t>
            </a:r>
            <a:r>
              <a:rPr spc="-10" dirty="0"/>
              <a:t> </a:t>
            </a:r>
            <a:r>
              <a:rPr dirty="0"/>
              <a:t>6,</a:t>
            </a:r>
            <a:r>
              <a:rPr spc="-45" dirty="0"/>
              <a:t> </a:t>
            </a:r>
            <a:r>
              <a:rPr dirty="0"/>
              <a:t>no.</a:t>
            </a:r>
            <a:r>
              <a:rPr spc="-10" dirty="0"/>
              <a:t> </a:t>
            </a:r>
            <a:r>
              <a:rPr dirty="0"/>
              <a:t>6,</a:t>
            </a:r>
            <a:r>
              <a:rPr spc="-35" dirty="0"/>
              <a:t> </a:t>
            </a:r>
            <a:r>
              <a:rPr dirty="0"/>
              <a:t>pp.</a:t>
            </a:r>
            <a:r>
              <a:rPr spc="-55" dirty="0"/>
              <a:t> </a:t>
            </a:r>
            <a:r>
              <a:rPr dirty="0"/>
              <a:t>1151–1156,</a:t>
            </a:r>
            <a:r>
              <a:rPr spc="-25" dirty="0"/>
              <a:t> </a:t>
            </a:r>
            <a:r>
              <a:rPr dirty="0"/>
              <a:t>Jul.</a:t>
            </a:r>
            <a:r>
              <a:rPr spc="-35" dirty="0"/>
              <a:t> </a:t>
            </a:r>
            <a:r>
              <a:rPr spc="-10" dirty="0"/>
              <a:t>2013.</a:t>
            </a:r>
          </a:p>
          <a:p>
            <a:pPr marL="12700" marR="314960" indent="243840">
              <a:lnSpc>
                <a:spcPct val="100000"/>
              </a:lnSpc>
              <a:buSzPct val="91304"/>
              <a:buAutoNum type="arabicPlain"/>
              <a:tabLst>
                <a:tab pos="256540" algn="l"/>
              </a:tabLst>
            </a:pPr>
            <a:r>
              <a:rPr spc="-55" dirty="0"/>
              <a:t>P.</a:t>
            </a:r>
            <a:r>
              <a:rPr spc="-70" dirty="0"/>
              <a:t> </a:t>
            </a:r>
            <a:r>
              <a:rPr dirty="0"/>
              <a:t>Malcovati,</a:t>
            </a:r>
            <a:r>
              <a:rPr spc="-25" dirty="0"/>
              <a:t> </a:t>
            </a:r>
            <a:r>
              <a:rPr dirty="0"/>
              <a:t>F. Maloberti,</a:t>
            </a:r>
            <a:r>
              <a:rPr spc="-15" dirty="0"/>
              <a:t> </a:t>
            </a:r>
            <a:r>
              <a:rPr dirty="0"/>
              <a:t>C.</a:t>
            </a:r>
            <a:r>
              <a:rPr spc="-15" dirty="0"/>
              <a:t> </a:t>
            </a:r>
            <a:r>
              <a:rPr dirty="0"/>
              <a:t>Fiocchi, and</a:t>
            </a:r>
            <a:r>
              <a:rPr spc="-15" dirty="0"/>
              <a:t> </a:t>
            </a:r>
            <a:r>
              <a:rPr dirty="0"/>
              <a:t>M. Pruzzi,</a:t>
            </a:r>
            <a:r>
              <a:rPr spc="-15" dirty="0"/>
              <a:t> </a:t>
            </a:r>
            <a:r>
              <a:rPr dirty="0"/>
              <a:t>“Curvature</a:t>
            </a:r>
            <a:r>
              <a:rPr spc="-35" dirty="0"/>
              <a:t> </a:t>
            </a:r>
            <a:r>
              <a:rPr dirty="0"/>
              <a:t>com</a:t>
            </a:r>
            <a:r>
              <a:rPr spc="-5" dirty="0"/>
              <a:t> </a:t>
            </a:r>
            <a:r>
              <a:rPr dirty="0"/>
              <a:t>pensated</a:t>
            </a:r>
            <a:r>
              <a:rPr spc="-50" dirty="0"/>
              <a:t> </a:t>
            </a:r>
            <a:r>
              <a:rPr spc="-25" dirty="0"/>
              <a:t>BiCMOSbandgapwith1-</a:t>
            </a:r>
            <a:r>
              <a:rPr spc="-10" dirty="0"/>
              <a:t>Vsupplyvoltage,” </a:t>
            </a:r>
            <a:r>
              <a:rPr dirty="0"/>
              <a:t>IEEE</a:t>
            </a:r>
            <a:r>
              <a:rPr spc="-30" dirty="0"/>
              <a:t> </a:t>
            </a:r>
            <a:r>
              <a:rPr dirty="0"/>
              <a:t>J. </a:t>
            </a:r>
            <a:r>
              <a:rPr spc="-25" dirty="0"/>
              <a:t>Solid-</a:t>
            </a:r>
            <a:r>
              <a:rPr dirty="0"/>
              <a:t>State</a:t>
            </a:r>
            <a:r>
              <a:rPr spc="10" dirty="0"/>
              <a:t> </a:t>
            </a:r>
            <a:r>
              <a:rPr dirty="0"/>
              <a:t>Circuits,</a:t>
            </a:r>
            <a:r>
              <a:rPr spc="-35" dirty="0"/>
              <a:t> </a:t>
            </a:r>
            <a:r>
              <a:rPr dirty="0"/>
              <a:t>vol.</a:t>
            </a:r>
            <a:r>
              <a:rPr spc="10" dirty="0"/>
              <a:t> </a:t>
            </a:r>
            <a:r>
              <a:rPr dirty="0"/>
              <a:t>36, no. 7,</a:t>
            </a:r>
            <a:r>
              <a:rPr spc="-15" dirty="0"/>
              <a:t> </a:t>
            </a:r>
            <a:r>
              <a:rPr dirty="0"/>
              <a:t>pp.</a:t>
            </a:r>
            <a:r>
              <a:rPr spc="-15" dirty="0"/>
              <a:t> </a:t>
            </a:r>
            <a:r>
              <a:rPr dirty="0"/>
              <a:t>1076–1081,</a:t>
            </a:r>
            <a:r>
              <a:rPr spc="-25" dirty="0"/>
              <a:t> </a:t>
            </a:r>
            <a:r>
              <a:rPr dirty="0"/>
              <a:t>Jul.</a:t>
            </a:r>
            <a:r>
              <a:rPr spc="-5" dirty="0"/>
              <a:t> </a:t>
            </a:r>
            <a:r>
              <a:rPr spc="-10" dirty="0"/>
              <a:t>2001.</a:t>
            </a:r>
          </a:p>
          <a:p>
            <a:pPr marL="12700" marR="378460" indent="207645">
              <a:lnSpc>
                <a:spcPct val="100000"/>
              </a:lnSpc>
              <a:buSzPct val="91304"/>
              <a:buAutoNum type="arabicPlain"/>
              <a:tabLst>
                <a:tab pos="220345" algn="l"/>
              </a:tabLst>
            </a:pPr>
            <a:r>
              <a:rPr dirty="0"/>
              <a:t>J.</a:t>
            </a:r>
            <a:r>
              <a:rPr spc="-45" dirty="0"/>
              <a:t> </a:t>
            </a:r>
            <a:r>
              <a:rPr dirty="0"/>
              <a:t>Doyle,</a:t>
            </a:r>
            <a:r>
              <a:rPr spc="10" dirty="0"/>
              <a:t> </a:t>
            </a:r>
            <a:r>
              <a:rPr spc="-35" dirty="0"/>
              <a:t>Y.</a:t>
            </a:r>
            <a:r>
              <a:rPr spc="-70" dirty="0"/>
              <a:t> </a:t>
            </a:r>
            <a:r>
              <a:rPr dirty="0"/>
              <a:t>J.</a:t>
            </a:r>
            <a:r>
              <a:rPr spc="-25" dirty="0"/>
              <a:t> </a:t>
            </a:r>
            <a:r>
              <a:rPr dirty="0"/>
              <a:t>Lee,</a:t>
            </a:r>
            <a:r>
              <a:rPr spc="-25" dirty="0"/>
              <a:t> </a:t>
            </a:r>
            <a:r>
              <a:rPr spc="-55" dirty="0"/>
              <a:t>Y.-</a:t>
            </a:r>
            <a:r>
              <a:rPr dirty="0"/>
              <a:t>B.</a:t>
            </a:r>
            <a:r>
              <a:rPr spc="-60" dirty="0"/>
              <a:t> </a:t>
            </a:r>
            <a:r>
              <a:rPr dirty="0"/>
              <a:t>Kim,</a:t>
            </a:r>
            <a:r>
              <a:rPr spc="-25" dirty="0"/>
              <a:t> </a:t>
            </a:r>
            <a:r>
              <a:rPr dirty="0"/>
              <a:t>H.</a:t>
            </a:r>
            <a:r>
              <a:rPr spc="-10" dirty="0"/>
              <a:t> </a:t>
            </a:r>
            <a:r>
              <a:rPr dirty="0"/>
              <a:t>Wilsch,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F.</a:t>
            </a:r>
            <a:r>
              <a:rPr spc="-10" dirty="0"/>
              <a:t> </a:t>
            </a:r>
            <a:r>
              <a:rPr dirty="0"/>
              <a:t>Lombardi,</a:t>
            </a:r>
            <a:r>
              <a:rPr spc="-70" dirty="0"/>
              <a:t> </a:t>
            </a:r>
            <a:r>
              <a:rPr dirty="0"/>
              <a:t>“ACMOS</a:t>
            </a:r>
            <a:r>
              <a:rPr spc="-30" dirty="0"/>
              <a:t> </a:t>
            </a:r>
            <a:r>
              <a:rPr dirty="0"/>
              <a:t>subbandgap</a:t>
            </a:r>
            <a:r>
              <a:rPr spc="-50" dirty="0"/>
              <a:t> </a:t>
            </a:r>
            <a:r>
              <a:rPr dirty="0"/>
              <a:t>reference</a:t>
            </a:r>
            <a:r>
              <a:rPr spc="-50" dirty="0"/>
              <a:t> </a:t>
            </a:r>
            <a:r>
              <a:rPr dirty="0"/>
              <a:t>circuit</a:t>
            </a:r>
            <a:r>
              <a:rPr spc="-20" dirty="0"/>
              <a:t> </a:t>
            </a:r>
            <a:r>
              <a:rPr dirty="0"/>
              <a:t>with</a:t>
            </a:r>
            <a:r>
              <a:rPr spc="-15" dirty="0"/>
              <a:t> </a:t>
            </a:r>
            <a:r>
              <a:rPr spc="-25" dirty="0"/>
              <a:t>1-</a:t>
            </a:r>
            <a:r>
              <a:rPr dirty="0"/>
              <a:t>V</a:t>
            </a:r>
            <a:r>
              <a:rPr spc="-25" dirty="0"/>
              <a:t> </a:t>
            </a:r>
            <a:r>
              <a:rPr dirty="0"/>
              <a:t>power</a:t>
            </a:r>
            <a:r>
              <a:rPr spc="-30" dirty="0"/>
              <a:t> </a:t>
            </a:r>
            <a:r>
              <a:rPr spc="-10" dirty="0"/>
              <a:t>supply </a:t>
            </a:r>
            <a:r>
              <a:rPr dirty="0"/>
              <a:t>voltage,”</a:t>
            </a:r>
            <a:r>
              <a:rPr spc="-5" dirty="0"/>
              <a:t> </a:t>
            </a:r>
            <a:r>
              <a:rPr dirty="0"/>
              <a:t>IEEE</a:t>
            </a:r>
            <a:r>
              <a:rPr spc="-30" dirty="0"/>
              <a:t> </a:t>
            </a:r>
            <a:r>
              <a:rPr dirty="0"/>
              <a:t>J. </a:t>
            </a:r>
            <a:r>
              <a:rPr spc="-25" dirty="0"/>
              <a:t>Solid-</a:t>
            </a:r>
            <a:r>
              <a:rPr dirty="0"/>
              <a:t>State</a:t>
            </a:r>
            <a:r>
              <a:rPr spc="-5" dirty="0"/>
              <a:t> </a:t>
            </a:r>
            <a:r>
              <a:rPr dirty="0"/>
              <a:t>Circuits,</a:t>
            </a:r>
            <a:r>
              <a:rPr spc="-35" dirty="0"/>
              <a:t> </a:t>
            </a:r>
            <a:r>
              <a:rPr dirty="0"/>
              <a:t>vol.</a:t>
            </a:r>
            <a:r>
              <a:rPr spc="5" dirty="0"/>
              <a:t> </a:t>
            </a:r>
            <a:r>
              <a:rPr dirty="0"/>
              <a:t>39,</a:t>
            </a:r>
            <a:r>
              <a:rPr spc="-15" dirty="0"/>
              <a:t> </a:t>
            </a:r>
            <a:r>
              <a:rPr dirty="0"/>
              <a:t>no.</a:t>
            </a:r>
            <a:r>
              <a:rPr spc="-5" dirty="0"/>
              <a:t> </a:t>
            </a:r>
            <a:r>
              <a:rPr dirty="0"/>
              <a:t>1,</a:t>
            </a:r>
            <a:r>
              <a:rPr spc="-5" dirty="0"/>
              <a:t> </a:t>
            </a:r>
            <a:r>
              <a:rPr dirty="0"/>
              <a:t>pp.</a:t>
            </a:r>
            <a:r>
              <a:rPr spc="-60" dirty="0"/>
              <a:t> </a:t>
            </a:r>
            <a:r>
              <a:rPr dirty="0"/>
              <a:t>252–255,</a:t>
            </a:r>
            <a:r>
              <a:rPr spc="-5" dirty="0"/>
              <a:t> </a:t>
            </a:r>
            <a:r>
              <a:rPr dirty="0"/>
              <a:t>Jan. </a:t>
            </a:r>
            <a:r>
              <a:rPr spc="-10" dirty="0"/>
              <a:t>2004.</a:t>
            </a:r>
          </a:p>
          <a:p>
            <a:pPr marL="12700" marR="184785" indent="243840">
              <a:lnSpc>
                <a:spcPct val="100000"/>
              </a:lnSpc>
              <a:buSzPct val="91304"/>
              <a:buAutoNum type="arabicPlain"/>
              <a:tabLst>
                <a:tab pos="256540" algn="l"/>
              </a:tabLst>
            </a:pPr>
            <a:r>
              <a:rPr spc="-55" dirty="0"/>
              <a:t>V.</a:t>
            </a:r>
            <a:r>
              <a:rPr spc="-85" dirty="0"/>
              <a:t> </a:t>
            </a:r>
            <a:r>
              <a:rPr spc="-20" dirty="0"/>
              <a:t>Ivanov,</a:t>
            </a:r>
            <a:r>
              <a:rPr dirty="0"/>
              <a:t> R.</a:t>
            </a:r>
            <a:r>
              <a:rPr spc="-35" dirty="0"/>
              <a:t> </a:t>
            </a:r>
            <a:r>
              <a:rPr spc="-10" dirty="0"/>
              <a:t>Brederlow,</a:t>
            </a:r>
            <a:r>
              <a:rPr spc="-2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J.</a:t>
            </a:r>
            <a:r>
              <a:rPr spc="-5" dirty="0"/>
              <a:t> </a:t>
            </a:r>
            <a:r>
              <a:rPr dirty="0"/>
              <a:t>Gerber,</a:t>
            </a:r>
            <a:r>
              <a:rPr spc="-25" dirty="0"/>
              <a:t> </a:t>
            </a:r>
            <a:r>
              <a:rPr spc="-55" dirty="0"/>
              <a:t>“An</a:t>
            </a:r>
            <a:r>
              <a:rPr spc="-75" dirty="0"/>
              <a:t> </a:t>
            </a:r>
            <a:r>
              <a:rPr dirty="0"/>
              <a:t>ultra</a:t>
            </a:r>
            <a:r>
              <a:rPr spc="-40" dirty="0"/>
              <a:t> </a:t>
            </a:r>
            <a:r>
              <a:rPr dirty="0"/>
              <a:t>low</a:t>
            </a:r>
            <a:r>
              <a:rPr spc="5" dirty="0"/>
              <a:t> </a:t>
            </a:r>
            <a:r>
              <a:rPr dirty="0"/>
              <a:t>power</a:t>
            </a:r>
            <a:r>
              <a:rPr spc="-10" dirty="0"/>
              <a:t> bandgap</a:t>
            </a:r>
            <a:r>
              <a:rPr spc="-55" dirty="0"/>
              <a:t> </a:t>
            </a:r>
            <a:r>
              <a:rPr dirty="0"/>
              <a:t>operational</a:t>
            </a:r>
            <a:r>
              <a:rPr spc="-5" dirty="0"/>
              <a:t> </a:t>
            </a:r>
            <a:r>
              <a:rPr dirty="0"/>
              <a:t>at</a:t>
            </a:r>
            <a:r>
              <a:rPr spc="-5" dirty="0"/>
              <a:t> </a:t>
            </a:r>
            <a:r>
              <a:rPr dirty="0"/>
              <a:t>supply</a:t>
            </a:r>
            <a:r>
              <a:rPr spc="-65" dirty="0"/>
              <a:t> </a:t>
            </a:r>
            <a:r>
              <a:rPr dirty="0"/>
              <a:t>from</a:t>
            </a:r>
            <a:r>
              <a:rPr spc="-10" dirty="0"/>
              <a:t> </a:t>
            </a:r>
            <a:r>
              <a:rPr dirty="0"/>
              <a:t>0.75</a:t>
            </a:r>
            <a:r>
              <a:rPr spc="-15" dirty="0"/>
              <a:t> </a:t>
            </a:r>
            <a:r>
              <a:rPr spc="-30" dirty="0"/>
              <a:t>V,”</a:t>
            </a:r>
            <a:r>
              <a:rPr spc="-60" dirty="0"/>
              <a:t> </a:t>
            </a:r>
            <a:r>
              <a:rPr dirty="0"/>
              <a:t>IEEE</a:t>
            </a:r>
            <a:r>
              <a:rPr spc="-25" dirty="0"/>
              <a:t> </a:t>
            </a:r>
            <a:r>
              <a:rPr dirty="0"/>
              <a:t>J.</a:t>
            </a:r>
            <a:r>
              <a:rPr spc="-20" dirty="0"/>
              <a:t> </a:t>
            </a:r>
            <a:r>
              <a:rPr spc="-25" dirty="0"/>
              <a:t>Solid-</a:t>
            </a:r>
            <a:r>
              <a:rPr spc="-10" dirty="0"/>
              <a:t>State </a:t>
            </a:r>
            <a:r>
              <a:rPr dirty="0"/>
              <a:t>Circuits,</a:t>
            </a:r>
            <a:r>
              <a:rPr spc="-55" dirty="0"/>
              <a:t> </a:t>
            </a:r>
            <a:r>
              <a:rPr dirty="0"/>
              <a:t>vol.</a:t>
            </a:r>
            <a:r>
              <a:rPr spc="30" dirty="0"/>
              <a:t> </a:t>
            </a:r>
            <a:r>
              <a:rPr dirty="0"/>
              <a:t>47,</a:t>
            </a:r>
            <a:r>
              <a:rPr spc="-30" dirty="0"/>
              <a:t> </a:t>
            </a:r>
            <a:r>
              <a:rPr dirty="0"/>
              <a:t>no.</a:t>
            </a:r>
            <a:r>
              <a:rPr spc="-5" dirty="0"/>
              <a:t> </a:t>
            </a:r>
            <a:r>
              <a:rPr dirty="0"/>
              <a:t>7,</a:t>
            </a:r>
            <a:r>
              <a:rPr spc="-5" dirty="0"/>
              <a:t> </a:t>
            </a:r>
            <a:r>
              <a:rPr dirty="0"/>
              <a:t>pp.</a:t>
            </a:r>
            <a:r>
              <a:rPr spc="-55" dirty="0"/>
              <a:t> </a:t>
            </a:r>
            <a:r>
              <a:rPr dirty="0"/>
              <a:t>1515–1523,</a:t>
            </a:r>
            <a:r>
              <a:rPr spc="-5" dirty="0"/>
              <a:t> </a:t>
            </a:r>
            <a:r>
              <a:rPr dirty="0"/>
              <a:t>Jul.</a:t>
            </a:r>
            <a:r>
              <a:rPr spc="-5" dirty="0"/>
              <a:t> </a:t>
            </a:r>
            <a:r>
              <a:rPr spc="-20" dirty="0"/>
              <a:t>2012.</a:t>
            </a:r>
          </a:p>
          <a:p>
            <a:pPr marL="12700" marR="114300" indent="243840">
              <a:lnSpc>
                <a:spcPct val="100000"/>
              </a:lnSpc>
              <a:buSzPct val="91304"/>
              <a:buAutoNum type="arabicPlain"/>
              <a:tabLst>
                <a:tab pos="256540" algn="l"/>
              </a:tabLst>
            </a:pPr>
            <a:r>
              <a:rPr spc="-35" dirty="0"/>
              <a:t>Y.</a:t>
            </a:r>
            <a:r>
              <a:rPr spc="-95" dirty="0"/>
              <a:t> </a:t>
            </a:r>
            <a:r>
              <a:rPr spc="-20" dirty="0"/>
              <a:t>Yang,</a:t>
            </a:r>
            <a:r>
              <a:rPr spc="-15" dirty="0"/>
              <a:t> </a:t>
            </a:r>
            <a:r>
              <a:rPr dirty="0"/>
              <a:t>D.</a:t>
            </a:r>
            <a:r>
              <a:rPr spc="-10" dirty="0"/>
              <a:t> </a:t>
            </a:r>
            <a:r>
              <a:rPr dirty="0"/>
              <a:t>M.</a:t>
            </a:r>
            <a:r>
              <a:rPr spc="-30" dirty="0"/>
              <a:t> </a:t>
            </a:r>
            <a:r>
              <a:rPr spc="-20" dirty="0"/>
              <a:t>Binkley,</a:t>
            </a:r>
            <a:r>
              <a:rPr spc="25" dirty="0"/>
              <a:t> </a:t>
            </a:r>
            <a:r>
              <a:rPr dirty="0"/>
              <a:t>L.</a:t>
            </a:r>
            <a:r>
              <a:rPr spc="-30" dirty="0"/>
              <a:t> </a:t>
            </a:r>
            <a:r>
              <a:rPr dirty="0"/>
              <a:t>Li,</a:t>
            </a:r>
            <a:r>
              <a:rPr spc="-45" dirty="0"/>
              <a:t> </a:t>
            </a:r>
            <a:r>
              <a:rPr dirty="0"/>
              <a:t>C.</a:t>
            </a:r>
            <a:r>
              <a:rPr spc="-30" dirty="0"/>
              <a:t> </a:t>
            </a:r>
            <a:r>
              <a:rPr dirty="0"/>
              <a:t>Gu,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C.</a:t>
            </a:r>
            <a:r>
              <a:rPr spc="-25" dirty="0"/>
              <a:t> </a:t>
            </a:r>
            <a:r>
              <a:rPr dirty="0"/>
              <a:t>Li,</a:t>
            </a:r>
            <a:r>
              <a:rPr spc="-30" dirty="0"/>
              <a:t> </a:t>
            </a:r>
            <a:r>
              <a:rPr spc="-60" dirty="0"/>
              <a:t>“All-</a:t>
            </a:r>
            <a:r>
              <a:rPr dirty="0"/>
              <a:t>CMOS</a:t>
            </a:r>
            <a:r>
              <a:rPr spc="15" dirty="0"/>
              <a:t> </a:t>
            </a:r>
            <a:r>
              <a:rPr dirty="0"/>
              <a:t>subbandgap</a:t>
            </a:r>
            <a:r>
              <a:rPr spc="-30" dirty="0"/>
              <a:t> </a:t>
            </a:r>
            <a:r>
              <a:rPr dirty="0"/>
              <a:t>reference</a:t>
            </a:r>
            <a:r>
              <a:rPr spc="-35" dirty="0"/>
              <a:t> </a:t>
            </a:r>
            <a:r>
              <a:rPr dirty="0"/>
              <a:t>circuit</a:t>
            </a:r>
            <a:r>
              <a:rPr spc="-25" dirty="0"/>
              <a:t> </a:t>
            </a:r>
            <a:r>
              <a:rPr dirty="0"/>
              <a:t>operating</a:t>
            </a:r>
            <a:r>
              <a:rPr spc="-50" dirty="0"/>
              <a:t> </a:t>
            </a:r>
            <a:r>
              <a:rPr dirty="0"/>
              <a:t>at</a:t>
            </a:r>
            <a:r>
              <a:rPr spc="-10" dirty="0"/>
              <a:t> </a:t>
            </a:r>
            <a:r>
              <a:rPr dirty="0"/>
              <a:t>low</a:t>
            </a:r>
            <a:r>
              <a:rPr spc="-5" dirty="0"/>
              <a:t> </a:t>
            </a:r>
            <a:r>
              <a:rPr dirty="0"/>
              <a:t>supply</a:t>
            </a:r>
            <a:r>
              <a:rPr spc="-50" dirty="0"/>
              <a:t> </a:t>
            </a:r>
            <a:r>
              <a:rPr dirty="0"/>
              <a:t>voltage,”</a:t>
            </a:r>
            <a:r>
              <a:rPr spc="-5" dirty="0"/>
              <a:t> </a:t>
            </a:r>
            <a:r>
              <a:rPr spc="-25" dirty="0"/>
              <a:t>in </a:t>
            </a:r>
            <a:r>
              <a:rPr dirty="0"/>
              <a:t>Proc.</a:t>
            </a:r>
            <a:r>
              <a:rPr spc="-30" dirty="0"/>
              <a:t> </a:t>
            </a:r>
            <a:r>
              <a:rPr dirty="0"/>
              <a:t>IEEE</a:t>
            </a:r>
            <a:r>
              <a:rPr spc="-35" dirty="0"/>
              <a:t> </a:t>
            </a:r>
            <a:r>
              <a:rPr dirty="0"/>
              <a:t>ISCAS, 2011,</a:t>
            </a:r>
            <a:r>
              <a:rPr spc="-25" dirty="0"/>
              <a:t> </a:t>
            </a:r>
            <a:r>
              <a:rPr dirty="0"/>
              <a:t>pp.</a:t>
            </a:r>
            <a:r>
              <a:rPr spc="-45" dirty="0"/>
              <a:t> </a:t>
            </a:r>
            <a:r>
              <a:rPr spc="-10" dirty="0"/>
              <a:t>893–896.</a:t>
            </a:r>
          </a:p>
          <a:p>
            <a:pPr marL="12700" marR="329565" indent="243840">
              <a:lnSpc>
                <a:spcPct val="100000"/>
              </a:lnSpc>
              <a:buSzPct val="91304"/>
              <a:buAutoNum type="arabicPlain"/>
              <a:tabLst>
                <a:tab pos="256540" algn="l"/>
              </a:tabLst>
            </a:pPr>
            <a:r>
              <a:rPr dirty="0"/>
              <a:t>G.</a:t>
            </a:r>
            <a:r>
              <a:rPr spc="-70" dirty="0"/>
              <a:t> </a:t>
            </a:r>
            <a:r>
              <a:rPr dirty="0"/>
              <a:t>Giustolisi,</a:t>
            </a:r>
            <a:r>
              <a:rPr spc="-35" dirty="0"/>
              <a:t> </a:t>
            </a:r>
            <a:r>
              <a:rPr dirty="0"/>
              <a:t>G.</a:t>
            </a:r>
            <a:r>
              <a:rPr spc="-45" dirty="0"/>
              <a:t> </a:t>
            </a:r>
            <a:r>
              <a:rPr dirty="0"/>
              <a:t>Palumbo,</a:t>
            </a:r>
            <a:r>
              <a:rPr spc="-25" dirty="0"/>
              <a:t> </a:t>
            </a:r>
            <a:r>
              <a:rPr dirty="0"/>
              <a:t>M.</a:t>
            </a:r>
            <a:r>
              <a:rPr spc="-25" dirty="0"/>
              <a:t> </a:t>
            </a:r>
            <a:r>
              <a:rPr dirty="0"/>
              <a:t>Criscione,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F.</a:t>
            </a:r>
            <a:r>
              <a:rPr spc="-45" dirty="0"/>
              <a:t> </a:t>
            </a:r>
            <a:r>
              <a:rPr dirty="0"/>
              <a:t>Cutrl,</a:t>
            </a:r>
            <a:r>
              <a:rPr spc="-50" dirty="0"/>
              <a:t> </a:t>
            </a:r>
            <a:r>
              <a:rPr spc="-65" dirty="0"/>
              <a:t>“A</a:t>
            </a:r>
            <a:r>
              <a:rPr spc="-160" dirty="0"/>
              <a:t> </a:t>
            </a:r>
            <a:r>
              <a:rPr spc="-25" dirty="0"/>
              <a:t>low-</a:t>
            </a:r>
            <a:r>
              <a:rPr dirty="0"/>
              <a:t>voltage</a:t>
            </a:r>
            <a:r>
              <a:rPr spc="10" dirty="0"/>
              <a:t> </a:t>
            </a:r>
            <a:r>
              <a:rPr spc="-25" dirty="0"/>
              <a:t>low-</a:t>
            </a:r>
            <a:r>
              <a:rPr dirty="0"/>
              <a:t>power</a:t>
            </a:r>
            <a:r>
              <a:rPr spc="-20" dirty="0"/>
              <a:t> </a:t>
            </a:r>
            <a:r>
              <a:rPr dirty="0"/>
              <a:t>voltage</a:t>
            </a:r>
            <a:r>
              <a:rPr spc="-25" dirty="0"/>
              <a:t> </a:t>
            </a:r>
            <a:r>
              <a:rPr dirty="0"/>
              <a:t>reference</a:t>
            </a:r>
            <a:r>
              <a:rPr spc="-35" dirty="0"/>
              <a:t> </a:t>
            </a:r>
            <a:r>
              <a:rPr dirty="0"/>
              <a:t>based</a:t>
            </a:r>
            <a:r>
              <a:rPr spc="-45" dirty="0"/>
              <a:t> </a:t>
            </a:r>
            <a:r>
              <a:rPr dirty="0"/>
              <a:t>on</a:t>
            </a:r>
            <a:r>
              <a:rPr spc="-15" dirty="0"/>
              <a:t> </a:t>
            </a:r>
            <a:r>
              <a:rPr spc="-10" dirty="0"/>
              <a:t>subthreshold MOSFETs,”</a:t>
            </a:r>
            <a:r>
              <a:rPr spc="-40" dirty="0"/>
              <a:t> </a:t>
            </a:r>
            <a:r>
              <a:rPr dirty="0"/>
              <a:t>IEEE</a:t>
            </a:r>
            <a:r>
              <a:rPr spc="-35" dirty="0"/>
              <a:t> </a:t>
            </a:r>
            <a:r>
              <a:rPr dirty="0"/>
              <a:t>J. </a:t>
            </a:r>
            <a:r>
              <a:rPr spc="-25" dirty="0"/>
              <a:t>Solid-</a:t>
            </a:r>
            <a:r>
              <a:rPr dirty="0"/>
              <a:t>State</a:t>
            </a:r>
            <a:r>
              <a:rPr spc="-5" dirty="0"/>
              <a:t> </a:t>
            </a:r>
            <a:r>
              <a:rPr dirty="0"/>
              <a:t>Circuits,</a:t>
            </a:r>
            <a:r>
              <a:rPr spc="-35" dirty="0"/>
              <a:t> </a:t>
            </a:r>
            <a:r>
              <a:rPr dirty="0"/>
              <a:t>vol.</a:t>
            </a:r>
            <a:r>
              <a:rPr spc="15" dirty="0"/>
              <a:t> </a:t>
            </a:r>
            <a:r>
              <a:rPr dirty="0"/>
              <a:t>38,</a:t>
            </a:r>
            <a:r>
              <a:rPr spc="-15" dirty="0"/>
              <a:t> </a:t>
            </a:r>
            <a:r>
              <a:rPr dirty="0"/>
              <a:t>no.</a:t>
            </a:r>
            <a:r>
              <a:rPr spc="10" dirty="0"/>
              <a:t> </a:t>
            </a:r>
            <a:r>
              <a:rPr dirty="0"/>
              <a:t>1,</a:t>
            </a:r>
            <a:r>
              <a:rPr spc="-20" dirty="0"/>
              <a:t> </a:t>
            </a:r>
            <a:r>
              <a:rPr dirty="0"/>
              <a:t>pp.</a:t>
            </a:r>
            <a:r>
              <a:rPr spc="-35" dirty="0"/>
              <a:t> </a:t>
            </a:r>
            <a:r>
              <a:rPr dirty="0"/>
              <a:t>151–154,</a:t>
            </a:r>
            <a:r>
              <a:rPr spc="-15" dirty="0"/>
              <a:t> </a:t>
            </a:r>
            <a:r>
              <a:rPr dirty="0"/>
              <a:t>Jan.</a:t>
            </a:r>
            <a:r>
              <a:rPr spc="-5" dirty="0"/>
              <a:t> </a:t>
            </a:r>
            <a:r>
              <a:rPr spc="-10" dirty="0"/>
              <a:t>2003.</a:t>
            </a:r>
          </a:p>
          <a:p>
            <a:pPr marL="12700" marR="325120" indent="243840">
              <a:lnSpc>
                <a:spcPct val="100000"/>
              </a:lnSpc>
              <a:buSzPct val="91304"/>
              <a:buAutoNum type="arabicPlain"/>
              <a:tabLst>
                <a:tab pos="256540" algn="l"/>
              </a:tabLst>
            </a:pPr>
            <a:r>
              <a:rPr spc="-55" dirty="0"/>
              <a:t>P.</a:t>
            </a:r>
            <a:r>
              <a:rPr spc="-70" dirty="0"/>
              <a:t> </a:t>
            </a:r>
            <a:r>
              <a:rPr dirty="0"/>
              <a:t>Kinget,</a:t>
            </a:r>
            <a:r>
              <a:rPr spc="-35" dirty="0"/>
              <a:t> </a:t>
            </a:r>
            <a:r>
              <a:rPr dirty="0"/>
              <a:t>C.</a:t>
            </a:r>
            <a:r>
              <a:rPr spc="-25" dirty="0"/>
              <a:t> </a:t>
            </a:r>
            <a:r>
              <a:rPr spc="-10" dirty="0"/>
              <a:t>Vezyrtzis,</a:t>
            </a:r>
            <a:r>
              <a:rPr spc="-35" dirty="0"/>
              <a:t> </a:t>
            </a:r>
            <a:r>
              <a:rPr dirty="0"/>
              <a:t>E.</a:t>
            </a:r>
            <a:r>
              <a:rPr spc="-45" dirty="0"/>
              <a:t> </a:t>
            </a:r>
            <a:r>
              <a:rPr dirty="0"/>
              <a:t>Chiang,</a:t>
            </a:r>
            <a:r>
              <a:rPr spc="-5" dirty="0"/>
              <a:t> </a:t>
            </a:r>
            <a:r>
              <a:rPr dirty="0"/>
              <a:t>B.</a:t>
            </a:r>
            <a:r>
              <a:rPr spc="-35" dirty="0"/>
              <a:t> </a:t>
            </a:r>
            <a:r>
              <a:rPr dirty="0"/>
              <a:t>Hung,</a:t>
            </a:r>
            <a:r>
              <a:rPr spc="-2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T.</a:t>
            </a:r>
            <a:r>
              <a:rPr spc="-60" dirty="0"/>
              <a:t> </a:t>
            </a:r>
            <a:r>
              <a:rPr dirty="0"/>
              <a:t>L.</a:t>
            </a:r>
            <a:r>
              <a:rPr spc="-45" dirty="0"/>
              <a:t> </a:t>
            </a:r>
            <a:r>
              <a:rPr dirty="0"/>
              <a:t>Li,</a:t>
            </a:r>
            <a:r>
              <a:rPr spc="-35" dirty="0"/>
              <a:t> </a:t>
            </a:r>
            <a:r>
              <a:rPr spc="-10" dirty="0"/>
              <a:t>“Voltage</a:t>
            </a:r>
            <a:r>
              <a:rPr spc="10" dirty="0"/>
              <a:t> </a:t>
            </a:r>
            <a:r>
              <a:rPr dirty="0"/>
              <a:t>references</a:t>
            </a:r>
            <a:r>
              <a:rPr spc="-40" dirty="0"/>
              <a:t> </a:t>
            </a:r>
            <a:r>
              <a:rPr dirty="0"/>
              <a:t>for</a:t>
            </a:r>
            <a:r>
              <a:rPr spc="-20" dirty="0"/>
              <a:t> ultra-</a:t>
            </a:r>
            <a:r>
              <a:rPr dirty="0"/>
              <a:t>low</a:t>
            </a:r>
            <a:r>
              <a:rPr spc="-30" dirty="0"/>
              <a:t> </a:t>
            </a:r>
            <a:r>
              <a:rPr dirty="0"/>
              <a:t>supply</a:t>
            </a:r>
            <a:r>
              <a:rPr spc="-65" dirty="0"/>
              <a:t> </a:t>
            </a:r>
            <a:r>
              <a:rPr dirty="0"/>
              <a:t>voltages,”</a:t>
            </a:r>
            <a:r>
              <a:rPr spc="-25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Proc.</a:t>
            </a:r>
            <a:r>
              <a:rPr spc="-10" dirty="0"/>
              <a:t> </a:t>
            </a:r>
            <a:r>
              <a:rPr spc="-20" dirty="0"/>
              <a:t>IEEE </a:t>
            </a:r>
            <a:r>
              <a:rPr dirty="0"/>
              <a:t>Custom</a:t>
            </a:r>
            <a:r>
              <a:rPr spc="-45" dirty="0"/>
              <a:t> </a:t>
            </a:r>
            <a:r>
              <a:rPr spc="-10" dirty="0"/>
              <a:t>Integr.</a:t>
            </a:r>
            <a:r>
              <a:rPr dirty="0"/>
              <a:t> Circuits</a:t>
            </a:r>
            <a:r>
              <a:rPr spc="-55" dirty="0"/>
              <a:t> </a:t>
            </a:r>
            <a:r>
              <a:rPr dirty="0"/>
              <a:t>Conf.,</a:t>
            </a:r>
            <a:r>
              <a:rPr spc="5" dirty="0"/>
              <a:t> </a:t>
            </a:r>
            <a:r>
              <a:rPr dirty="0"/>
              <a:t>2008,</a:t>
            </a:r>
            <a:r>
              <a:rPr spc="-30" dirty="0"/>
              <a:t> </a:t>
            </a:r>
            <a:r>
              <a:rPr dirty="0"/>
              <a:t>pp.</a:t>
            </a:r>
            <a:r>
              <a:rPr spc="-30" dirty="0"/>
              <a:t> </a:t>
            </a:r>
            <a:r>
              <a:rPr spc="-10" dirty="0"/>
              <a:t>715–720.</a:t>
            </a:r>
          </a:p>
          <a:p>
            <a:pPr marL="12700" marR="167005" indent="316865">
              <a:lnSpc>
                <a:spcPct val="100000"/>
              </a:lnSpc>
              <a:buSzPct val="91304"/>
              <a:buAutoNum type="arabicPlain"/>
              <a:tabLst>
                <a:tab pos="329565" algn="l"/>
              </a:tabLst>
            </a:pPr>
            <a:r>
              <a:rPr dirty="0"/>
              <a:t>L.</a:t>
            </a:r>
            <a:r>
              <a:rPr spc="-75" dirty="0"/>
              <a:t> </a:t>
            </a:r>
            <a:r>
              <a:rPr dirty="0"/>
              <a:t>Magnelli,</a:t>
            </a:r>
            <a:r>
              <a:rPr spc="-10" dirty="0"/>
              <a:t> </a:t>
            </a:r>
            <a:r>
              <a:rPr dirty="0"/>
              <a:t>F.</a:t>
            </a:r>
            <a:r>
              <a:rPr spc="-45" dirty="0"/>
              <a:t> </a:t>
            </a:r>
            <a:r>
              <a:rPr dirty="0"/>
              <a:t>Crupi,</a:t>
            </a:r>
            <a:r>
              <a:rPr spc="-55" dirty="0"/>
              <a:t> </a:t>
            </a:r>
            <a:r>
              <a:rPr spc="-50" dirty="0"/>
              <a:t>P.</a:t>
            </a:r>
            <a:r>
              <a:rPr spc="-60" dirty="0"/>
              <a:t> </a:t>
            </a:r>
            <a:r>
              <a:rPr dirty="0"/>
              <a:t>Corsonello,</a:t>
            </a:r>
            <a:r>
              <a:rPr spc="-25" dirty="0"/>
              <a:t> </a:t>
            </a:r>
            <a:r>
              <a:rPr dirty="0"/>
              <a:t>C.</a:t>
            </a:r>
            <a:r>
              <a:rPr spc="-25" dirty="0"/>
              <a:t> </a:t>
            </a:r>
            <a:r>
              <a:rPr dirty="0"/>
              <a:t>Pace,</a:t>
            </a:r>
            <a:r>
              <a:rPr spc="-2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G.</a:t>
            </a:r>
            <a:r>
              <a:rPr spc="-25" dirty="0"/>
              <a:t> </a:t>
            </a:r>
            <a:r>
              <a:rPr dirty="0"/>
              <a:t>Iannaccone,</a:t>
            </a:r>
            <a:r>
              <a:rPr spc="-25" dirty="0"/>
              <a:t> </a:t>
            </a:r>
            <a:r>
              <a:rPr spc="-65" dirty="0"/>
              <a:t>“A</a:t>
            </a:r>
            <a:r>
              <a:rPr spc="-140" dirty="0"/>
              <a:t> </a:t>
            </a:r>
            <a:r>
              <a:rPr dirty="0"/>
              <a:t>2.6</a:t>
            </a:r>
            <a:r>
              <a:rPr spc="-35" dirty="0"/>
              <a:t> </a:t>
            </a:r>
            <a:r>
              <a:rPr spc="-10" dirty="0"/>
              <a:t>nW,</a:t>
            </a:r>
            <a:r>
              <a:rPr spc="-25" dirty="0"/>
              <a:t> </a:t>
            </a:r>
            <a:r>
              <a:rPr dirty="0"/>
              <a:t>0.45</a:t>
            </a:r>
            <a:r>
              <a:rPr spc="-35" dirty="0"/>
              <a:t> </a:t>
            </a:r>
            <a:r>
              <a:rPr dirty="0"/>
              <a:t>V</a:t>
            </a:r>
            <a:r>
              <a:rPr spc="-25" dirty="0"/>
              <a:t> </a:t>
            </a:r>
            <a:r>
              <a:rPr spc="-10" dirty="0"/>
              <a:t>temperature-</a:t>
            </a:r>
            <a:r>
              <a:rPr dirty="0"/>
              <a:t>compensated</a:t>
            </a:r>
            <a:r>
              <a:rPr spc="-40" dirty="0"/>
              <a:t> </a:t>
            </a:r>
            <a:r>
              <a:rPr spc="-10" dirty="0"/>
              <a:t>subthreshold </a:t>
            </a:r>
            <a:r>
              <a:rPr dirty="0"/>
              <a:t>CMOS</a:t>
            </a:r>
            <a:r>
              <a:rPr spc="-25" dirty="0"/>
              <a:t> </a:t>
            </a:r>
            <a:r>
              <a:rPr dirty="0"/>
              <a:t>vol tage</a:t>
            </a:r>
            <a:r>
              <a:rPr spc="-30" dirty="0"/>
              <a:t> </a:t>
            </a:r>
            <a:r>
              <a:rPr dirty="0"/>
              <a:t>reference,”</a:t>
            </a:r>
            <a:r>
              <a:rPr spc="-5" dirty="0"/>
              <a:t> </a:t>
            </a:r>
            <a:r>
              <a:rPr dirty="0"/>
              <a:t>IEEE</a:t>
            </a:r>
            <a:r>
              <a:rPr spc="-40" dirty="0"/>
              <a:t> </a:t>
            </a:r>
            <a:r>
              <a:rPr dirty="0"/>
              <a:t>J.</a:t>
            </a:r>
            <a:r>
              <a:rPr spc="-30" dirty="0"/>
              <a:t> </a:t>
            </a:r>
            <a:r>
              <a:rPr spc="-25" dirty="0"/>
              <a:t>Solid-</a:t>
            </a:r>
            <a:r>
              <a:rPr dirty="0"/>
              <a:t>State</a:t>
            </a:r>
            <a:r>
              <a:rPr spc="-5" dirty="0"/>
              <a:t> </a:t>
            </a:r>
            <a:r>
              <a:rPr dirty="0"/>
              <a:t>Circuits,</a:t>
            </a:r>
            <a:r>
              <a:rPr spc="-30" dirty="0"/>
              <a:t> </a:t>
            </a:r>
            <a:r>
              <a:rPr dirty="0"/>
              <a:t>vol.</a:t>
            </a:r>
            <a:r>
              <a:rPr spc="-5" dirty="0"/>
              <a:t> </a:t>
            </a:r>
            <a:r>
              <a:rPr dirty="0"/>
              <a:t>46,</a:t>
            </a:r>
            <a:r>
              <a:rPr spc="-20" dirty="0"/>
              <a:t> </a:t>
            </a:r>
            <a:r>
              <a:rPr dirty="0"/>
              <a:t>no.</a:t>
            </a:r>
            <a:r>
              <a:rPr spc="5" dirty="0"/>
              <a:t> </a:t>
            </a:r>
            <a:r>
              <a:rPr dirty="0"/>
              <a:t>2,</a:t>
            </a:r>
            <a:r>
              <a:rPr spc="-20" dirty="0"/>
              <a:t> </a:t>
            </a:r>
            <a:r>
              <a:rPr dirty="0"/>
              <a:t>pp.</a:t>
            </a:r>
            <a:r>
              <a:rPr spc="-40" dirty="0"/>
              <a:t> </a:t>
            </a:r>
            <a:r>
              <a:rPr dirty="0"/>
              <a:t>465–474,</a:t>
            </a:r>
            <a:r>
              <a:rPr spc="-20" dirty="0"/>
              <a:t> </a:t>
            </a:r>
            <a:r>
              <a:rPr dirty="0"/>
              <a:t>Feb.</a:t>
            </a:r>
            <a:r>
              <a:rPr spc="-5" dirty="0"/>
              <a:t> </a:t>
            </a:r>
            <a:r>
              <a:rPr spc="-20" dirty="0"/>
              <a:t>2011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3792" y="1182624"/>
            <a:ext cx="818387" cy="70256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2273" y="3554961"/>
            <a:ext cx="247015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THANK</a:t>
            </a:r>
            <a:r>
              <a:rPr spc="-170" dirty="0"/>
              <a:t> </a:t>
            </a:r>
            <a:r>
              <a:rPr spc="-25" dirty="0"/>
              <a:t>YOU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3792" y="1182624"/>
            <a:ext cx="818387" cy="70256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2515</Words>
  <Application>Microsoft Office PowerPoint</Application>
  <PresentationFormat>Custom</PresentationFormat>
  <Paragraphs>223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 MT</vt:lpstr>
      <vt:lpstr>Palatino Linotype</vt:lpstr>
      <vt:lpstr>Segoe UI Symbol</vt:lpstr>
      <vt:lpstr>Times New Roman</vt:lpstr>
      <vt:lpstr>Verdana</vt:lpstr>
      <vt:lpstr>Office Theme</vt:lpstr>
      <vt:lpstr>OPTIMIZATION OF INDUCTOR-BASED DICKSON CHARGE PUMP FOR LOW-POWER APPLICATION</vt:lpstr>
      <vt:lpstr>Outline</vt:lpstr>
      <vt:lpstr>Abstract</vt:lpstr>
      <vt:lpstr>Introduction</vt:lpstr>
      <vt:lpstr>Literature Survey</vt:lpstr>
      <vt:lpstr>Literature Survey</vt:lpstr>
      <vt:lpstr>Motivation</vt:lpstr>
      <vt:lpstr>Objective</vt:lpstr>
      <vt:lpstr>Existing Method</vt:lpstr>
      <vt:lpstr>SCHEMATIC FOR DICKSON CHARGE PUMP</vt:lpstr>
      <vt:lpstr>PowerPoint Presentation</vt:lpstr>
      <vt:lpstr>Proposed Method</vt:lpstr>
      <vt:lpstr>Explanation of Proposed Work</vt:lpstr>
      <vt:lpstr>Explanation of Proposed Work</vt:lpstr>
      <vt:lpstr>System Architecture/Proposed work Block diagram</vt:lpstr>
      <vt:lpstr>PowerPoint Presentation</vt:lpstr>
      <vt:lpstr>Hardware &amp; Software Involved</vt:lpstr>
      <vt:lpstr>Application &amp; Advantages</vt:lpstr>
      <vt:lpstr> RESULTS</vt:lpstr>
      <vt:lpstr>References (APA Style)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ppt final[1]  -  Read-Only</dc:title>
  <dc:creator>swarupa marpudi</dc:creator>
  <cp:lastModifiedBy>swarupa marpudi</cp:lastModifiedBy>
  <cp:revision>2</cp:revision>
  <dcterms:created xsi:type="dcterms:W3CDTF">2025-04-08T16:11:28Z</dcterms:created>
  <dcterms:modified xsi:type="dcterms:W3CDTF">2025-04-08T16:37:24Z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2025-04-08T00:00:00Z</vt:filetime>
  </property>
  <property fmtid="{D5CDD505-2E9C-101B-9397-08002B2CF9AE}" pid="3" name="LastSaved">
    <vt:filetime>2025-04-08T00:00:00Z</vt:filetime>
  </property>
  <property fmtid="{D5CDD505-2E9C-101B-9397-08002B2CF9AE}" pid="4" name="Producer">
    <vt:lpwstr>Microsoft: Print To PDF</vt:lpwstr>
  </property>
</Properties>
</file>